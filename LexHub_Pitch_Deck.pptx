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1" d="100"/>
          <a:sy n="91" d="100"/>
        </p:scale>
        <p:origin x="341"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1"/>
  <c:style val="2"/>
  <c:chart>
    <c:title>
      <c:tx>
        <c:rich>
          <a:bodyPr/>
          <a:lstStyle/>
          <a:p>
            <a:r>
              <a:rPr lang="uz-Latn-UZ" sz="1100" b="1">
                <a:solidFill>
                  <a:srgbClr val="0A1733"/>
                </a:solidFill>
              </a:rPr>
              <a:t>Oylik komissiya senariylari (mln so‘m)</a:t>
            </a:r>
          </a:p>
        </c:rich>
      </c:tx>
      <c:overlay val="0"/>
    </c:title>
    <c:autoTitleDeleted val="0"/>
    <c:plotArea>
      <c:layout/>
      <c:barChart>
        <c:barDir val="col"/>
        <c:grouping val="clustered"/>
        <c:varyColors val="1"/>
        <c:ser>
          <c:idx val="0"/>
          <c:order val="0"/>
          <c:tx>
            <c:strRef>
              <c:f>Sheet1!$B$1</c:f>
              <c:strCache>
                <c:ptCount val="1"/>
                <c:pt idx="0">
                  <c:v>Oylik komissiya, mln so‘m</c:v>
                </c:pt>
              </c:strCache>
            </c:strRef>
          </c:tx>
          <c:spPr>
            <a:solidFill>
              <a:srgbClr val="1F6FEB"/>
            </a:solidFill>
          </c:spPr>
          <c:invertIfNegative val="1"/>
          <c:dLbls>
            <c:numFmt formatCode="0" sourceLinked="0"/>
            <c:spPr>
              <a:noFill/>
              <a:ln>
                <a:noFill/>
              </a:ln>
              <a:effectLst/>
            </c:spPr>
            <c:txPr>
              <a:bodyPr/>
              <a:lstStyle/>
              <a:p>
                <a:pPr>
                  <a:defRPr sz="1100" b="1">
                    <a:solidFill>
                      <a:srgbClr val="0A1733"/>
                    </a:solidFill>
                  </a:defRPr>
                </a:pPr>
                <a:endParaRPr lang="uz-Latn-UZ"/>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400 konsult.</c:v>
                </c:pt>
                <c:pt idx="1">
                  <c:v>800 konsult.</c:v>
                </c:pt>
                <c:pt idx="2">
                  <c:v>1 600 konsult.</c:v>
                </c:pt>
              </c:strCache>
            </c:strRef>
          </c:cat>
          <c:val>
            <c:numRef>
              <c:f>Sheet1!$B$2:$B$4</c:f>
              <c:numCache>
                <c:formatCode>General</c:formatCode>
                <c:ptCount val="3"/>
                <c:pt idx="0">
                  <c:v>6</c:v>
                </c:pt>
                <c:pt idx="1">
                  <c:v>12</c:v>
                </c:pt>
                <c:pt idx="2">
                  <c:v>24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E781-4F5A-8E55-8ED58DDBAE9F}"/>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E3E9F5"/>
            </a:solidFill>
          </a:ln>
        </c:spPr>
        <c:txPr>
          <a:bodyPr/>
          <a:lstStyle/>
          <a:p>
            <a:pPr>
              <a:defRPr sz="1000">
                <a:solidFill>
                  <a:srgbClr val="5C6B87"/>
                </a:solidFill>
              </a:defRPr>
            </a:pPr>
            <a:endParaRPr lang="uz-Latn-UZ"/>
          </a:p>
        </c:txPr>
        <c:crossAx val="-2113994440"/>
        <c:crosses val="autoZero"/>
        <c:auto val="1"/>
        <c:lblAlgn val="ctr"/>
        <c:lblOffset val="100"/>
        <c:noMultiLvlLbl val="0"/>
      </c:catAx>
      <c:valAx>
        <c:axId val="-2113994440"/>
        <c:scaling>
          <c:orientation val="minMax"/>
        </c:scaling>
        <c:delete val="0"/>
        <c:axPos val="l"/>
        <c:majorGridlines>
          <c:spPr>
            <a:ln>
              <a:solidFill>
                <a:srgbClr val="E3E9F5"/>
              </a:solidFill>
            </a:ln>
          </c:spPr>
        </c:majorGridlines>
        <c:numFmt formatCode="General" sourceLinked="1"/>
        <c:majorTickMark val="out"/>
        <c:minorTickMark val="none"/>
        <c:tickLblPos val="nextTo"/>
        <c:spPr>
          <a:ln>
            <a:solidFill>
              <a:srgbClr val="E3E9F5"/>
            </a:solidFill>
          </a:ln>
        </c:spPr>
        <c:txPr>
          <a:bodyPr/>
          <a:lstStyle/>
          <a:p>
            <a:pPr>
              <a:defRPr sz="1000">
                <a:solidFill>
                  <a:srgbClr val="5C6B87"/>
                </a:solidFill>
              </a:defRPr>
            </a:pPr>
            <a:endParaRPr lang="uz-Latn-UZ"/>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691651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Assalomu alaykum. Bizning jamoa — AXION. Bugun sizga LexHub'ni taqdim etamiz. O‘zbekistonda huquqiy yordam mavjud: kodekslar ochiq, advokatlar bor, davlat xizmatlari raqamlashgan. Muammo boshqa joyda — oddiy fuqaro shu tizimga qanday kirishni bilmaydi. Biz aynan shu kirish yo‘lini quramiz. Keling, muammoning haqiqiy hajmini raqamlarda ko‘rsataman.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 raqam UNDP'ning 2025 yildagi huquqiy ehtiyojlar tadqiqotidan. Ya'ni har o‘n kishidan to‘qqiztasi huquqiy muammo bilan yolg‘iz qoladi. Va e'tibor bering — asosiy sabab bilimsizlik emas, narx va yo‘lni bilmaslik. Shu bilan birga aholining to‘qson foizi internetda. Demak muammo yordamning yo‘qligida emas, unga olib boradigan yo‘lning yo‘qligida. Biz shu yo‘lni qanday qurganimizni ko‘rsataman.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Biz muammoni bitta uzluksiz oqimga aylantirdik. Foydalanuvchi o‘z tilida, o‘z so‘zlari bilan vaziyatni yozadi. Undan keyin AI'ga borishdan oldin shaxsiy ma’lumotlar tozalanadi, muddatlar hisoblanadi, javobdagi modda raqamlari tekshiriladi. Va eng muhimi — oqim javob bilan tugamaydi, harakat bilan tugaydi: ariza yoki advokat. Endi nega bu ChatGPT bilan bir xil emasligini ko‘rsataman.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 eng ko‘p beriladigan savol: nega ChatGPT yetarli emas? Chunki huquqda xato javob — noto‘g‘ri javob emas, yo‘qotilgan ish. Umumiy AI mavjud bo‘lmagan moddani aytib qo‘yishi mumkin; bizda har bir modda raqami sakkiz kodeksning haqiqiy chegarasi bilan tekshiriladi. Muddat avtomatik hisoblanadi. Shaxsiy ma’lumot so‘rov ketishidan oldin tozalanadi. Bu — mahsulotning ichiga qurilgan javobgarlik. Endi buni foydalanuvchi ekranida ko‘ramiz.</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Diqqat qiling — bu chat oynasi emas. Javob beshta aniq blokka bo‘lingan: vaziyat xulosasi, aniqlashtiruvchi savol, qadamlar, huquqiy asos va risk darajasi. Pastida esa majburiy ogohlantirish: bu maslahat, hukm emas. Foydasi shu — huquqiy bilimi yo‘q odam ham qaror qabul qila oladi. Ro‘yxatdan o‘tish ham talab qilinmaydi, ya'ni birinchi qadamda hech qanday to‘siq yo‘q. Endi savolga o‘taman: bu qanday pul topadi?</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Model juda oddiy: fuqaro advokat vaqti uchun to‘laydi, biz o‘n foiz komissiya olamiz. Bu raqam bizning slaydda emas — bazada, server tomonda hisoblanadi, shuning uchun uni ilova orqali o‘zgartirib bo‘lmaydi. O‘ng tomondagi ustunlar — prognoz, fakt emas: yuz advokat oyda o‘rtacha sakkiz konsultatsiya bersa, oylik komissiya o‘n ikki million so‘m bo‘ladi. Va bu advokatning kunlik sig‘imining to‘rt foizidan kamrog‘i. Savol tug‘iladi: buni boshqalar takrorlay olmaydimi?</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Bizda raqobat bor va biz uni yashirmaymiz. An’anaviy advokat ishonchli, lekin qimmat va uzoq. Lex.uz rasmiy, lekin oddiy odam uni o‘qib tushunmaydi. Umumiy AI qulay, lekin javobiga hech kim javobgar emas. O‘ng yuqori kvadrant — ham qulay, ham huquqiy ishonchli — bo‘sh. Va uni egallash uchun chiroyli interfeys yetmaydi: komissiya, ekspert tasdig‘i va to‘lov qoidalari bazaning ichida majburlangan bo‘lishi kerak. Endi qaysi bosqichda turganimizni ochiq aytaman.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Ochiq gaplashamiz: bizda foydalanuvchi ham, daromad ham yo‘q. To‘lov tizimi hali ulanmagan. Lekin bizda ishlaydigan MVP bor — o‘ttiz to‘rt mingdan ortiq satr kod, yigirma jadval, o‘ttiz oltita xavfsizlik siyosati. Ya'ni eng qiyin qism — huquqiy mantiq va ishonch qoidalari — allaqachon qurilgan. Keyingi uch oyda to‘lovni ulaymiz va korpusni yuklaymiz, oltinchi oyda pilotni boshlaymiz. Buni kim qiladi?</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Bizda beshta odam bor va har birining roli mahsulotning aniq bir qismiga bog‘langan: arxitektura, interfeys, dizayn tizimi, unit economics va o‘sish. Muhim bir narsani ochiq aytaman — jamoada litsenziyalangan advokat yo‘q. Shuning uchun biz huquqiy to‘g‘rilikni odamga emas, kodga yukladik: modda tekshiruvi, muddat hisobi, majburiy ogohlantirish. Pilot bosqichida esa tasdiqlangan advokatlar domen maslahatchisi bo‘lib qo‘shiladi.</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Yakunlab aytaman. Bugun yuz fuqarodan to‘qqiztasi advokatga yetib boradi. Bizning maqsadimiz — qolgan to‘qson bittasi uchun yo‘l qurish. Va biz mablag‘ so‘ramayapmiz: bizga hozir uch narsa kerak — g‘olib bo‘lish va mentorlik, pilot uchun ikki-uch tasdiqlangan advokat, va to‘lov tizimiga test kirish. Shu uchtasi bo‘lsa, uch oyda birinchi to‘lovli konsultatsiyani ko‘rsatamiz. Rahmat, savollaringizga tayyorman.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1733"/>
        </a:solidFill>
        <a:effectLst/>
      </p:bgPr>
    </p:bg>
    <p:spTree>
      <p:nvGrpSpPr>
        <p:cNvPr id="1" name=""/>
        <p:cNvGrpSpPr/>
        <p:nvPr/>
      </p:nvGrpSpPr>
      <p:grpSpPr>
        <a:xfrm>
          <a:off x="0" y="0"/>
          <a:ext cx="0" cy="0"/>
          <a:chOff x="0" y="0"/>
          <a:chExt cx="0" cy="0"/>
        </a:xfrm>
      </p:grpSpPr>
      <p:sp>
        <p:nvSpPr>
          <p:cNvPr id="2" name="Rounded Rectangle 1"/>
          <p:cNvSpPr/>
          <p:nvPr/>
        </p:nvSpPr>
        <p:spPr>
          <a:xfrm>
            <a:off x="7818120" y="0"/>
            <a:ext cx="4379976" cy="6858000"/>
          </a:xfrm>
          <a:prstGeom prst="roundRect">
            <a:avLst>
              <a:gd name="adj" fmla="val 0"/>
            </a:avLst>
          </a:prstGeom>
          <a:solidFill>
            <a:srgbClr val="13244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Oval 2"/>
          <p:cNvSpPr/>
          <p:nvPr/>
        </p:nvSpPr>
        <p:spPr>
          <a:xfrm>
            <a:off x="8595360" y="1783080"/>
            <a:ext cx="2834640" cy="2834640"/>
          </a:xfrm>
          <a:prstGeom prst="ellipse">
            <a:avLst/>
          </a:prstGeom>
          <a:solidFill>
            <a:srgbClr val="FFFFFF"/>
          </a:solidFill>
          <a:ln w="19050">
            <a:solidFill>
              <a:srgbClr val="C8A26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pic>
        <p:nvPicPr>
          <p:cNvPr id="4" name="Picture 3" descr="logo256.png"/>
          <p:cNvPicPr>
            <a:picLocks noChangeAspect="1"/>
          </p:cNvPicPr>
          <p:nvPr/>
        </p:nvPicPr>
        <p:blipFill>
          <a:blip r:embed="rId3"/>
          <a:stretch>
            <a:fillRect/>
          </a:stretch>
        </p:blipFill>
        <p:spPr>
          <a:xfrm>
            <a:off x="9281160" y="2468880"/>
            <a:ext cx="1463040" cy="1463040"/>
          </a:xfrm>
          <a:prstGeom prst="rect">
            <a:avLst/>
          </a:prstGeom>
        </p:spPr>
      </p:pic>
      <p:sp>
        <p:nvSpPr>
          <p:cNvPr id="5" name="TextBox 4"/>
          <p:cNvSpPr txBox="1"/>
          <p:nvPr/>
        </p:nvSpPr>
        <p:spPr>
          <a:xfrm>
            <a:off x="8275320" y="4956048"/>
            <a:ext cx="3474720" cy="1005840"/>
          </a:xfrm>
          <a:prstGeom prst="rect">
            <a:avLst/>
          </a:prstGeom>
          <a:noFill/>
        </p:spPr>
        <p:txBody>
          <a:bodyPr wrap="square" lIns="0" tIns="0" rIns="0" bIns="0" anchor="t">
            <a:spAutoFit/>
          </a:bodyPr>
          <a:lstStyle/>
          <a:p>
            <a:pPr algn="ctr">
              <a:spcAft>
                <a:spcPts val="400"/>
              </a:spcAft>
            </a:pPr>
            <a:r>
              <a:rPr sz="3000" b="1" i="0">
                <a:solidFill>
                  <a:srgbClr val="FFFFFF"/>
                </a:solidFill>
                <a:latin typeface="Cambria"/>
              </a:rPr>
              <a:t>LexHub</a:t>
            </a:r>
          </a:p>
          <a:p>
            <a:pPr algn="ctr"/>
            <a:r>
              <a:rPr sz="1250" b="0" i="0">
                <a:solidFill>
                  <a:srgbClr val="9FB0CE"/>
                </a:solidFill>
                <a:latin typeface="Calibri"/>
              </a:rPr>
              <a:t>Huquqiy yordamga kirish qatlami</a:t>
            </a:r>
          </a:p>
        </p:txBody>
      </p:sp>
      <p:sp>
        <p:nvSpPr>
          <p:cNvPr id="6" name="TextBox 5"/>
          <p:cNvSpPr txBox="1"/>
          <p:nvPr/>
        </p:nvSpPr>
        <p:spPr>
          <a:xfrm>
            <a:off x="566928" y="658368"/>
            <a:ext cx="5486400" cy="274320"/>
          </a:xfrm>
          <a:prstGeom prst="rect">
            <a:avLst/>
          </a:prstGeom>
          <a:noFill/>
        </p:spPr>
        <p:txBody>
          <a:bodyPr wrap="square" lIns="0" tIns="0" rIns="0" bIns="0" anchor="t">
            <a:spAutoFit/>
          </a:bodyPr>
          <a:lstStyle/>
          <a:p>
            <a:pPr algn="l"/>
            <a:r>
              <a:rPr sz="1150" b="1" i="0" spc="220">
                <a:solidFill>
                  <a:srgbClr val="C8A265"/>
                </a:solidFill>
                <a:latin typeface="Calibri"/>
              </a:rPr>
              <a:t>AXION  ·  PITCH DAY  ·  2026</a:t>
            </a:r>
          </a:p>
        </p:txBody>
      </p:sp>
      <p:sp>
        <p:nvSpPr>
          <p:cNvPr id="7" name="TextBox 6"/>
          <p:cNvSpPr txBox="1"/>
          <p:nvPr/>
        </p:nvSpPr>
        <p:spPr>
          <a:xfrm>
            <a:off x="566928" y="1572768"/>
            <a:ext cx="6903720" cy="2651760"/>
          </a:xfrm>
          <a:prstGeom prst="rect">
            <a:avLst/>
          </a:prstGeom>
          <a:noFill/>
        </p:spPr>
        <p:txBody>
          <a:bodyPr wrap="square" lIns="0" tIns="0" rIns="0" bIns="0" anchor="t">
            <a:spAutoFit/>
          </a:bodyPr>
          <a:lstStyle/>
          <a:p>
            <a:pPr algn="l">
              <a:lnSpc>
                <a:spcPct val="94000"/>
              </a:lnSpc>
              <a:spcAft>
                <a:spcPts val="200"/>
              </a:spcAft>
            </a:pPr>
            <a:r>
              <a:rPr sz="4300" b="1" i="0">
                <a:solidFill>
                  <a:srgbClr val="FFFFFF"/>
                </a:solidFill>
                <a:latin typeface="Cambria"/>
              </a:rPr>
              <a:t>Huquqiy yordam bor.</a:t>
            </a:r>
          </a:p>
          <a:p>
            <a:pPr algn="l">
              <a:lnSpc>
                <a:spcPct val="94000"/>
              </a:lnSpc>
              <a:spcAft>
                <a:spcPts val="200"/>
              </a:spcAft>
            </a:pPr>
            <a:r>
              <a:rPr sz="4300" b="1" i="0">
                <a:solidFill>
                  <a:srgbClr val="FFFFFF"/>
                </a:solidFill>
                <a:latin typeface="Cambria"/>
              </a:rPr>
              <a:t>Unga yetib borish</a:t>
            </a:r>
          </a:p>
          <a:p>
            <a:pPr algn="l">
              <a:lnSpc>
                <a:spcPct val="94000"/>
              </a:lnSpc>
            </a:pPr>
            <a:r>
              <a:rPr sz="4300" b="1" i="0">
                <a:solidFill>
                  <a:srgbClr val="C8A265"/>
                </a:solidFill>
                <a:latin typeface="Cambria"/>
              </a:rPr>
              <a:t>yo‘li yo‘q.</a:t>
            </a:r>
          </a:p>
        </p:txBody>
      </p:sp>
      <p:sp>
        <p:nvSpPr>
          <p:cNvPr id="8" name="Isosceles Triangle 7"/>
          <p:cNvSpPr/>
          <p:nvPr/>
        </p:nvSpPr>
        <p:spPr>
          <a:xfrm rot="5400000">
            <a:off x="585216" y="4498848"/>
            <a:ext cx="118872" cy="136702"/>
          </a:xfrm>
          <a:prstGeom prst="triangle">
            <a:avLst/>
          </a:prstGeom>
          <a:solidFill>
            <a:srgbClr val="C8A26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859536" y="4407408"/>
            <a:ext cx="6583680" cy="914400"/>
          </a:xfrm>
          <a:prstGeom prst="rect">
            <a:avLst/>
          </a:prstGeom>
          <a:noFill/>
        </p:spPr>
        <p:txBody>
          <a:bodyPr wrap="square" lIns="0" tIns="0" rIns="0" bIns="0" anchor="t">
            <a:spAutoFit/>
          </a:bodyPr>
          <a:lstStyle/>
          <a:p>
            <a:pPr algn="l">
              <a:lnSpc>
                <a:spcPct val="132000"/>
              </a:lnSpc>
            </a:pPr>
            <a:r>
              <a:rPr sz="1550" b="0" i="0">
                <a:solidFill>
                  <a:srgbClr val="D8E1F2"/>
                </a:solidFill>
                <a:latin typeface="Calibri"/>
              </a:rPr>
              <a:t>LexHub — fuqaro o‘z muammosini tushunishdan uni hal qiladigan advokatgacha bitta oqimda o‘tadigan mobil platforma.</a:t>
            </a:r>
          </a:p>
        </p:txBody>
      </p:sp>
      <p:sp>
        <p:nvSpPr>
          <p:cNvPr id="10" name="TextBox 9"/>
          <p:cNvSpPr txBox="1"/>
          <p:nvPr/>
        </p:nvSpPr>
        <p:spPr>
          <a:xfrm>
            <a:off x="566928" y="5468112"/>
            <a:ext cx="6766560" cy="640080"/>
          </a:xfrm>
          <a:prstGeom prst="rect">
            <a:avLst/>
          </a:prstGeom>
          <a:noFill/>
        </p:spPr>
        <p:txBody>
          <a:bodyPr wrap="square" lIns="0" tIns="0" rIns="0" bIns="0" anchor="t">
            <a:spAutoFit/>
          </a:bodyPr>
          <a:lstStyle/>
          <a:p>
            <a:pPr algn="l">
              <a:lnSpc>
                <a:spcPct val="125000"/>
              </a:lnSpc>
            </a:pPr>
            <a:r>
              <a:rPr sz="1200" b="0" i="0">
                <a:solidFill>
                  <a:srgbClr val="9FB0CE"/>
                </a:solidFill>
                <a:latin typeface="Calibri"/>
              </a:rPr>
              <a:t>O‘zbekiston qonunchiligiga moslashtirilgan AI tahlil  ·  tasdiqlangan advokatlar  ·  45 daqiqalik konsultatsiya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1733"/>
        </a:solidFill>
        <a:effectLst/>
      </p:bgPr>
    </p:bg>
    <p:spTree>
      <p:nvGrpSpPr>
        <p:cNvPr id="1" name=""/>
        <p:cNvGrpSpPr/>
        <p:nvPr/>
      </p:nvGrpSpPr>
      <p:grpSpPr>
        <a:xfrm>
          <a:off x="0" y="0"/>
          <a:ext cx="0" cy="0"/>
          <a:chOff x="0" y="0"/>
          <a:chExt cx="0" cy="0"/>
        </a:xfrm>
      </p:grpSpPr>
      <p:sp>
        <p:nvSpPr>
          <p:cNvPr id="2" name="TextBox 1"/>
          <p:cNvSpPr txBox="1"/>
          <p:nvPr/>
        </p:nvSpPr>
        <p:spPr>
          <a:xfrm>
            <a:off x="566928" y="457200"/>
            <a:ext cx="5486400" cy="274320"/>
          </a:xfrm>
          <a:prstGeom prst="rect">
            <a:avLst/>
          </a:prstGeom>
          <a:noFill/>
        </p:spPr>
        <p:txBody>
          <a:bodyPr wrap="square" lIns="0" tIns="0" rIns="0" bIns="0" anchor="t">
            <a:spAutoFit/>
          </a:bodyPr>
          <a:lstStyle/>
          <a:p>
            <a:pPr algn="l"/>
            <a:r>
              <a:rPr sz="1150" b="1" i="0" spc="190">
                <a:solidFill>
                  <a:srgbClr val="C8A265"/>
                </a:solidFill>
                <a:latin typeface="Calibri"/>
              </a:rPr>
              <a:t>02  ·  MUAMMO</a:t>
            </a:r>
          </a:p>
        </p:txBody>
      </p:sp>
      <p:sp>
        <p:nvSpPr>
          <p:cNvPr id="3" name="TextBox 2"/>
          <p:cNvSpPr txBox="1"/>
          <p:nvPr/>
        </p:nvSpPr>
        <p:spPr>
          <a:xfrm>
            <a:off x="566928" y="841248"/>
            <a:ext cx="10058400" cy="777240"/>
          </a:xfrm>
          <a:prstGeom prst="rect">
            <a:avLst/>
          </a:prstGeom>
          <a:noFill/>
        </p:spPr>
        <p:txBody>
          <a:bodyPr wrap="square" lIns="0" tIns="0" rIns="0" bIns="0" anchor="t">
            <a:spAutoFit/>
          </a:bodyPr>
          <a:lstStyle/>
          <a:p>
            <a:pPr algn="l">
              <a:lnSpc>
                <a:spcPct val="95000"/>
              </a:lnSpc>
            </a:pPr>
            <a:r>
              <a:rPr sz="3800" b="1" i="0">
                <a:solidFill>
                  <a:srgbClr val="FFFFFF"/>
                </a:solidFill>
                <a:latin typeface="Cambria"/>
              </a:rPr>
              <a:t>Qonun ochiq. Yordam esa — yo‘q.</a:t>
            </a:r>
          </a:p>
        </p:txBody>
      </p:sp>
      <p:sp>
        <p:nvSpPr>
          <p:cNvPr id="4" name="Isosceles Triangle 3"/>
          <p:cNvSpPr/>
          <p:nvPr/>
        </p:nvSpPr>
        <p:spPr>
          <a:xfrm rot="5400000">
            <a:off x="585216" y="1965960"/>
            <a:ext cx="118872" cy="136702"/>
          </a:xfrm>
          <a:prstGeom prst="triangle">
            <a:avLst/>
          </a:prstGeom>
          <a:solidFill>
            <a:srgbClr val="C8A26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877824" y="1856231"/>
            <a:ext cx="5029200" cy="457200"/>
          </a:xfrm>
          <a:prstGeom prst="rect">
            <a:avLst/>
          </a:prstGeom>
          <a:noFill/>
        </p:spPr>
        <p:txBody>
          <a:bodyPr wrap="square" lIns="0" tIns="0" rIns="0" bIns="0" anchor="t">
            <a:spAutoFit/>
          </a:bodyPr>
          <a:lstStyle/>
          <a:p>
            <a:pPr algn="l"/>
            <a:r>
              <a:rPr sz="1350" b="0" i="0">
                <a:solidFill>
                  <a:srgbClr val="9FB0CE"/>
                </a:solidFill>
                <a:latin typeface="Calibri"/>
              </a:rPr>
              <a:t>Huquqiy muammoga duch kelgan fuqarolardan</a:t>
            </a:r>
          </a:p>
        </p:txBody>
      </p:sp>
      <p:sp>
        <p:nvSpPr>
          <p:cNvPr id="6" name="TextBox 5"/>
          <p:cNvSpPr txBox="1"/>
          <p:nvPr/>
        </p:nvSpPr>
        <p:spPr>
          <a:xfrm>
            <a:off x="566928" y="2240280"/>
            <a:ext cx="5120640" cy="1600200"/>
          </a:xfrm>
          <a:prstGeom prst="rect">
            <a:avLst/>
          </a:prstGeom>
          <a:noFill/>
        </p:spPr>
        <p:txBody>
          <a:bodyPr wrap="square" lIns="0" tIns="0" rIns="0" bIns="0" anchor="t">
            <a:spAutoFit/>
          </a:bodyPr>
          <a:lstStyle/>
          <a:p>
            <a:pPr algn="l">
              <a:lnSpc>
                <a:spcPct val="88000"/>
              </a:lnSpc>
            </a:pPr>
            <a:r>
              <a:rPr sz="9600" b="1" i="0">
                <a:solidFill>
                  <a:srgbClr val="C8A265"/>
                </a:solidFill>
                <a:latin typeface="Cambria"/>
              </a:rPr>
              <a:t>8,6%</a:t>
            </a:r>
          </a:p>
        </p:txBody>
      </p:sp>
      <p:sp>
        <p:nvSpPr>
          <p:cNvPr id="7" name="TextBox 6"/>
          <p:cNvSpPr txBox="1"/>
          <p:nvPr/>
        </p:nvSpPr>
        <p:spPr>
          <a:xfrm>
            <a:off x="566928" y="3858768"/>
            <a:ext cx="5029200" cy="822960"/>
          </a:xfrm>
          <a:prstGeom prst="rect">
            <a:avLst/>
          </a:prstGeom>
          <a:noFill/>
        </p:spPr>
        <p:txBody>
          <a:bodyPr wrap="square" lIns="0" tIns="0" rIns="0" bIns="0" anchor="t">
            <a:spAutoFit/>
          </a:bodyPr>
          <a:lstStyle/>
          <a:p>
            <a:pPr algn="l">
              <a:lnSpc>
                <a:spcPct val="130000"/>
              </a:lnSpc>
            </a:pPr>
            <a:r>
              <a:rPr sz="1650" b="0" i="0">
                <a:solidFill>
                  <a:srgbClr val="FFFFFF"/>
                </a:solidFill>
                <a:latin typeface="Calibri"/>
              </a:rPr>
              <a:t>Ana shu qismgina huquqiy yordamga yetib boradi. Asosiy to‘siq — narx.</a:t>
            </a:r>
          </a:p>
        </p:txBody>
      </p:sp>
      <p:sp>
        <p:nvSpPr>
          <p:cNvPr id="8" name="Rounded Rectangle 7"/>
          <p:cNvSpPr/>
          <p:nvPr/>
        </p:nvSpPr>
        <p:spPr>
          <a:xfrm>
            <a:off x="566928" y="4773168"/>
            <a:ext cx="1577340" cy="214884"/>
          </a:xfrm>
          <a:prstGeom prst="roundRect">
            <a:avLst>
              <a:gd name="adj" fmla="val 50000"/>
            </a:avLst>
          </a:prstGeom>
          <a:noFill/>
          <a:ln w="9525">
            <a:solidFill>
              <a:srgbClr val="1F6FE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630936" y="4768596"/>
            <a:ext cx="1449324" cy="224028"/>
          </a:xfrm>
          <a:prstGeom prst="rect">
            <a:avLst/>
          </a:prstGeom>
          <a:noFill/>
        </p:spPr>
        <p:txBody>
          <a:bodyPr wrap="square" lIns="0" tIns="0" rIns="0" bIns="0" anchor="ctr">
            <a:spAutoFit/>
          </a:bodyPr>
          <a:lstStyle/>
          <a:p>
            <a:pPr algn="ctr"/>
            <a:r>
              <a:rPr sz="800" b="1" i="0" spc="70">
                <a:solidFill>
                  <a:srgbClr val="1F6FEB"/>
                </a:solidFill>
                <a:latin typeface="Calibri"/>
              </a:rPr>
              <a:t>FACT  UNDP 2025</a:t>
            </a:r>
          </a:p>
        </p:txBody>
      </p:sp>
      <p:sp>
        <p:nvSpPr>
          <p:cNvPr id="10" name="Isosceles Triangle 9"/>
          <p:cNvSpPr/>
          <p:nvPr/>
        </p:nvSpPr>
        <p:spPr>
          <a:xfrm rot="5400000">
            <a:off x="585216" y="5440680"/>
            <a:ext cx="100584" cy="115671"/>
          </a:xfrm>
          <a:prstGeom prst="triangle">
            <a:avLst/>
          </a:prstGeom>
          <a:solidFill>
            <a:srgbClr val="C8A26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859536" y="5321808"/>
            <a:ext cx="4892040" cy="914400"/>
          </a:xfrm>
          <a:prstGeom prst="rect">
            <a:avLst/>
          </a:prstGeom>
          <a:noFill/>
        </p:spPr>
        <p:txBody>
          <a:bodyPr wrap="square" lIns="0" tIns="0" rIns="0" bIns="0" anchor="t">
            <a:spAutoFit/>
          </a:bodyPr>
          <a:lstStyle/>
          <a:p>
            <a:pPr algn="l">
              <a:lnSpc>
                <a:spcPct val="128000"/>
              </a:lnSpc>
            </a:pPr>
            <a:r>
              <a:rPr sz="1300" b="0" i="1">
                <a:solidFill>
                  <a:srgbClr val="C8A265"/>
                </a:solidFill>
                <a:latin typeface="Calibri"/>
              </a:rPr>
              <a:t>Fuqaro pulini emas — huquqini yo‘qotadi: muddat o‘tadi, shartnoma imzolanadi, ish qaytmaydi.</a:t>
            </a:r>
          </a:p>
        </p:txBody>
      </p:sp>
      <p:sp>
        <p:nvSpPr>
          <p:cNvPr id="12" name="Rounded Rectangle 11"/>
          <p:cNvSpPr/>
          <p:nvPr/>
        </p:nvSpPr>
        <p:spPr>
          <a:xfrm>
            <a:off x="6263640" y="1847088"/>
            <a:ext cx="5358384" cy="1371600"/>
          </a:xfrm>
          <a:prstGeom prst="roundRect">
            <a:avLst>
              <a:gd name="adj" fmla="val 6000"/>
            </a:avLst>
          </a:prstGeom>
          <a:solidFill>
            <a:srgbClr val="13244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6565392" y="2029968"/>
            <a:ext cx="2240280" cy="1005840"/>
          </a:xfrm>
          <a:prstGeom prst="rect">
            <a:avLst/>
          </a:prstGeom>
          <a:noFill/>
        </p:spPr>
        <p:txBody>
          <a:bodyPr wrap="square" lIns="0" tIns="0" rIns="0" bIns="0" anchor="ctr">
            <a:spAutoFit/>
          </a:bodyPr>
          <a:lstStyle/>
          <a:p>
            <a:pPr algn="l"/>
            <a:r>
              <a:rPr sz="3000" b="1" i="0">
                <a:solidFill>
                  <a:srgbClr val="FFFFFF"/>
                </a:solidFill>
                <a:latin typeface="Cambria"/>
              </a:rPr>
              <a:t>34,9%</a:t>
            </a:r>
          </a:p>
        </p:txBody>
      </p:sp>
      <p:sp>
        <p:nvSpPr>
          <p:cNvPr id="14" name="TextBox 13"/>
          <p:cNvSpPr txBox="1"/>
          <p:nvPr/>
        </p:nvSpPr>
        <p:spPr>
          <a:xfrm>
            <a:off x="8887968" y="2066543"/>
            <a:ext cx="2487168" cy="960120"/>
          </a:xfrm>
          <a:prstGeom prst="rect">
            <a:avLst/>
          </a:prstGeom>
          <a:noFill/>
        </p:spPr>
        <p:txBody>
          <a:bodyPr wrap="square" lIns="0" tIns="0" rIns="0" bIns="0" anchor="ctr">
            <a:spAutoFit/>
          </a:bodyPr>
          <a:lstStyle/>
          <a:p>
            <a:pPr algn="l">
              <a:lnSpc>
                <a:spcPct val="122000"/>
              </a:lnSpc>
            </a:pPr>
            <a:r>
              <a:rPr sz="1250" b="0" i="0">
                <a:solidFill>
                  <a:srgbClr val="C7D3E8"/>
                </a:solidFill>
                <a:latin typeface="Calibri"/>
              </a:rPr>
              <a:t>muammosi “qonunni tushunmaganim uchun” kelib chiqqan deydi</a:t>
            </a:r>
          </a:p>
        </p:txBody>
      </p:sp>
      <p:sp>
        <p:nvSpPr>
          <p:cNvPr id="15" name="Rounded Rectangle 14"/>
          <p:cNvSpPr/>
          <p:nvPr/>
        </p:nvSpPr>
        <p:spPr>
          <a:xfrm>
            <a:off x="6263640" y="3374136"/>
            <a:ext cx="5358384" cy="1371600"/>
          </a:xfrm>
          <a:prstGeom prst="roundRect">
            <a:avLst>
              <a:gd name="adj" fmla="val 6000"/>
            </a:avLst>
          </a:prstGeom>
          <a:solidFill>
            <a:srgbClr val="13244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TextBox 15"/>
          <p:cNvSpPr txBox="1"/>
          <p:nvPr/>
        </p:nvSpPr>
        <p:spPr>
          <a:xfrm>
            <a:off x="6565392" y="3557016"/>
            <a:ext cx="2240280" cy="1005840"/>
          </a:xfrm>
          <a:prstGeom prst="rect">
            <a:avLst/>
          </a:prstGeom>
          <a:noFill/>
        </p:spPr>
        <p:txBody>
          <a:bodyPr wrap="square" lIns="0" tIns="0" rIns="0" bIns="0" anchor="ctr">
            <a:spAutoFit/>
          </a:bodyPr>
          <a:lstStyle/>
          <a:p>
            <a:pPr algn="l"/>
            <a:r>
              <a:rPr sz="3000" b="1" i="0">
                <a:solidFill>
                  <a:srgbClr val="FFFFFF"/>
                </a:solidFill>
                <a:latin typeface="Cambria"/>
              </a:rPr>
              <a:t>14,7%</a:t>
            </a:r>
          </a:p>
        </p:txBody>
      </p:sp>
      <p:sp>
        <p:nvSpPr>
          <p:cNvPr id="17" name="TextBox 16"/>
          <p:cNvSpPr txBox="1"/>
          <p:nvPr/>
        </p:nvSpPr>
        <p:spPr>
          <a:xfrm>
            <a:off x="8887968" y="3593591"/>
            <a:ext cx="2487168" cy="960120"/>
          </a:xfrm>
          <a:prstGeom prst="rect">
            <a:avLst/>
          </a:prstGeom>
          <a:noFill/>
        </p:spPr>
        <p:txBody>
          <a:bodyPr wrap="square" lIns="0" tIns="0" rIns="0" bIns="0" anchor="ctr">
            <a:spAutoFit/>
          </a:bodyPr>
          <a:lstStyle/>
          <a:p>
            <a:pPr algn="l">
              <a:lnSpc>
                <a:spcPct val="122000"/>
              </a:lnSpc>
            </a:pPr>
            <a:r>
              <a:rPr sz="1250" b="0" i="0">
                <a:solidFill>
                  <a:srgbClr val="C7D3E8"/>
                </a:solidFill>
                <a:latin typeface="Calibri"/>
              </a:rPr>
              <a:t>“keyin nima qilishni bilmadim” deb javob bergan</a:t>
            </a:r>
          </a:p>
        </p:txBody>
      </p:sp>
      <p:sp>
        <p:nvSpPr>
          <p:cNvPr id="18" name="Rounded Rectangle 17"/>
          <p:cNvSpPr/>
          <p:nvPr/>
        </p:nvSpPr>
        <p:spPr>
          <a:xfrm>
            <a:off x="6263640" y="4901183"/>
            <a:ext cx="5358384" cy="1371600"/>
          </a:xfrm>
          <a:prstGeom prst="roundRect">
            <a:avLst>
              <a:gd name="adj" fmla="val 6000"/>
            </a:avLst>
          </a:prstGeom>
          <a:solidFill>
            <a:srgbClr val="13244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TextBox 18"/>
          <p:cNvSpPr txBox="1"/>
          <p:nvPr/>
        </p:nvSpPr>
        <p:spPr>
          <a:xfrm>
            <a:off x="6565392" y="5084064"/>
            <a:ext cx="2240280" cy="1005840"/>
          </a:xfrm>
          <a:prstGeom prst="rect">
            <a:avLst/>
          </a:prstGeom>
          <a:noFill/>
        </p:spPr>
        <p:txBody>
          <a:bodyPr wrap="square" lIns="0" tIns="0" rIns="0" bIns="0" anchor="ctr">
            <a:spAutoFit/>
          </a:bodyPr>
          <a:lstStyle/>
          <a:p>
            <a:pPr algn="l"/>
            <a:r>
              <a:rPr sz="2700" b="1" i="0">
                <a:solidFill>
                  <a:srgbClr val="FFFFFF"/>
                </a:solidFill>
                <a:latin typeface="Cambria"/>
              </a:rPr>
              <a:t>32,7 mln</a:t>
            </a:r>
          </a:p>
        </p:txBody>
      </p:sp>
      <p:sp>
        <p:nvSpPr>
          <p:cNvPr id="20" name="TextBox 19"/>
          <p:cNvSpPr txBox="1"/>
          <p:nvPr/>
        </p:nvSpPr>
        <p:spPr>
          <a:xfrm>
            <a:off x="8887968" y="5120640"/>
            <a:ext cx="2487168" cy="960120"/>
          </a:xfrm>
          <a:prstGeom prst="rect">
            <a:avLst/>
          </a:prstGeom>
          <a:noFill/>
        </p:spPr>
        <p:txBody>
          <a:bodyPr wrap="square" lIns="0" tIns="0" rIns="0" bIns="0" anchor="ctr">
            <a:spAutoFit/>
          </a:bodyPr>
          <a:lstStyle/>
          <a:p>
            <a:pPr algn="l">
              <a:lnSpc>
                <a:spcPct val="122000"/>
              </a:lnSpc>
            </a:pPr>
            <a:r>
              <a:rPr sz="1250" b="0" i="0">
                <a:solidFill>
                  <a:srgbClr val="C7D3E8"/>
                </a:solidFill>
                <a:latin typeface="Calibri"/>
              </a:rPr>
              <a:t>internet foydalanuvchisi — 89% qamrov. Kanal tayyor.</a:t>
            </a:r>
          </a:p>
        </p:txBody>
      </p:sp>
      <p:sp>
        <p:nvSpPr>
          <p:cNvPr id="21" name="TextBox 20"/>
          <p:cNvSpPr txBox="1"/>
          <p:nvPr/>
        </p:nvSpPr>
        <p:spPr>
          <a:xfrm>
            <a:off x="566928" y="6382512"/>
            <a:ext cx="11064240" cy="274320"/>
          </a:xfrm>
          <a:prstGeom prst="rect">
            <a:avLst/>
          </a:prstGeom>
          <a:noFill/>
        </p:spPr>
        <p:txBody>
          <a:bodyPr wrap="square" lIns="0" tIns="0" rIns="0" bIns="0" anchor="t">
            <a:spAutoFit/>
          </a:bodyPr>
          <a:lstStyle/>
          <a:p>
            <a:pPr algn="l">
              <a:lnSpc>
                <a:spcPct val="105000"/>
              </a:lnSpc>
            </a:pPr>
            <a:r>
              <a:rPr sz="950" b="0" i="0">
                <a:solidFill>
                  <a:srgbClr val="9FB0CE"/>
                </a:solidFill>
                <a:latin typeface="Calibri"/>
              </a:rPr>
              <a:t>Manba: UNDP Uzbekistan — Legal Needs Assessment (2025-05)  ·  DataReportal — Digital 2025 Uzbekistan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57200"/>
            <a:ext cx="5486400" cy="274320"/>
          </a:xfrm>
          <a:prstGeom prst="rect">
            <a:avLst/>
          </a:prstGeom>
          <a:noFill/>
        </p:spPr>
        <p:txBody>
          <a:bodyPr wrap="square" lIns="0" tIns="0" rIns="0" bIns="0" anchor="t">
            <a:spAutoFit/>
          </a:bodyPr>
          <a:lstStyle/>
          <a:p>
            <a:pPr algn="l"/>
            <a:r>
              <a:rPr sz="1150" b="1" i="0" spc="190">
                <a:solidFill>
                  <a:srgbClr val="C8A265"/>
                </a:solidFill>
                <a:latin typeface="Calibri"/>
              </a:rPr>
              <a:t>03  ·  YECHIM</a:t>
            </a:r>
          </a:p>
        </p:txBody>
      </p:sp>
      <p:sp>
        <p:nvSpPr>
          <p:cNvPr id="3" name="TextBox 2"/>
          <p:cNvSpPr txBox="1"/>
          <p:nvPr/>
        </p:nvSpPr>
        <p:spPr>
          <a:xfrm>
            <a:off x="566928" y="841248"/>
            <a:ext cx="10058400" cy="777240"/>
          </a:xfrm>
          <a:prstGeom prst="rect">
            <a:avLst/>
          </a:prstGeom>
          <a:noFill/>
        </p:spPr>
        <p:txBody>
          <a:bodyPr wrap="square" lIns="0" tIns="0" rIns="0" bIns="0" anchor="t">
            <a:spAutoFit/>
          </a:bodyPr>
          <a:lstStyle/>
          <a:p>
            <a:pPr algn="l">
              <a:lnSpc>
                <a:spcPct val="95000"/>
              </a:lnSpc>
            </a:pPr>
            <a:r>
              <a:rPr sz="3800" b="1" i="0">
                <a:solidFill>
                  <a:srgbClr val="0A1733"/>
                </a:solidFill>
                <a:latin typeface="Cambria"/>
              </a:rPr>
              <a:t>Bitta oqim: savoldan javobgargacha</a:t>
            </a:r>
          </a:p>
        </p:txBody>
      </p:sp>
      <p:sp>
        <p:nvSpPr>
          <p:cNvPr id="4" name="TextBox 3"/>
          <p:cNvSpPr txBox="1"/>
          <p:nvPr/>
        </p:nvSpPr>
        <p:spPr>
          <a:xfrm>
            <a:off x="566928" y="1554480"/>
            <a:ext cx="10058400" cy="365760"/>
          </a:xfrm>
          <a:prstGeom prst="rect">
            <a:avLst/>
          </a:prstGeom>
          <a:noFill/>
        </p:spPr>
        <p:txBody>
          <a:bodyPr wrap="square" lIns="0" tIns="0" rIns="0" bIns="0" anchor="t">
            <a:spAutoFit/>
          </a:bodyPr>
          <a:lstStyle/>
          <a:p>
            <a:pPr algn="l">
              <a:lnSpc>
                <a:spcPct val="110000"/>
              </a:lnSpc>
            </a:pPr>
            <a:r>
              <a:rPr sz="1550" b="0" i="0">
                <a:solidFill>
                  <a:srgbClr val="5C6B87"/>
                </a:solidFill>
                <a:latin typeface="Calibri"/>
              </a:rPr>
              <a:t>Fuqaro huquqni o‘rganmaydi — u keyingi qadamni oladi.</a:t>
            </a:r>
          </a:p>
        </p:txBody>
      </p:sp>
      <p:sp>
        <p:nvSpPr>
          <p:cNvPr id="5" name="Rounded Rectangle 4"/>
          <p:cNvSpPr/>
          <p:nvPr/>
        </p:nvSpPr>
        <p:spPr>
          <a:xfrm>
            <a:off x="566928" y="2331720"/>
            <a:ext cx="2048256" cy="2121408"/>
          </a:xfrm>
          <a:prstGeom prst="roundRect">
            <a:avLst>
              <a:gd name="adj" fmla="val 6000"/>
            </a:avLst>
          </a:prstGeom>
          <a:solidFill>
            <a:srgbClr val="F1F4FA"/>
          </a:solidFill>
          <a:ln>
            <a:noFill/>
          </a:ln>
          <a:effectLst>
            <a:outerShdw blurRad="177800" dist="63500" dir="5400000" rotWithShape="0">
              <a:srgbClr val="0A1733">
                <a:alpha val="14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804672" y="2542032"/>
            <a:ext cx="914400" cy="274320"/>
          </a:xfrm>
          <a:prstGeom prst="rect">
            <a:avLst/>
          </a:prstGeom>
          <a:noFill/>
        </p:spPr>
        <p:txBody>
          <a:bodyPr wrap="square" lIns="0" tIns="0" rIns="0" bIns="0" anchor="t">
            <a:spAutoFit/>
          </a:bodyPr>
          <a:lstStyle/>
          <a:p>
            <a:pPr algn="l"/>
            <a:r>
              <a:rPr sz="1200" b="1" i="0" spc="140">
                <a:solidFill>
                  <a:srgbClr val="1F6FEB"/>
                </a:solidFill>
                <a:latin typeface="Calibri"/>
              </a:rPr>
              <a:t>01</a:t>
            </a:r>
          </a:p>
        </p:txBody>
      </p:sp>
      <p:sp>
        <p:nvSpPr>
          <p:cNvPr id="7" name="TextBox 6"/>
          <p:cNvSpPr txBox="1"/>
          <p:nvPr/>
        </p:nvSpPr>
        <p:spPr>
          <a:xfrm>
            <a:off x="804672" y="2871216"/>
            <a:ext cx="1591056" cy="365760"/>
          </a:xfrm>
          <a:prstGeom prst="rect">
            <a:avLst/>
          </a:prstGeom>
          <a:noFill/>
        </p:spPr>
        <p:txBody>
          <a:bodyPr wrap="square" lIns="0" tIns="0" rIns="0" bIns="0" anchor="t">
            <a:spAutoFit/>
          </a:bodyPr>
          <a:lstStyle/>
          <a:p>
            <a:pPr algn="l"/>
            <a:r>
              <a:rPr sz="1650" b="1" i="0">
                <a:solidFill>
                  <a:srgbClr val="0A1733"/>
                </a:solidFill>
                <a:latin typeface="Cambria"/>
              </a:rPr>
              <a:t>Vaziyat</a:t>
            </a:r>
          </a:p>
        </p:txBody>
      </p:sp>
      <p:sp>
        <p:nvSpPr>
          <p:cNvPr id="8" name="TextBox 7"/>
          <p:cNvSpPr txBox="1"/>
          <p:nvPr/>
        </p:nvSpPr>
        <p:spPr>
          <a:xfrm>
            <a:off x="804672" y="3346704"/>
            <a:ext cx="1591056" cy="914400"/>
          </a:xfrm>
          <a:prstGeom prst="rect">
            <a:avLst/>
          </a:prstGeom>
          <a:noFill/>
        </p:spPr>
        <p:txBody>
          <a:bodyPr wrap="square" lIns="0" tIns="0" rIns="0" bIns="0" anchor="t">
            <a:spAutoFit/>
          </a:bodyPr>
          <a:lstStyle/>
          <a:p>
            <a:pPr algn="l">
              <a:lnSpc>
                <a:spcPct val="124000"/>
              </a:lnSpc>
            </a:pPr>
            <a:r>
              <a:rPr sz="1200" b="0" i="0">
                <a:solidFill>
                  <a:srgbClr val="5C6B87"/>
                </a:solidFill>
                <a:latin typeface="Calibri"/>
              </a:rPr>
              <a:t>“Ishdan asossiz</a:t>
            </a:r>
          </a:p>
          <a:p>
            <a:pPr algn="l">
              <a:lnSpc>
                <a:spcPct val="124000"/>
              </a:lnSpc>
            </a:pPr>
            <a:r>
              <a:rPr sz="1200" b="0" i="0">
                <a:solidFill>
                  <a:srgbClr val="5C6B87"/>
                </a:solidFill>
                <a:latin typeface="Calibri"/>
              </a:rPr>
              <a:t>bo‘shatildim”</a:t>
            </a:r>
          </a:p>
        </p:txBody>
      </p:sp>
      <p:sp>
        <p:nvSpPr>
          <p:cNvPr id="9" name="Isosceles Triangle 8"/>
          <p:cNvSpPr/>
          <p:nvPr/>
        </p:nvSpPr>
        <p:spPr>
          <a:xfrm rot="5400000">
            <a:off x="2647188" y="3310128"/>
            <a:ext cx="118872" cy="136702"/>
          </a:xfrm>
          <a:prstGeom prst="triangle">
            <a:avLst/>
          </a:prstGeom>
          <a:solidFill>
            <a:srgbClr val="C8A26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Rounded Rectangle 9"/>
          <p:cNvSpPr/>
          <p:nvPr/>
        </p:nvSpPr>
        <p:spPr>
          <a:xfrm>
            <a:off x="2798064" y="2331720"/>
            <a:ext cx="2048256" cy="2121408"/>
          </a:xfrm>
          <a:prstGeom prst="roundRect">
            <a:avLst>
              <a:gd name="adj" fmla="val 6000"/>
            </a:avLst>
          </a:prstGeom>
          <a:solidFill>
            <a:srgbClr val="F1F4FA"/>
          </a:solidFill>
          <a:ln>
            <a:noFill/>
          </a:ln>
          <a:effectLst>
            <a:outerShdw blurRad="177800" dist="63500" dir="5400000" rotWithShape="0">
              <a:srgbClr val="0A1733">
                <a:alpha val="14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3035808" y="2542032"/>
            <a:ext cx="914400" cy="274320"/>
          </a:xfrm>
          <a:prstGeom prst="rect">
            <a:avLst/>
          </a:prstGeom>
          <a:noFill/>
        </p:spPr>
        <p:txBody>
          <a:bodyPr wrap="square" lIns="0" tIns="0" rIns="0" bIns="0" anchor="t">
            <a:spAutoFit/>
          </a:bodyPr>
          <a:lstStyle/>
          <a:p>
            <a:pPr algn="l"/>
            <a:r>
              <a:rPr sz="1200" b="1" i="0" spc="140">
                <a:solidFill>
                  <a:srgbClr val="1F6FEB"/>
                </a:solidFill>
                <a:latin typeface="Calibri"/>
              </a:rPr>
              <a:t>02</a:t>
            </a:r>
          </a:p>
        </p:txBody>
      </p:sp>
      <p:sp>
        <p:nvSpPr>
          <p:cNvPr id="12" name="TextBox 11"/>
          <p:cNvSpPr txBox="1"/>
          <p:nvPr/>
        </p:nvSpPr>
        <p:spPr>
          <a:xfrm>
            <a:off x="3035808" y="2871216"/>
            <a:ext cx="1591056" cy="365760"/>
          </a:xfrm>
          <a:prstGeom prst="rect">
            <a:avLst/>
          </a:prstGeom>
          <a:noFill/>
        </p:spPr>
        <p:txBody>
          <a:bodyPr wrap="square" lIns="0" tIns="0" rIns="0" bIns="0" anchor="t">
            <a:spAutoFit/>
          </a:bodyPr>
          <a:lstStyle/>
          <a:p>
            <a:pPr algn="l"/>
            <a:r>
              <a:rPr sz="1650" b="1" i="0">
                <a:solidFill>
                  <a:srgbClr val="0A1733"/>
                </a:solidFill>
                <a:latin typeface="Cambria"/>
              </a:rPr>
              <a:t>Guardrail</a:t>
            </a:r>
          </a:p>
        </p:txBody>
      </p:sp>
      <p:sp>
        <p:nvSpPr>
          <p:cNvPr id="13" name="TextBox 12"/>
          <p:cNvSpPr txBox="1"/>
          <p:nvPr/>
        </p:nvSpPr>
        <p:spPr>
          <a:xfrm>
            <a:off x="3035808" y="3346704"/>
            <a:ext cx="1591056" cy="914400"/>
          </a:xfrm>
          <a:prstGeom prst="rect">
            <a:avLst/>
          </a:prstGeom>
          <a:noFill/>
        </p:spPr>
        <p:txBody>
          <a:bodyPr wrap="square" lIns="0" tIns="0" rIns="0" bIns="0" anchor="t">
            <a:spAutoFit/>
          </a:bodyPr>
          <a:lstStyle/>
          <a:p>
            <a:pPr algn="l">
              <a:lnSpc>
                <a:spcPct val="124000"/>
              </a:lnSpc>
            </a:pPr>
            <a:r>
              <a:rPr sz="1200" b="0" i="0">
                <a:solidFill>
                  <a:srgbClr val="5C6B87"/>
                </a:solidFill>
                <a:latin typeface="Calibri"/>
              </a:rPr>
              <a:t>Shaxsiy ma’lumot</a:t>
            </a:r>
          </a:p>
          <a:p>
            <a:pPr algn="l">
              <a:lnSpc>
                <a:spcPct val="124000"/>
              </a:lnSpc>
            </a:pPr>
            <a:r>
              <a:rPr sz="1200" b="0" i="0">
                <a:solidFill>
                  <a:srgbClr val="5C6B87"/>
                </a:solidFill>
                <a:latin typeface="Calibri"/>
              </a:rPr>
              <a:t>anonimlashtiriladi</a:t>
            </a:r>
          </a:p>
        </p:txBody>
      </p:sp>
      <p:sp>
        <p:nvSpPr>
          <p:cNvPr id="14" name="Isosceles Triangle 13"/>
          <p:cNvSpPr/>
          <p:nvPr/>
        </p:nvSpPr>
        <p:spPr>
          <a:xfrm rot="5400000">
            <a:off x="4878324" y="3310128"/>
            <a:ext cx="118872" cy="136702"/>
          </a:xfrm>
          <a:prstGeom prst="triangle">
            <a:avLst/>
          </a:prstGeom>
          <a:solidFill>
            <a:srgbClr val="C8A26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Rounded Rectangle 14"/>
          <p:cNvSpPr/>
          <p:nvPr/>
        </p:nvSpPr>
        <p:spPr>
          <a:xfrm>
            <a:off x="5029200" y="2331720"/>
            <a:ext cx="2048256" cy="2121408"/>
          </a:xfrm>
          <a:prstGeom prst="roundRect">
            <a:avLst>
              <a:gd name="adj" fmla="val 6000"/>
            </a:avLst>
          </a:prstGeom>
          <a:solidFill>
            <a:srgbClr val="F1F4FA"/>
          </a:solidFill>
          <a:ln>
            <a:noFill/>
          </a:ln>
          <a:effectLst>
            <a:outerShdw blurRad="177800" dist="63500" dir="5400000" rotWithShape="0">
              <a:srgbClr val="0A1733">
                <a:alpha val="14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TextBox 15"/>
          <p:cNvSpPr txBox="1"/>
          <p:nvPr/>
        </p:nvSpPr>
        <p:spPr>
          <a:xfrm>
            <a:off x="5266944" y="2542032"/>
            <a:ext cx="914400" cy="274320"/>
          </a:xfrm>
          <a:prstGeom prst="rect">
            <a:avLst/>
          </a:prstGeom>
          <a:noFill/>
        </p:spPr>
        <p:txBody>
          <a:bodyPr wrap="square" lIns="0" tIns="0" rIns="0" bIns="0" anchor="t">
            <a:spAutoFit/>
          </a:bodyPr>
          <a:lstStyle/>
          <a:p>
            <a:pPr algn="l"/>
            <a:r>
              <a:rPr sz="1200" b="1" i="0" spc="140">
                <a:solidFill>
                  <a:srgbClr val="1F6FEB"/>
                </a:solidFill>
                <a:latin typeface="Calibri"/>
              </a:rPr>
              <a:t>03</a:t>
            </a:r>
          </a:p>
        </p:txBody>
      </p:sp>
      <p:sp>
        <p:nvSpPr>
          <p:cNvPr id="17" name="TextBox 16"/>
          <p:cNvSpPr txBox="1"/>
          <p:nvPr/>
        </p:nvSpPr>
        <p:spPr>
          <a:xfrm>
            <a:off x="5266944" y="2871216"/>
            <a:ext cx="1591056" cy="365760"/>
          </a:xfrm>
          <a:prstGeom prst="rect">
            <a:avLst/>
          </a:prstGeom>
          <a:noFill/>
        </p:spPr>
        <p:txBody>
          <a:bodyPr wrap="square" lIns="0" tIns="0" rIns="0" bIns="0" anchor="t">
            <a:spAutoFit/>
          </a:bodyPr>
          <a:lstStyle/>
          <a:p>
            <a:pPr algn="l"/>
            <a:r>
              <a:rPr sz="1650" b="1" i="0">
                <a:solidFill>
                  <a:srgbClr val="0A1733"/>
                </a:solidFill>
                <a:latin typeface="Cambria"/>
              </a:rPr>
              <a:t>AI tahlil</a:t>
            </a:r>
          </a:p>
        </p:txBody>
      </p:sp>
      <p:sp>
        <p:nvSpPr>
          <p:cNvPr id="18" name="TextBox 17"/>
          <p:cNvSpPr txBox="1"/>
          <p:nvPr/>
        </p:nvSpPr>
        <p:spPr>
          <a:xfrm>
            <a:off x="5266944" y="3346704"/>
            <a:ext cx="1591056" cy="914400"/>
          </a:xfrm>
          <a:prstGeom prst="rect">
            <a:avLst/>
          </a:prstGeom>
          <a:noFill/>
        </p:spPr>
        <p:txBody>
          <a:bodyPr wrap="square" lIns="0" tIns="0" rIns="0" bIns="0" anchor="t">
            <a:spAutoFit/>
          </a:bodyPr>
          <a:lstStyle/>
          <a:p>
            <a:pPr algn="l">
              <a:lnSpc>
                <a:spcPct val="124000"/>
              </a:lnSpc>
            </a:pPr>
            <a:r>
              <a:rPr sz="1200" b="0" i="0">
                <a:solidFill>
                  <a:srgbClr val="5C6B87"/>
                </a:solidFill>
                <a:latin typeface="Calibri"/>
              </a:rPr>
              <a:t>Muddat, risk va</a:t>
            </a:r>
          </a:p>
          <a:p>
            <a:pPr algn="l">
              <a:lnSpc>
                <a:spcPct val="124000"/>
              </a:lnSpc>
            </a:pPr>
            <a:r>
              <a:rPr sz="1200" b="0" i="0">
                <a:solidFill>
                  <a:srgbClr val="5C6B87"/>
                </a:solidFill>
                <a:latin typeface="Calibri"/>
              </a:rPr>
              <a:t>qadamlar aniqlanadi</a:t>
            </a:r>
          </a:p>
        </p:txBody>
      </p:sp>
      <p:sp>
        <p:nvSpPr>
          <p:cNvPr id="19" name="Isosceles Triangle 18"/>
          <p:cNvSpPr/>
          <p:nvPr/>
        </p:nvSpPr>
        <p:spPr>
          <a:xfrm rot="5400000">
            <a:off x="7109460" y="3310128"/>
            <a:ext cx="118872" cy="136702"/>
          </a:xfrm>
          <a:prstGeom prst="triangle">
            <a:avLst/>
          </a:prstGeom>
          <a:solidFill>
            <a:srgbClr val="C8A26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Rounded Rectangle 19"/>
          <p:cNvSpPr/>
          <p:nvPr/>
        </p:nvSpPr>
        <p:spPr>
          <a:xfrm>
            <a:off x="7260336" y="2331720"/>
            <a:ext cx="2048256" cy="2121408"/>
          </a:xfrm>
          <a:prstGeom prst="roundRect">
            <a:avLst>
              <a:gd name="adj" fmla="val 6000"/>
            </a:avLst>
          </a:prstGeom>
          <a:solidFill>
            <a:srgbClr val="F1F4FA"/>
          </a:solidFill>
          <a:ln>
            <a:noFill/>
          </a:ln>
          <a:effectLst>
            <a:outerShdw blurRad="177800" dist="63500" dir="5400000" rotWithShape="0">
              <a:srgbClr val="0A1733">
                <a:alpha val="14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TextBox 20"/>
          <p:cNvSpPr txBox="1"/>
          <p:nvPr/>
        </p:nvSpPr>
        <p:spPr>
          <a:xfrm>
            <a:off x="7498080" y="2542032"/>
            <a:ext cx="914400" cy="274320"/>
          </a:xfrm>
          <a:prstGeom prst="rect">
            <a:avLst/>
          </a:prstGeom>
          <a:noFill/>
        </p:spPr>
        <p:txBody>
          <a:bodyPr wrap="square" lIns="0" tIns="0" rIns="0" bIns="0" anchor="t">
            <a:spAutoFit/>
          </a:bodyPr>
          <a:lstStyle/>
          <a:p>
            <a:pPr algn="l"/>
            <a:r>
              <a:rPr sz="1200" b="1" i="0" spc="140">
                <a:solidFill>
                  <a:srgbClr val="1F6FEB"/>
                </a:solidFill>
                <a:latin typeface="Calibri"/>
              </a:rPr>
              <a:t>04</a:t>
            </a:r>
          </a:p>
        </p:txBody>
      </p:sp>
      <p:sp>
        <p:nvSpPr>
          <p:cNvPr id="22" name="TextBox 21"/>
          <p:cNvSpPr txBox="1"/>
          <p:nvPr/>
        </p:nvSpPr>
        <p:spPr>
          <a:xfrm>
            <a:off x="7498080" y="2871216"/>
            <a:ext cx="1591056" cy="365760"/>
          </a:xfrm>
          <a:prstGeom prst="rect">
            <a:avLst/>
          </a:prstGeom>
          <a:noFill/>
        </p:spPr>
        <p:txBody>
          <a:bodyPr wrap="square" lIns="0" tIns="0" rIns="0" bIns="0" anchor="t">
            <a:spAutoFit/>
          </a:bodyPr>
          <a:lstStyle/>
          <a:p>
            <a:pPr algn="l"/>
            <a:r>
              <a:rPr sz="1650" b="1" i="0">
                <a:solidFill>
                  <a:srgbClr val="0A1733"/>
                </a:solidFill>
                <a:latin typeface="Cambria"/>
              </a:rPr>
              <a:t>Huquqiy asos</a:t>
            </a:r>
          </a:p>
        </p:txBody>
      </p:sp>
      <p:sp>
        <p:nvSpPr>
          <p:cNvPr id="23" name="TextBox 22"/>
          <p:cNvSpPr txBox="1"/>
          <p:nvPr/>
        </p:nvSpPr>
        <p:spPr>
          <a:xfrm>
            <a:off x="7498080" y="3346704"/>
            <a:ext cx="1591056" cy="914400"/>
          </a:xfrm>
          <a:prstGeom prst="rect">
            <a:avLst/>
          </a:prstGeom>
          <a:noFill/>
        </p:spPr>
        <p:txBody>
          <a:bodyPr wrap="square" lIns="0" tIns="0" rIns="0" bIns="0" anchor="t">
            <a:spAutoFit/>
          </a:bodyPr>
          <a:lstStyle/>
          <a:p>
            <a:pPr algn="l">
              <a:lnSpc>
                <a:spcPct val="124000"/>
              </a:lnSpc>
            </a:pPr>
            <a:r>
              <a:rPr sz="1200" b="0" i="0">
                <a:solidFill>
                  <a:srgbClr val="5C6B87"/>
                </a:solidFill>
                <a:latin typeface="Calibri"/>
              </a:rPr>
              <a:t>Modda raqami</a:t>
            </a:r>
          </a:p>
          <a:p>
            <a:pPr algn="l">
              <a:lnSpc>
                <a:spcPct val="124000"/>
              </a:lnSpc>
            </a:pPr>
            <a:r>
              <a:rPr sz="1200" b="0" i="0">
                <a:solidFill>
                  <a:srgbClr val="5C6B87"/>
                </a:solidFill>
                <a:latin typeface="Calibri"/>
              </a:rPr>
              <a:t>tekshirib beriladi</a:t>
            </a:r>
          </a:p>
        </p:txBody>
      </p:sp>
      <p:sp>
        <p:nvSpPr>
          <p:cNvPr id="24" name="Isosceles Triangle 23"/>
          <p:cNvSpPr/>
          <p:nvPr/>
        </p:nvSpPr>
        <p:spPr>
          <a:xfrm rot="5400000">
            <a:off x="9340596" y="3310128"/>
            <a:ext cx="118872" cy="136702"/>
          </a:xfrm>
          <a:prstGeom prst="triangle">
            <a:avLst/>
          </a:prstGeom>
          <a:solidFill>
            <a:srgbClr val="C8A26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Rounded Rectangle 24"/>
          <p:cNvSpPr/>
          <p:nvPr/>
        </p:nvSpPr>
        <p:spPr>
          <a:xfrm>
            <a:off x="9491472" y="2331720"/>
            <a:ext cx="2048256" cy="2121408"/>
          </a:xfrm>
          <a:prstGeom prst="roundRect">
            <a:avLst>
              <a:gd name="adj" fmla="val 6000"/>
            </a:avLst>
          </a:prstGeom>
          <a:solidFill>
            <a:srgbClr val="0A1733"/>
          </a:solidFill>
          <a:ln>
            <a:noFill/>
          </a:ln>
          <a:effectLst>
            <a:outerShdw blurRad="177800" dist="63500" dir="5400000" rotWithShape="0">
              <a:srgbClr val="0A1733">
                <a:alpha val="14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6" name="TextBox 25"/>
          <p:cNvSpPr txBox="1"/>
          <p:nvPr/>
        </p:nvSpPr>
        <p:spPr>
          <a:xfrm>
            <a:off x="9729216" y="2542032"/>
            <a:ext cx="914400" cy="274320"/>
          </a:xfrm>
          <a:prstGeom prst="rect">
            <a:avLst/>
          </a:prstGeom>
          <a:noFill/>
        </p:spPr>
        <p:txBody>
          <a:bodyPr wrap="square" lIns="0" tIns="0" rIns="0" bIns="0" anchor="t">
            <a:spAutoFit/>
          </a:bodyPr>
          <a:lstStyle/>
          <a:p>
            <a:pPr algn="l"/>
            <a:r>
              <a:rPr sz="1200" b="1" i="0" spc="140">
                <a:solidFill>
                  <a:srgbClr val="C8A265"/>
                </a:solidFill>
                <a:latin typeface="Calibri"/>
              </a:rPr>
              <a:t>05</a:t>
            </a:r>
          </a:p>
        </p:txBody>
      </p:sp>
      <p:sp>
        <p:nvSpPr>
          <p:cNvPr id="27" name="TextBox 26"/>
          <p:cNvSpPr txBox="1"/>
          <p:nvPr/>
        </p:nvSpPr>
        <p:spPr>
          <a:xfrm>
            <a:off x="9729216" y="2871216"/>
            <a:ext cx="1591056" cy="365760"/>
          </a:xfrm>
          <a:prstGeom prst="rect">
            <a:avLst/>
          </a:prstGeom>
          <a:noFill/>
        </p:spPr>
        <p:txBody>
          <a:bodyPr wrap="square" lIns="0" tIns="0" rIns="0" bIns="0" anchor="t">
            <a:spAutoFit/>
          </a:bodyPr>
          <a:lstStyle/>
          <a:p>
            <a:pPr algn="l"/>
            <a:r>
              <a:rPr sz="1650" b="1" i="0">
                <a:solidFill>
                  <a:srgbClr val="FFFFFF"/>
                </a:solidFill>
                <a:latin typeface="Cambria"/>
              </a:rPr>
              <a:t>Harakat</a:t>
            </a:r>
          </a:p>
        </p:txBody>
      </p:sp>
      <p:sp>
        <p:nvSpPr>
          <p:cNvPr id="28" name="TextBox 27"/>
          <p:cNvSpPr txBox="1"/>
          <p:nvPr/>
        </p:nvSpPr>
        <p:spPr>
          <a:xfrm>
            <a:off x="9729216" y="3346704"/>
            <a:ext cx="1591056" cy="914400"/>
          </a:xfrm>
          <a:prstGeom prst="rect">
            <a:avLst/>
          </a:prstGeom>
          <a:noFill/>
        </p:spPr>
        <p:txBody>
          <a:bodyPr wrap="square" lIns="0" tIns="0" rIns="0" bIns="0" anchor="t">
            <a:spAutoFit/>
          </a:bodyPr>
          <a:lstStyle/>
          <a:p>
            <a:pPr algn="l">
              <a:lnSpc>
                <a:spcPct val="124000"/>
              </a:lnSpc>
            </a:pPr>
            <a:r>
              <a:rPr sz="1200" b="0" i="0">
                <a:solidFill>
                  <a:srgbClr val="C7D3E8"/>
                </a:solidFill>
                <a:latin typeface="Calibri"/>
              </a:rPr>
              <a:t>Ariza shakli yoki</a:t>
            </a:r>
          </a:p>
          <a:p>
            <a:pPr algn="l">
              <a:lnSpc>
                <a:spcPct val="124000"/>
              </a:lnSpc>
            </a:pPr>
            <a:r>
              <a:rPr sz="1200" b="0" i="0">
                <a:solidFill>
                  <a:srgbClr val="C7D3E8"/>
                </a:solidFill>
                <a:latin typeface="Calibri"/>
              </a:rPr>
              <a:t>45 daq. advokat</a:t>
            </a:r>
          </a:p>
        </p:txBody>
      </p:sp>
      <p:sp>
        <p:nvSpPr>
          <p:cNvPr id="29" name="Rounded Rectangle 28"/>
          <p:cNvSpPr/>
          <p:nvPr/>
        </p:nvSpPr>
        <p:spPr>
          <a:xfrm>
            <a:off x="566928" y="4828032"/>
            <a:ext cx="11055096" cy="932688"/>
          </a:xfrm>
          <a:prstGeom prst="roundRect">
            <a:avLst>
              <a:gd name="adj" fmla="val 9000"/>
            </a:avLst>
          </a:prstGeom>
          <a:solidFill>
            <a:srgbClr val="F1F4FA"/>
          </a:solidFill>
          <a:ln>
            <a:noFill/>
          </a:ln>
          <a:effectLst>
            <a:outerShdw blurRad="177800" dist="63500" dir="5400000" rotWithShape="0">
              <a:srgbClr val="0A1733">
                <a:alpha val="14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0" name="Isosceles Triangle 29"/>
          <p:cNvSpPr/>
          <p:nvPr/>
        </p:nvSpPr>
        <p:spPr>
          <a:xfrm rot="5400000">
            <a:off x="877824" y="5193792"/>
            <a:ext cx="128016" cy="147218"/>
          </a:xfrm>
          <a:prstGeom prst="triangle">
            <a:avLst/>
          </a:prstGeom>
          <a:solidFill>
            <a:srgbClr val="C8A26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1" name="TextBox 30"/>
          <p:cNvSpPr txBox="1"/>
          <p:nvPr/>
        </p:nvSpPr>
        <p:spPr>
          <a:xfrm>
            <a:off x="1188720" y="4974336"/>
            <a:ext cx="10241280" cy="658368"/>
          </a:xfrm>
          <a:prstGeom prst="rect">
            <a:avLst/>
          </a:prstGeom>
          <a:noFill/>
        </p:spPr>
        <p:txBody>
          <a:bodyPr wrap="square" lIns="0" tIns="0" rIns="0" bIns="0" anchor="ctr">
            <a:spAutoFit/>
          </a:bodyPr>
          <a:lstStyle/>
          <a:p>
            <a:pPr algn="l">
              <a:lnSpc>
                <a:spcPct val="116000"/>
              </a:lnSpc>
            </a:pPr>
            <a:r>
              <a:rPr sz="1700" b="1" i="0">
                <a:solidFill>
                  <a:srgbClr val="0A1733"/>
                </a:solidFill>
                <a:latin typeface="Cambria"/>
              </a:rPr>
              <a:t>Natija: fuqaro nima qilishini biladi, muddatni o‘tkazib yubormaydi va kim javob berishini biladi.</a:t>
            </a:r>
          </a:p>
        </p:txBody>
      </p:sp>
      <p:sp>
        <p:nvSpPr>
          <p:cNvPr id="32" name="TextBox 31"/>
          <p:cNvSpPr txBox="1"/>
          <p:nvPr/>
        </p:nvSpPr>
        <p:spPr>
          <a:xfrm>
            <a:off x="566928" y="6382512"/>
            <a:ext cx="11064240" cy="274320"/>
          </a:xfrm>
          <a:prstGeom prst="rect">
            <a:avLst/>
          </a:prstGeom>
          <a:noFill/>
        </p:spPr>
        <p:txBody>
          <a:bodyPr wrap="square" lIns="0" tIns="0" rIns="0" bIns="0" anchor="t">
            <a:spAutoFit/>
          </a:bodyPr>
          <a:lstStyle/>
          <a:p>
            <a:pPr algn="l">
              <a:lnSpc>
                <a:spcPct val="105000"/>
              </a:lnSpc>
            </a:pPr>
            <a:r>
              <a:rPr sz="950" b="0" i="0">
                <a:solidFill>
                  <a:srgbClr val="5C6B87"/>
                </a:solidFill>
                <a:latin typeface="Calibri"/>
              </a:rPr>
              <a:t>Oqim ilovada amalda ishlaydi: legal_assistant_remote_datasource.dart:67-144  ·  FACT — kod bilan tasdiqlangan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57200"/>
            <a:ext cx="5486400" cy="274320"/>
          </a:xfrm>
          <a:prstGeom prst="rect">
            <a:avLst/>
          </a:prstGeom>
          <a:noFill/>
        </p:spPr>
        <p:txBody>
          <a:bodyPr wrap="square" lIns="0" tIns="0" rIns="0" bIns="0" anchor="t">
            <a:spAutoFit/>
          </a:bodyPr>
          <a:lstStyle/>
          <a:p>
            <a:pPr algn="l"/>
            <a:r>
              <a:rPr sz="1150" b="1" i="0" spc="190">
                <a:solidFill>
                  <a:srgbClr val="C8A265"/>
                </a:solidFill>
                <a:latin typeface="Calibri"/>
              </a:rPr>
              <a:t>04  ·  NEGA BOSHQACHA</a:t>
            </a:r>
          </a:p>
        </p:txBody>
      </p:sp>
      <p:sp>
        <p:nvSpPr>
          <p:cNvPr id="3" name="TextBox 2"/>
          <p:cNvSpPr txBox="1"/>
          <p:nvPr/>
        </p:nvSpPr>
        <p:spPr>
          <a:xfrm>
            <a:off x="566928" y="841248"/>
            <a:ext cx="10058400" cy="777240"/>
          </a:xfrm>
          <a:prstGeom prst="rect">
            <a:avLst/>
          </a:prstGeom>
          <a:noFill/>
        </p:spPr>
        <p:txBody>
          <a:bodyPr wrap="square" lIns="0" tIns="0" rIns="0" bIns="0" anchor="t">
            <a:spAutoFit/>
          </a:bodyPr>
          <a:lstStyle/>
          <a:p>
            <a:pPr algn="l">
              <a:lnSpc>
                <a:spcPct val="95000"/>
              </a:lnSpc>
            </a:pPr>
            <a:r>
              <a:rPr sz="3800" b="1" i="0">
                <a:solidFill>
                  <a:srgbClr val="0A1733"/>
                </a:solidFill>
                <a:latin typeface="Cambria"/>
              </a:rPr>
              <a:t>ChatGPT taxmin qiladi. LexHub tekshiradi.</a:t>
            </a:r>
          </a:p>
        </p:txBody>
      </p:sp>
      <p:sp>
        <p:nvSpPr>
          <p:cNvPr id="4" name="TextBox 3"/>
          <p:cNvSpPr txBox="1"/>
          <p:nvPr/>
        </p:nvSpPr>
        <p:spPr>
          <a:xfrm>
            <a:off x="566928" y="1554480"/>
            <a:ext cx="10058400" cy="365760"/>
          </a:xfrm>
          <a:prstGeom prst="rect">
            <a:avLst/>
          </a:prstGeom>
          <a:noFill/>
        </p:spPr>
        <p:txBody>
          <a:bodyPr wrap="square" lIns="0" tIns="0" rIns="0" bIns="0" anchor="t">
            <a:spAutoFit/>
          </a:bodyPr>
          <a:lstStyle/>
          <a:p>
            <a:pPr algn="l">
              <a:lnSpc>
                <a:spcPct val="110000"/>
              </a:lnSpc>
            </a:pPr>
            <a:r>
              <a:rPr sz="1550" b="0" i="0">
                <a:solidFill>
                  <a:srgbClr val="5C6B87"/>
                </a:solidFill>
                <a:latin typeface="Calibri"/>
              </a:rPr>
              <a:t>To‘rtta savol — bugungi yechimlar va LexHub qanday javob beradi.</a:t>
            </a:r>
          </a:p>
        </p:txBody>
      </p:sp>
      <p:sp>
        <p:nvSpPr>
          <p:cNvPr id="5" name="TextBox 4"/>
          <p:cNvSpPr txBox="1"/>
          <p:nvPr/>
        </p:nvSpPr>
        <p:spPr>
          <a:xfrm>
            <a:off x="566928" y="2286000"/>
            <a:ext cx="3291840" cy="274320"/>
          </a:xfrm>
          <a:prstGeom prst="rect">
            <a:avLst/>
          </a:prstGeom>
          <a:noFill/>
        </p:spPr>
        <p:txBody>
          <a:bodyPr wrap="square" lIns="0" tIns="0" rIns="0" bIns="0" anchor="t">
            <a:spAutoFit/>
          </a:bodyPr>
          <a:lstStyle/>
          <a:p>
            <a:pPr algn="l"/>
            <a:r>
              <a:rPr sz="950" b="1" i="0" spc="150">
                <a:solidFill>
                  <a:srgbClr val="5C6B87"/>
                </a:solidFill>
                <a:latin typeface="Calibri"/>
              </a:rPr>
              <a:t>FUQARONING SAVOLI</a:t>
            </a:r>
          </a:p>
        </p:txBody>
      </p:sp>
      <p:sp>
        <p:nvSpPr>
          <p:cNvPr id="6" name="TextBox 5"/>
          <p:cNvSpPr txBox="1"/>
          <p:nvPr/>
        </p:nvSpPr>
        <p:spPr>
          <a:xfrm>
            <a:off x="4242816" y="2286000"/>
            <a:ext cx="2880360" cy="274320"/>
          </a:xfrm>
          <a:prstGeom prst="rect">
            <a:avLst/>
          </a:prstGeom>
          <a:noFill/>
        </p:spPr>
        <p:txBody>
          <a:bodyPr wrap="square" lIns="0" tIns="0" rIns="0" bIns="0" anchor="t">
            <a:spAutoFit/>
          </a:bodyPr>
          <a:lstStyle/>
          <a:p>
            <a:pPr algn="l"/>
            <a:r>
              <a:rPr sz="950" b="1" i="0" spc="150">
                <a:solidFill>
                  <a:srgbClr val="5C6B87"/>
                </a:solidFill>
                <a:latin typeface="Calibri"/>
              </a:rPr>
              <a:t>BUGUNGI YECHIM</a:t>
            </a:r>
          </a:p>
        </p:txBody>
      </p:sp>
      <p:sp>
        <p:nvSpPr>
          <p:cNvPr id="7" name="TextBox 6"/>
          <p:cNvSpPr txBox="1"/>
          <p:nvPr/>
        </p:nvSpPr>
        <p:spPr>
          <a:xfrm>
            <a:off x="7626096" y="2286000"/>
            <a:ext cx="3886200" cy="274320"/>
          </a:xfrm>
          <a:prstGeom prst="rect">
            <a:avLst/>
          </a:prstGeom>
          <a:noFill/>
        </p:spPr>
        <p:txBody>
          <a:bodyPr wrap="square" lIns="0" tIns="0" rIns="0" bIns="0" anchor="t">
            <a:spAutoFit/>
          </a:bodyPr>
          <a:lstStyle/>
          <a:p>
            <a:pPr algn="l"/>
            <a:r>
              <a:rPr sz="950" b="1" i="0" spc="150">
                <a:solidFill>
                  <a:srgbClr val="1F6FEB"/>
                </a:solidFill>
                <a:latin typeface="Calibri"/>
              </a:rPr>
              <a:t>LEXHUB</a:t>
            </a:r>
          </a:p>
        </p:txBody>
      </p:sp>
      <p:sp>
        <p:nvSpPr>
          <p:cNvPr id="8" name="Rounded Rectangle 7"/>
          <p:cNvSpPr/>
          <p:nvPr/>
        </p:nvSpPr>
        <p:spPr>
          <a:xfrm>
            <a:off x="7370064" y="2651760"/>
            <a:ext cx="4251960" cy="3310128"/>
          </a:xfrm>
          <a:prstGeom prst="roundRect">
            <a:avLst>
              <a:gd name="adj" fmla="val 5000"/>
            </a:avLst>
          </a:prstGeom>
          <a:solidFill>
            <a:srgbClr val="0A1733"/>
          </a:solidFill>
          <a:ln>
            <a:noFill/>
          </a:ln>
          <a:effectLst>
            <a:outerShdw blurRad="177800" dist="63500" dir="5400000" rotWithShape="0">
              <a:srgbClr val="0A1733">
                <a:alpha val="14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566928" y="2798064"/>
            <a:ext cx="3310128" cy="685800"/>
          </a:xfrm>
          <a:prstGeom prst="rect">
            <a:avLst/>
          </a:prstGeom>
          <a:noFill/>
        </p:spPr>
        <p:txBody>
          <a:bodyPr wrap="square" lIns="0" tIns="0" rIns="0" bIns="0" anchor="ctr">
            <a:spAutoFit/>
          </a:bodyPr>
          <a:lstStyle/>
          <a:p>
            <a:pPr algn="l">
              <a:lnSpc>
                <a:spcPct val="120000"/>
              </a:lnSpc>
            </a:pPr>
            <a:r>
              <a:rPr sz="1250" b="1" i="0">
                <a:solidFill>
                  <a:srgbClr val="0A1733"/>
                </a:solidFill>
                <a:latin typeface="Cambria"/>
              </a:rPr>
              <a:t>“Qaysi modda</a:t>
            </a:r>
          </a:p>
          <a:p>
            <a:pPr algn="l">
              <a:lnSpc>
                <a:spcPct val="120000"/>
              </a:lnSpc>
            </a:pPr>
            <a:r>
              <a:rPr sz="1250" b="1" i="0">
                <a:solidFill>
                  <a:srgbClr val="0A1733"/>
                </a:solidFill>
                <a:latin typeface="Cambria"/>
              </a:rPr>
              <a:t>mening ishimga tegishli?”</a:t>
            </a:r>
          </a:p>
        </p:txBody>
      </p:sp>
      <p:sp>
        <p:nvSpPr>
          <p:cNvPr id="10" name="TextBox 9"/>
          <p:cNvSpPr txBox="1"/>
          <p:nvPr/>
        </p:nvSpPr>
        <p:spPr>
          <a:xfrm>
            <a:off x="4242816" y="2798064"/>
            <a:ext cx="3017520" cy="685800"/>
          </a:xfrm>
          <a:prstGeom prst="rect">
            <a:avLst/>
          </a:prstGeom>
          <a:noFill/>
        </p:spPr>
        <p:txBody>
          <a:bodyPr wrap="square" lIns="0" tIns="0" rIns="0" bIns="0" anchor="ctr">
            <a:spAutoFit/>
          </a:bodyPr>
          <a:lstStyle/>
          <a:p>
            <a:pPr algn="l">
              <a:lnSpc>
                <a:spcPct val="120000"/>
              </a:lnSpc>
            </a:pPr>
            <a:r>
              <a:rPr sz="1150" b="0" i="0">
                <a:solidFill>
                  <a:srgbClr val="5C6B87"/>
                </a:solidFill>
                <a:latin typeface="Calibri"/>
              </a:rPr>
              <a:t>Umumiy AI mavjud bo‘lmagan</a:t>
            </a:r>
          </a:p>
          <a:p>
            <a:pPr algn="l">
              <a:lnSpc>
                <a:spcPct val="120000"/>
              </a:lnSpc>
            </a:pPr>
            <a:r>
              <a:rPr sz="1150" b="0" i="0">
                <a:solidFill>
                  <a:srgbClr val="5C6B87"/>
                </a:solidFill>
                <a:latin typeface="Calibri"/>
              </a:rPr>
              <a:t>modda raqamini aytishi mumkin</a:t>
            </a:r>
          </a:p>
        </p:txBody>
      </p:sp>
      <p:sp>
        <p:nvSpPr>
          <p:cNvPr id="11" name="Isosceles Triangle 10"/>
          <p:cNvSpPr/>
          <p:nvPr/>
        </p:nvSpPr>
        <p:spPr>
          <a:xfrm rot="5400000">
            <a:off x="7571231" y="3054096"/>
            <a:ext cx="91440" cy="105155"/>
          </a:xfrm>
          <a:prstGeom prst="triangle">
            <a:avLst/>
          </a:prstGeom>
          <a:solidFill>
            <a:srgbClr val="C8A26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p:cNvSpPr txBox="1"/>
          <p:nvPr/>
        </p:nvSpPr>
        <p:spPr>
          <a:xfrm>
            <a:off x="7772400" y="2798064"/>
            <a:ext cx="3703320" cy="685800"/>
          </a:xfrm>
          <a:prstGeom prst="rect">
            <a:avLst/>
          </a:prstGeom>
          <a:noFill/>
        </p:spPr>
        <p:txBody>
          <a:bodyPr wrap="square" lIns="0" tIns="0" rIns="0" bIns="0" anchor="ctr">
            <a:spAutoFit/>
          </a:bodyPr>
          <a:lstStyle/>
          <a:p>
            <a:pPr algn="l">
              <a:lnSpc>
                <a:spcPct val="120000"/>
              </a:lnSpc>
            </a:pPr>
            <a:r>
              <a:rPr sz="1150" b="1" i="0">
                <a:solidFill>
                  <a:srgbClr val="FFFFFF"/>
                </a:solidFill>
                <a:latin typeface="Calibri"/>
              </a:rPr>
              <a:t>Har bir modda 8 kodeksning real</a:t>
            </a:r>
          </a:p>
          <a:p>
            <a:pPr algn="l">
              <a:lnSpc>
                <a:spcPct val="120000"/>
              </a:lnSpc>
            </a:pPr>
            <a:r>
              <a:rPr sz="1150" b="1" i="0">
                <a:solidFill>
                  <a:srgbClr val="FFFFFF"/>
                </a:solidFill>
                <a:latin typeface="Calibri"/>
              </a:rPr>
              <a:t>chegarasi bilan tekshiriladi</a:t>
            </a:r>
          </a:p>
        </p:txBody>
      </p:sp>
      <p:sp>
        <p:nvSpPr>
          <p:cNvPr id="13" name="Rectangle 12"/>
          <p:cNvSpPr/>
          <p:nvPr/>
        </p:nvSpPr>
        <p:spPr>
          <a:xfrm>
            <a:off x="566928" y="3520440"/>
            <a:ext cx="6675120" cy="7315"/>
          </a:xfrm>
          <a:prstGeom prst="rect">
            <a:avLst/>
          </a:prstGeom>
          <a:solidFill>
            <a:srgbClr val="E3E9F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TextBox 13"/>
          <p:cNvSpPr txBox="1"/>
          <p:nvPr/>
        </p:nvSpPr>
        <p:spPr>
          <a:xfrm>
            <a:off x="566928" y="3584448"/>
            <a:ext cx="3310128" cy="685800"/>
          </a:xfrm>
          <a:prstGeom prst="rect">
            <a:avLst/>
          </a:prstGeom>
          <a:noFill/>
        </p:spPr>
        <p:txBody>
          <a:bodyPr wrap="square" lIns="0" tIns="0" rIns="0" bIns="0" anchor="ctr">
            <a:spAutoFit/>
          </a:bodyPr>
          <a:lstStyle/>
          <a:p>
            <a:pPr algn="l">
              <a:lnSpc>
                <a:spcPct val="120000"/>
              </a:lnSpc>
            </a:pPr>
            <a:r>
              <a:rPr sz="1250" b="1" i="0">
                <a:solidFill>
                  <a:srgbClr val="0A1733"/>
                </a:solidFill>
                <a:latin typeface="Cambria"/>
              </a:rPr>
              <a:t>“Muddat qachon tugaydi?”</a:t>
            </a:r>
          </a:p>
        </p:txBody>
      </p:sp>
      <p:sp>
        <p:nvSpPr>
          <p:cNvPr id="15" name="TextBox 14"/>
          <p:cNvSpPr txBox="1"/>
          <p:nvPr/>
        </p:nvSpPr>
        <p:spPr>
          <a:xfrm>
            <a:off x="4242816" y="3584448"/>
            <a:ext cx="3017520" cy="685800"/>
          </a:xfrm>
          <a:prstGeom prst="rect">
            <a:avLst/>
          </a:prstGeom>
          <a:noFill/>
        </p:spPr>
        <p:txBody>
          <a:bodyPr wrap="square" lIns="0" tIns="0" rIns="0" bIns="0" anchor="ctr">
            <a:spAutoFit/>
          </a:bodyPr>
          <a:lstStyle/>
          <a:p>
            <a:pPr algn="l">
              <a:lnSpc>
                <a:spcPct val="120000"/>
              </a:lnSpc>
            </a:pPr>
            <a:r>
              <a:rPr sz="1150" b="0" i="0">
                <a:solidFill>
                  <a:srgbClr val="5C6B87"/>
                </a:solidFill>
                <a:latin typeface="Calibri"/>
              </a:rPr>
              <a:t>Qonun matni bor — muddat</a:t>
            </a:r>
          </a:p>
          <a:p>
            <a:pPr algn="l">
              <a:lnSpc>
                <a:spcPct val="120000"/>
              </a:lnSpc>
            </a:pPr>
            <a:r>
              <a:rPr sz="1150" b="0" i="0">
                <a:solidFill>
                  <a:srgbClr val="5C6B87"/>
                </a:solidFill>
                <a:latin typeface="Calibri"/>
              </a:rPr>
              <a:t>hisoblanmagan</a:t>
            </a:r>
          </a:p>
        </p:txBody>
      </p:sp>
      <p:sp>
        <p:nvSpPr>
          <p:cNvPr id="16" name="Isosceles Triangle 15"/>
          <p:cNvSpPr/>
          <p:nvPr/>
        </p:nvSpPr>
        <p:spPr>
          <a:xfrm rot="5400000">
            <a:off x="7571231" y="3840480"/>
            <a:ext cx="91440" cy="105155"/>
          </a:xfrm>
          <a:prstGeom prst="triangle">
            <a:avLst/>
          </a:prstGeom>
          <a:solidFill>
            <a:srgbClr val="C8A26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7772400" y="3584448"/>
            <a:ext cx="3703320" cy="685800"/>
          </a:xfrm>
          <a:prstGeom prst="rect">
            <a:avLst/>
          </a:prstGeom>
          <a:noFill/>
        </p:spPr>
        <p:txBody>
          <a:bodyPr wrap="square" lIns="0" tIns="0" rIns="0" bIns="0" anchor="ctr">
            <a:spAutoFit/>
          </a:bodyPr>
          <a:lstStyle/>
          <a:p>
            <a:pPr algn="l">
              <a:lnSpc>
                <a:spcPct val="120000"/>
              </a:lnSpc>
            </a:pPr>
            <a:r>
              <a:rPr sz="1150" b="1" i="0">
                <a:solidFill>
                  <a:srgbClr val="FFFFFF"/>
                </a:solidFill>
                <a:latin typeface="Calibri"/>
              </a:rPr>
              <a:t>30 / 10 / 1095 kunlik muddatlar</a:t>
            </a:r>
          </a:p>
          <a:p>
            <a:pPr algn="l">
              <a:lnSpc>
                <a:spcPct val="120000"/>
              </a:lnSpc>
            </a:pPr>
            <a:r>
              <a:rPr sz="1150" b="1" i="0">
                <a:solidFill>
                  <a:srgbClr val="FFFFFF"/>
                </a:solidFill>
                <a:latin typeface="Calibri"/>
              </a:rPr>
              <a:t>avtomatik chiqadi</a:t>
            </a:r>
          </a:p>
        </p:txBody>
      </p:sp>
      <p:sp>
        <p:nvSpPr>
          <p:cNvPr id="18" name="Rectangle 17"/>
          <p:cNvSpPr/>
          <p:nvPr/>
        </p:nvSpPr>
        <p:spPr>
          <a:xfrm>
            <a:off x="566928" y="4306824"/>
            <a:ext cx="6675120" cy="7315"/>
          </a:xfrm>
          <a:prstGeom prst="rect">
            <a:avLst/>
          </a:prstGeom>
          <a:solidFill>
            <a:srgbClr val="E3E9F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TextBox 18"/>
          <p:cNvSpPr txBox="1"/>
          <p:nvPr/>
        </p:nvSpPr>
        <p:spPr>
          <a:xfrm>
            <a:off x="566928" y="4370832"/>
            <a:ext cx="3310128" cy="685800"/>
          </a:xfrm>
          <a:prstGeom prst="rect">
            <a:avLst/>
          </a:prstGeom>
          <a:noFill/>
        </p:spPr>
        <p:txBody>
          <a:bodyPr wrap="square" lIns="0" tIns="0" rIns="0" bIns="0" anchor="ctr">
            <a:spAutoFit/>
          </a:bodyPr>
          <a:lstStyle/>
          <a:p>
            <a:pPr algn="l">
              <a:lnSpc>
                <a:spcPct val="120000"/>
              </a:lnSpc>
            </a:pPr>
            <a:r>
              <a:rPr sz="1250" b="1" i="0">
                <a:solidFill>
                  <a:srgbClr val="0A1733"/>
                </a:solidFill>
                <a:latin typeface="Cambria"/>
              </a:rPr>
              <a:t>“Ma’lumotim qayerga ketadi?”</a:t>
            </a:r>
          </a:p>
        </p:txBody>
      </p:sp>
      <p:sp>
        <p:nvSpPr>
          <p:cNvPr id="20" name="TextBox 19"/>
          <p:cNvSpPr txBox="1"/>
          <p:nvPr/>
        </p:nvSpPr>
        <p:spPr>
          <a:xfrm>
            <a:off x="4242816" y="4370832"/>
            <a:ext cx="3017520" cy="685800"/>
          </a:xfrm>
          <a:prstGeom prst="rect">
            <a:avLst/>
          </a:prstGeom>
          <a:noFill/>
        </p:spPr>
        <p:txBody>
          <a:bodyPr wrap="square" lIns="0" tIns="0" rIns="0" bIns="0" anchor="ctr">
            <a:spAutoFit/>
          </a:bodyPr>
          <a:lstStyle/>
          <a:p>
            <a:pPr algn="l">
              <a:lnSpc>
                <a:spcPct val="120000"/>
              </a:lnSpc>
            </a:pPr>
            <a:r>
              <a:rPr sz="1150" b="0" i="0">
                <a:solidFill>
                  <a:srgbClr val="5C6B87"/>
                </a:solidFill>
                <a:latin typeface="Calibri"/>
              </a:rPr>
              <a:t>Passport, telefon, karta</a:t>
            </a:r>
          </a:p>
          <a:p>
            <a:pPr algn="l">
              <a:lnSpc>
                <a:spcPct val="120000"/>
              </a:lnSpc>
            </a:pPr>
            <a:r>
              <a:rPr sz="1150" b="0" i="0">
                <a:solidFill>
                  <a:srgbClr val="5C6B87"/>
                </a:solidFill>
                <a:latin typeface="Calibri"/>
              </a:rPr>
              <a:t>to‘g‘ridan-to‘g‘ri chatga tushadi</a:t>
            </a:r>
          </a:p>
        </p:txBody>
      </p:sp>
      <p:sp>
        <p:nvSpPr>
          <p:cNvPr id="21" name="Isosceles Triangle 20"/>
          <p:cNvSpPr/>
          <p:nvPr/>
        </p:nvSpPr>
        <p:spPr>
          <a:xfrm rot="5400000">
            <a:off x="7571231" y="4626864"/>
            <a:ext cx="91440" cy="105155"/>
          </a:xfrm>
          <a:prstGeom prst="triangle">
            <a:avLst/>
          </a:prstGeom>
          <a:solidFill>
            <a:srgbClr val="C8A26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2" name="TextBox 21"/>
          <p:cNvSpPr txBox="1"/>
          <p:nvPr/>
        </p:nvSpPr>
        <p:spPr>
          <a:xfrm>
            <a:off x="7772400" y="4370832"/>
            <a:ext cx="3703320" cy="685800"/>
          </a:xfrm>
          <a:prstGeom prst="rect">
            <a:avLst/>
          </a:prstGeom>
          <a:noFill/>
        </p:spPr>
        <p:txBody>
          <a:bodyPr wrap="square" lIns="0" tIns="0" rIns="0" bIns="0" anchor="ctr">
            <a:spAutoFit/>
          </a:bodyPr>
          <a:lstStyle/>
          <a:p>
            <a:pPr algn="l">
              <a:lnSpc>
                <a:spcPct val="120000"/>
              </a:lnSpc>
            </a:pPr>
            <a:r>
              <a:rPr sz="1150" b="1" i="0">
                <a:solidFill>
                  <a:srgbClr val="FFFFFF"/>
                </a:solidFill>
                <a:latin typeface="Calibri"/>
              </a:rPr>
              <a:t>So‘rov yuborilishidan oldin</a:t>
            </a:r>
          </a:p>
          <a:p>
            <a:pPr algn="l">
              <a:lnSpc>
                <a:spcPct val="120000"/>
              </a:lnSpc>
            </a:pPr>
            <a:r>
              <a:rPr sz="1150" b="1" i="0">
                <a:solidFill>
                  <a:srgbClr val="FFFFFF"/>
                </a:solidFill>
                <a:latin typeface="Calibri"/>
              </a:rPr>
              <a:t>anonimlashtiriladi</a:t>
            </a:r>
          </a:p>
        </p:txBody>
      </p:sp>
      <p:sp>
        <p:nvSpPr>
          <p:cNvPr id="23" name="Rectangle 22"/>
          <p:cNvSpPr/>
          <p:nvPr/>
        </p:nvSpPr>
        <p:spPr>
          <a:xfrm>
            <a:off x="566928" y="5093208"/>
            <a:ext cx="6675120" cy="7315"/>
          </a:xfrm>
          <a:prstGeom prst="rect">
            <a:avLst/>
          </a:prstGeom>
          <a:solidFill>
            <a:srgbClr val="E3E9F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TextBox 23"/>
          <p:cNvSpPr txBox="1"/>
          <p:nvPr/>
        </p:nvSpPr>
        <p:spPr>
          <a:xfrm>
            <a:off x="566928" y="5157216"/>
            <a:ext cx="3310128" cy="685800"/>
          </a:xfrm>
          <a:prstGeom prst="rect">
            <a:avLst/>
          </a:prstGeom>
          <a:noFill/>
        </p:spPr>
        <p:txBody>
          <a:bodyPr wrap="square" lIns="0" tIns="0" rIns="0" bIns="0" anchor="ctr">
            <a:spAutoFit/>
          </a:bodyPr>
          <a:lstStyle/>
          <a:p>
            <a:pPr algn="l">
              <a:lnSpc>
                <a:spcPct val="120000"/>
              </a:lnSpc>
            </a:pPr>
            <a:r>
              <a:rPr sz="1250" b="1" i="0">
                <a:solidFill>
                  <a:srgbClr val="0A1733"/>
                </a:solidFill>
                <a:latin typeface="Cambria"/>
              </a:rPr>
              <a:t>“Keyin nima qilaman?”</a:t>
            </a:r>
          </a:p>
        </p:txBody>
      </p:sp>
      <p:sp>
        <p:nvSpPr>
          <p:cNvPr id="25" name="TextBox 24"/>
          <p:cNvSpPr txBox="1"/>
          <p:nvPr/>
        </p:nvSpPr>
        <p:spPr>
          <a:xfrm>
            <a:off x="4242816" y="5157216"/>
            <a:ext cx="3017520" cy="685800"/>
          </a:xfrm>
          <a:prstGeom prst="rect">
            <a:avLst/>
          </a:prstGeom>
          <a:noFill/>
        </p:spPr>
        <p:txBody>
          <a:bodyPr wrap="square" lIns="0" tIns="0" rIns="0" bIns="0" anchor="ctr">
            <a:spAutoFit/>
          </a:bodyPr>
          <a:lstStyle/>
          <a:p>
            <a:pPr algn="l">
              <a:lnSpc>
                <a:spcPct val="120000"/>
              </a:lnSpc>
            </a:pPr>
            <a:r>
              <a:rPr sz="1150" b="0" i="0">
                <a:solidFill>
                  <a:srgbClr val="5C6B87"/>
                </a:solidFill>
                <a:latin typeface="Calibri"/>
              </a:rPr>
              <a:t>Foydalanuvchi keyingi qadamni</a:t>
            </a:r>
          </a:p>
          <a:p>
            <a:pPr algn="l">
              <a:lnSpc>
                <a:spcPct val="120000"/>
              </a:lnSpc>
            </a:pPr>
            <a:r>
              <a:rPr sz="1150" b="0" i="0">
                <a:solidFill>
                  <a:srgbClr val="5C6B87"/>
                </a:solidFill>
                <a:latin typeface="Calibri"/>
              </a:rPr>
              <a:t>o‘zi topishi kerak</a:t>
            </a:r>
          </a:p>
        </p:txBody>
      </p:sp>
      <p:sp>
        <p:nvSpPr>
          <p:cNvPr id="26" name="Isosceles Triangle 25"/>
          <p:cNvSpPr/>
          <p:nvPr/>
        </p:nvSpPr>
        <p:spPr>
          <a:xfrm rot="5400000">
            <a:off x="7571231" y="5413248"/>
            <a:ext cx="91440" cy="105155"/>
          </a:xfrm>
          <a:prstGeom prst="triangle">
            <a:avLst/>
          </a:prstGeom>
          <a:solidFill>
            <a:srgbClr val="C8A26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7" name="TextBox 26"/>
          <p:cNvSpPr txBox="1"/>
          <p:nvPr/>
        </p:nvSpPr>
        <p:spPr>
          <a:xfrm>
            <a:off x="7772400" y="5157216"/>
            <a:ext cx="3703320" cy="685800"/>
          </a:xfrm>
          <a:prstGeom prst="rect">
            <a:avLst/>
          </a:prstGeom>
          <a:noFill/>
        </p:spPr>
        <p:txBody>
          <a:bodyPr wrap="square" lIns="0" tIns="0" rIns="0" bIns="0" anchor="ctr">
            <a:spAutoFit/>
          </a:bodyPr>
          <a:lstStyle/>
          <a:p>
            <a:pPr algn="l">
              <a:lnSpc>
                <a:spcPct val="120000"/>
              </a:lnSpc>
            </a:pPr>
            <a:r>
              <a:rPr sz="1150" b="1" i="0">
                <a:solidFill>
                  <a:srgbClr val="FFFFFF"/>
                </a:solidFill>
                <a:latin typeface="Calibri"/>
              </a:rPr>
              <a:t>Ariza shakli yoki tasdiqlangan</a:t>
            </a:r>
          </a:p>
          <a:p>
            <a:pPr algn="l">
              <a:lnSpc>
                <a:spcPct val="120000"/>
              </a:lnSpc>
            </a:pPr>
            <a:r>
              <a:rPr sz="1150" b="1" i="0">
                <a:solidFill>
                  <a:srgbClr val="FFFFFF"/>
                </a:solidFill>
                <a:latin typeface="Calibri"/>
              </a:rPr>
              <a:t>advokat sloti</a:t>
            </a:r>
          </a:p>
        </p:txBody>
      </p:sp>
      <p:sp>
        <p:nvSpPr>
          <p:cNvPr id="28" name="TextBox 27"/>
          <p:cNvSpPr txBox="1"/>
          <p:nvPr/>
        </p:nvSpPr>
        <p:spPr>
          <a:xfrm>
            <a:off x="566928" y="6382512"/>
            <a:ext cx="11064240" cy="274320"/>
          </a:xfrm>
          <a:prstGeom prst="rect">
            <a:avLst/>
          </a:prstGeom>
          <a:noFill/>
        </p:spPr>
        <p:txBody>
          <a:bodyPr wrap="square" lIns="0" tIns="0" rIns="0" bIns="0" anchor="t">
            <a:spAutoFit/>
          </a:bodyPr>
          <a:lstStyle/>
          <a:p>
            <a:pPr algn="l">
              <a:lnSpc>
                <a:spcPct val="105000"/>
              </a:lnSpc>
            </a:pPr>
            <a:r>
              <a:rPr sz="950" b="0" i="0">
                <a:solidFill>
                  <a:srgbClr val="5C6B87"/>
                </a:solidFill>
                <a:latin typeface="Calibri"/>
              </a:rPr>
              <a:t>FACT — barcha to‘rtta qator kod bilan tasdiqlangan: legal_grounding_validator.dart · deadlines_guard.dart · pii_anonymizer.dart · book_consultation_page.dart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57200"/>
            <a:ext cx="5486400" cy="274320"/>
          </a:xfrm>
          <a:prstGeom prst="rect">
            <a:avLst/>
          </a:prstGeom>
          <a:noFill/>
        </p:spPr>
        <p:txBody>
          <a:bodyPr wrap="square" lIns="0" tIns="0" rIns="0" bIns="0" anchor="t">
            <a:spAutoFit/>
          </a:bodyPr>
          <a:lstStyle/>
          <a:p>
            <a:pPr algn="l"/>
            <a:r>
              <a:rPr sz="1150" b="1" i="0" spc="190">
                <a:solidFill>
                  <a:srgbClr val="C8A265"/>
                </a:solidFill>
                <a:latin typeface="Calibri"/>
              </a:rPr>
              <a:t>05  ·  MAHSULOT TAJRIBASI</a:t>
            </a:r>
          </a:p>
        </p:txBody>
      </p:sp>
      <p:sp>
        <p:nvSpPr>
          <p:cNvPr id="3" name="TextBox 2"/>
          <p:cNvSpPr txBox="1"/>
          <p:nvPr/>
        </p:nvSpPr>
        <p:spPr>
          <a:xfrm>
            <a:off x="566928" y="841248"/>
            <a:ext cx="10058400" cy="777240"/>
          </a:xfrm>
          <a:prstGeom prst="rect">
            <a:avLst/>
          </a:prstGeom>
          <a:noFill/>
        </p:spPr>
        <p:txBody>
          <a:bodyPr wrap="square" lIns="0" tIns="0" rIns="0" bIns="0" anchor="t">
            <a:spAutoFit/>
          </a:bodyPr>
          <a:lstStyle/>
          <a:p>
            <a:pPr algn="l">
              <a:lnSpc>
                <a:spcPct val="95000"/>
              </a:lnSpc>
            </a:pPr>
            <a:r>
              <a:rPr sz="3800" b="1" i="0">
                <a:solidFill>
                  <a:srgbClr val="0A1733"/>
                </a:solidFill>
                <a:latin typeface="Cambria"/>
              </a:rPr>
              <a:t>Javob emas — tushunarli qaror</a:t>
            </a:r>
          </a:p>
        </p:txBody>
      </p:sp>
      <p:sp>
        <p:nvSpPr>
          <p:cNvPr id="4" name="TextBox 3"/>
          <p:cNvSpPr txBox="1"/>
          <p:nvPr/>
        </p:nvSpPr>
        <p:spPr>
          <a:xfrm>
            <a:off x="566928" y="1554480"/>
            <a:ext cx="10058400" cy="365760"/>
          </a:xfrm>
          <a:prstGeom prst="rect">
            <a:avLst/>
          </a:prstGeom>
          <a:noFill/>
        </p:spPr>
        <p:txBody>
          <a:bodyPr wrap="square" lIns="0" tIns="0" rIns="0" bIns="0" anchor="t">
            <a:spAutoFit/>
          </a:bodyPr>
          <a:lstStyle/>
          <a:p>
            <a:pPr algn="l">
              <a:lnSpc>
                <a:spcPct val="110000"/>
              </a:lnSpc>
            </a:pPr>
            <a:r>
              <a:rPr sz="1550" b="0" i="0">
                <a:solidFill>
                  <a:srgbClr val="5C6B87"/>
                </a:solidFill>
                <a:latin typeface="Calibri"/>
              </a:rPr>
              <a:t>Har bir AI javobi ilovada beshta blok bo‘lib qaytadi.</a:t>
            </a:r>
          </a:p>
        </p:txBody>
      </p:sp>
      <p:sp>
        <p:nvSpPr>
          <p:cNvPr id="5" name="Rounded Rectangle 4"/>
          <p:cNvSpPr/>
          <p:nvPr/>
        </p:nvSpPr>
        <p:spPr>
          <a:xfrm>
            <a:off x="566928" y="2212848"/>
            <a:ext cx="2999232" cy="4023360"/>
          </a:xfrm>
          <a:prstGeom prst="roundRect">
            <a:avLst>
              <a:gd name="adj" fmla="val 6000"/>
            </a:avLst>
          </a:prstGeom>
          <a:solidFill>
            <a:srgbClr val="0A1733"/>
          </a:solidFill>
          <a:ln>
            <a:noFill/>
          </a:ln>
          <a:effectLst>
            <a:outerShdw blurRad="177800" dist="63500" dir="5400000" rotWithShape="0">
              <a:srgbClr val="0A1733">
                <a:alpha val="14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786384" y="2359152"/>
            <a:ext cx="2560320" cy="228600"/>
          </a:xfrm>
          <a:prstGeom prst="rect">
            <a:avLst/>
          </a:prstGeom>
          <a:noFill/>
        </p:spPr>
        <p:txBody>
          <a:bodyPr wrap="square" lIns="0" tIns="0" rIns="0" bIns="0" anchor="t">
            <a:spAutoFit/>
          </a:bodyPr>
          <a:lstStyle/>
          <a:p>
            <a:pPr algn="l"/>
            <a:r>
              <a:rPr sz="850" b="1" i="0" spc="160">
                <a:solidFill>
                  <a:srgbClr val="C8A265"/>
                </a:solidFill>
                <a:latin typeface="Calibri"/>
              </a:rPr>
              <a:t>LEXHUB AI</a:t>
            </a:r>
          </a:p>
        </p:txBody>
      </p:sp>
      <p:sp>
        <p:nvSpPr>
          <p:cNvPr id="7" name="Rounded Rectangle 6"/>
          <p:cNvSpPr/>
          <p:nvPr/>
        </p:nvSpPr>
        <p:spPr>
          <a:xfrm>
            <a:off x="749808" y="2670048"/>
            <a:ext cx="2633472" cy="530352"/>
          </a:xfrm>
          <a:prstGeom prst="roundRect">
            <a:avLst>
              <a:gd name="adj" fmla="val 9000"/>
            </a:avLst>
          </a:prstGeom>
          <a:solidFill>
            <a:srgbClr val="13244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896112" y="2715768"/>
            <a:ext cx="2377440" cy="219456"/>
          </a:xfrm>
          <a:prstGeom prst="rect">
            <a:avLst/>
          </a:prstGeom>
          <a:noFill/>
        </p:spPr>
        <p:txBody>
          <a:bodyPr wrap="square" lIns="0" tIns="0" rIns="0" bIns="0" anchor="t">
            <a:spAutoFit/>
          </a:bodyPr>
          <a:lstStyle/>
          <a:p>
            <a:pPr algn="l"/>
            <a:r>
              <a:rPr sz="1050" b="1" i="0">
                <a:solidFill>
                  <a:srgbClr val="FFFFFF"/>
                </a:solidFill>
                <a:latin typeface="Calibri"/>
              </a:rPr>
              <a:t>Vaziyat xulosasi</a:t>
            </a:r>
          </a:p>
        </p:txBody>
      </p:sp>
      <p:sp>
        <p:nvSpPr>
          <p:cNvPr id="9" name="TextBox 8"/>
          <p:cNvSpPr txBox="1"/>
          <p:nvPr/>
        </p:nvSpPr>
        <p:spPr>
          <a:xfrm>
            <a:off x="896112" y="2926080"/>
            <a:ext cx="2377440" cy="219456"/>
          </a:xfrm>
          <a:prstGeom prst="rect">
            <a:avLst/>
          </a:prstGeom>
          <a:noFill/>
        </p:spPr>
        <p:txBody>
          <a:bodyPr wrap="square" lIns="0" tIns="0" rIns="0" bIns="0" anchor="t">
            <a:spAutoFit/>
          </a:bodyPr>
          <a:lstStyle/>
          <a:p>
            <a:pPr algn="l"/>
            <a:r>
              <a:rPr sz="900" b="0" i="0">
                <a:solidFill>
                  <a:srgbClr val="9FB0CE"/>
                </a:solidFill>
                <a:latin typeface="Calibri"/>
              </a:rPr>
              <a:t>Sizning holatingiz qisqacha</a:t>
            </a:r>
          </a:p>
        </p:txBody>
      </p:sp>
      <p:sp>
        <p:nvSpPr>
          <p:cNvPr id="10" name="Rounded Rectangle 9"/>
          <p:cNvSpPr/>
          <p:nvPr/>
        </p:nvSpPr>
        <p:spPr>
          <a:xfrm>
            <a:off x="749808" y="3268980"/>
            <a:ext cx="2633472" cy="530352"/>
          </a:xfrm>
          <a:prstGeom prst="roundRect">
            <a:avLst>
              <a:gd name="adj" fmla="val 9000"/>
            </a:avLst>
          </a:prstGeom>
          <a:solidFill>
            <a:srgbClr val="13244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896112" y="3314700"/>
            <a:ext cx="2377440" cy="219456"/>
          </a:xfrm>
          <a:prstGeom prst="rect">
            <a:avLst/>
          </a:prstGeom>
          <a:noFill/>
        </p:spPr>
        <p:txBody>
          <a:bodyPr wrap="square" lIns="0" tIns="0" rIns="0" bIns="0" anchor="t">
            <a:spAutoFit/>
          </a:bodyPr>
          <a:lstStyle/>
          <a:p>
            <a:pPr algn="l"/>
            <a:r>
              <a:rPr sz="1050" b="1" i="0">
                <a:solidFill>
                  <a:srgbClr val="FFFFFF"/>
                </a:solidFill>
                <a:latin typeface="Calibri"/>
              </a:rPr>
              <a:t>Aniqlashtiruvchi savol</a:t>
            </a:r>
          </a:p>
        </p:txBody>
      </p:sp>
      <p:sp>
        <p:nvSpPr>
          <p:cNvPr id="12" name="TextBox 11"/>
          <p:cNvSpPr txBox="1"/>
          <p:nvPr/>
        </p:nvSpPr>
        <p:spPr>
          <a:xfrm>
            <a:off x="896112" y="3525012"/>
            <a:ext cx="2377440" cy="219456"/>
          </a:xfrm>
          <a:prstGeom prst="rect">
            <a:avLst/>
          </a:prstGeom>
          <a:noFill/>
        </p:spPr>
        <p:txBody>
          <a:bodyPr wrap="square" lIns="0" tIns="0" rIns="0" bIns="0" anchor="t">
            <a:spAutoFit/>
          </a:bodyPr>
          <a:lstStyle/>
          <a:p>
            <a:pPr algn="l"/>
            <a:r>
              <a:rPr sz="900" b="0" i="0">
                <a:solidFill>
                  <a:srgbClr val="9FB0CE"/>
                </a:solidFill>
                <a:latin typeface="Calibri"/>
              </a:rPr>
              <a:t>Bitta savol — aniqlik uchun</a:t>
            </a:r>
          </a:p>
        </p:txBody>
      </p:sp>
      <p:sp>
        <p:nvSpPr>
          <p:cNvPr id="13" name="Rounded Rectangle 12"/>
          <p:cNvSpPr/>
          <p:nvPr/>
        </p:nvSpPr>
        <p:spPr>
          <a:xfrm>
            <a:off x="749808" y="3867912"/>
            <a:ext cx="2633472" cy="530352"/>
          </a:xfrm>
          <a:prstGeom prst="roundRect">
            <a:avLst>
              <a:gd name="adj" fmla="val 9000"/>
            </a:avLst>
          </a:prstGeom>
          <a:solidFill>
            <a:srgbClr val="13244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TextBox 13"/>
          <p:cNvSpPr txBox="1"/>
          <p:nvPr/>
        </p:nvSpPr>
        <p:spPr>
          <a:xfrm>
            <a:off x="896112" y="3913632"/>
            <a:ext cx="2377440" cy="219456"/>
          </a:xfrm>
          <a:prstGeom prst="rect">
            <a:avLst/>
          </a:prstGeom>
          <a:noFill/>
        </p:spPr>
        <p:txBody>
          <a:bodyPr wrap="square" lIns="0" tIns="0" rIns="0" bIns="0" anchor="t">
            <a:spAutoFit/>
          </a:bodyPr>
          <a:lstStyle/>
          <a:p>
            <a:pPr algn="l"/>
            <a:r>
              <a:rPr sz="1050" b="1" i="0">
                <a:solidFill>
                  <a:srgbClr val="FFFFFF"/>
                </a:solidFill>
                <a:latin typeface="Calibri"/>
              </a:rPr>
              <a:t>Qadamlar</a:t>
            </a:r>
          </a:p>
        </p:txBody>
      </p:sp>
      <p:sp>
        <p:nvSpPr>
          <p:cNvPr id="15" name="TextBox 14"/>
          <p:cNvSpPr txBox="1"/>
          <p:nvPr/>
        </p:nvSpPr>
        <p:spPr>
          <a:xfrm>
            <a:off x="896112" y="4123944"/>
            <a:ext cx="2377440" cy="219456"/>
          </a:xfrm>
          <a:prstGeom prst="rect">
            <a:avLst/>
          </a:prstGeom>
          <a:noFill/>
        </p:spPr>
        <p:txBody>
          <a:bodyPr wrap="square" lIns="0" tIns="0" rIns="0" bIns="0" anchor="t">
            <a:spAutoFit/>
          </a:bodyPr>
          <a:lstStyle/>
          <a:p>
            <a:pPr algn="l"/>
            <a:r>
              <a:rPr sz="900" b="0" i="0">
                <a:solidFill>
                  <a:srgbClr val="9FB0CE"/>
                </a:solidFill>
                <a:latin typeface="Calibri"/>
              </a:rPr>
              <a:t>1 → 2 → 3, muddat bilan</a:t>
            </a:r>
          </a:p>
        </p:txBody>
      </p:sp>
      <p:sp>
        <p:nvSpPr>
          <p:cNvPr id="16" name="Rounded Rectangle 15"/>
          <p:cNvSpPr/>
          <p:nvPr/>
        </p:nvSpPr>
        <p:spPr>
          <a:xfrm>
            <a:off x="749808" y="4466844"/>
            <a:ext cx="2633472" cy="530352"/>
          </a:xfrm>
          <a:prstGeom prst="roundRect">
            <a:avLst>
              <a:gd name="adj" fmla="val 9000"/>
            </a:avLst>
          </a:prstGeom>
          <a:solidFill>
            <a:srgbClr val="13244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896112" y="4512564"/>
            <a:ext cx="2377440" cy="219456"/>
          </a:xfrm>
          <a:prstGeom prst="rect">
            <a:avLst/>
          </a:prstGeom>
          <a:noFill/>
        </p:spPr>
        <p:txBody>
          <a:bodyPr wrap="square" lIns="0" tIns="0" rIns="0" bIns="0" anchor="t">
            <a:spAutoFit/>
          </a:bodyPr>
          <a:lstStyle/>
          <a:p>
            <a:pPr algn="l"/>
            <a:r>
              <a:rPr sz="1050" b="1" i="0">
                <a:solidFill>
                  <a:srgbClr val="FFFFFF"/>
                </a:solidFill>
                <a:latin typeface="Calibri"/>
              </a:rPr>
              <a:t>Huquqiy asos</a:t>
            </a:r>
          </a:p>
        </p:txBody>
      </p:sp>
      <p:sp>
        <p:nvSpPr>
          <p:cNvPr id="18" name="TextBox 17"/>
          <p:cNvSpPr txBox="1"/>
          <p:nvPr/>
        </p:nvSpPr>
        <p:spPr>
          <a:xfrm>
            <a:off x="896112" y="4722876"/>
            <a:ext cx="2377440" cy="219456"/>
          </a:xfrm>
          <a:prstGeom prst="rect">
            <a:avLst/>
          </a:prstGeom>
          <a:noFill/>
        </p:spPr>
        <p:txBody>
          <a:bodyPr wrap="square" lIns="0" tIns="0" rIns="0" bIns="0" anchor="t">
            <a:spAutoFit/>
          </a:bodyPr>
          <a:lstStyle/>
          <a:p>
            <a:pPr algn="l"/>
            <a:r>
              <a:rPr sz="900" b="0" i="0">
                <a:solidFill>
                  <a:srgbClr val="9FB0CE"/>
                </a:solidFill>
                <a:latin typeface="Calibri"/>
              </a:rPr>
              <a:t>Modda va manba</a:t>
            </a:r>
          </a:p>
        </p:txBody>
      </p:sp>
      <p:sp>
        <p:nvSpPr>
          <p:cNvPr id="19" name="Rounded Rectangle 18"/>
          <p:cNvSpPr/>
          <p:nvPr/>
        </p:nvSpPr>
        <p:spPr>
          <a:xfrm>
            <a:off x="749808" y="5065776"/>
            <a:ext cx="2633472" cy="530352"/>
          </a:xfrm>
          <a:prstGeom prst="roundRect">
            <a:avLst>
              <a:gd name="adj" fmla="val 9000"/>
            </a:avLst>
          </a:prstGeom>
          <a:solidFill>
            <a:srgbClr val="13244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TextBox 19"/>
          <p:cNvSpPr txBox="1"/>
          <p:nvPr/>
        </p:nvSpPr>
        <p:spPr>
          <a:xfrm>
            <a:off x="896112" y="5111496"/>
            <a:ext cx="2377440" cy="219456"/>
          </a:xfrm>
          <a:prstGeom prst="rect">
            <a:avLst/>
          </a:prstGeom>
          <a:noFill/>
        </p:spPr>
        <p:txBody>
          <a:bodyPr wrap="square" lIns="0" tIns="0" rIns="0" bIns="0" anchor="t">
            <a:spAutoFit/>
          </a:bodyPr>
          <a:lstStyle/>
          <a:p>
            <a:pPr algn="l"/>
            <a:r>
              <a:rPr sz="1050" b="1" i="0">
                <a:solidFill>
                  <a:srgbClr val="FFFFFF"/>
                </a:solidFill>
                <a:latin typeface="Calibri"/>
              </a:rPr>
              <a:t>Risk darajasi</a:t>
            </a:r>
          </a:p>
        </p:txBody>
      </p:sp>
      <p:sp>
        <p:nvSpPr>
          <p:cNvPr id="21" name="TextBox 20"/>
          <p:cNvSpPr txBox="1"/>
          <p:nvPr/>
        </p:nvSpPr>
        <p:spPr>
          <a:xfrm>
            <a:off x="896112" y="5321808"/>
            <a:ext cx="2377440" cy="219456"/>
          </a:xfrm>
          <a:prstGeom prst="rect">
            <a:avLst/>
          </a:prstGeom>
          <a:noFill/>
        </p:spPr>
        <p:txBody>
          <a:bodyPr wrap="square" lIns="0" tIns="0" rIns="0" bIns="0" anchor="t">
            <a:spAutoFit/>
          </a:bodyPr>
          <a:lstStyle/>
          <a:p>
            <a:pPr algn="l"/>
            <a:r>
              <a:rPr sz="900" b="0" i="0">
                <a:solidFill>
                  <a:srgbClr val="9FB0CE"/>
                </a:solidFill>
                <a:latin typeface="Calibri"/>
              </a:rPr>
              <a:t>Past / O‘rta / Yuqori</a:t>
            </a:r>
          </a:p>
        </p:txBody>
      </p:sp>
      <p:sp>
        <p:nvSpPr>
          <p:cNvPr id="22" name="Rounded Rectangle 21"/>
          <p:cNvSpPr/>
          <p:nvPr/>
        </p:nvSpPr>
        <p:spPr>
          <a:xfrm>
            <a:off x="749808" y="5687568"/>
            <a:ext cx="2633472" cy="384048"/>
          </a:xfrm>
          <a:prstGeom prst="roundRect">
            <a:avLst>
              <a:gd name="adj" fmla="val 20000"/>
            </a:avLst>
          </a:prstGeom>
          <a:solidFill>
            <a:srgbClr val="C8A26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 name="TextBox 22"/>
          <p:cNvSpPr txBox="1"/>
          <p:nvPr/>
        </p:nvSpPr>
        <p:spPr>
          <a:xfrm>
            <a:off x="749808" y="5696712"/>
            <a:ext cx="2633472" cy="365760"/>
          </a:xfrm>
          <a:prstGeom prst="rect">
            <a:avLst/>
          </a:prstGeom>
          <a:noFill/>
        </p:spPr>
        <p:txBody>
          <a:bodyPr wrap="square" lIns="0" tIns="0" rIns="0" bIns="0" anchor="ctr">
            <a:spAutoFit/>
          </a:bodyPr>
          <a:lstStyle/>
          <a:p>
            <a:pPr algn="ctr"/>
            <a:r>
              <a:rPr sz="1050" b="1" i="0">
                <a:solidFill>
                  <a:srgbClr val="0A1733"/>
                </a:solidFill>
                <a:latin typeface="Calibri"/>
              </a:rPr>
              <a:t>Ariza shakllantirish</a:t>
            </a:r>
          </a:p>
        </p:txBody>
      </p:sp>
      <p:sp>
        <p:nvSpPr>
          <p:cNvPr id="24" name="Oval 23"/>
          <p:cNvSpPr/>
          <p:nvPr/>
        </p:nvSpPr>
        <p:spPr>
          <a:xfrm>
            <a:off x="4041648" y="2267712"/>
            <a:ext cx="310896" cy="310896"/>
          </a:xfrm>
          <a:prstGeom prst="ellipse">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TextBox 24"/>
          <p:cNvSpPr txBox="1"/>
          <p:nvPr/>
        </p:nvSpPr>
        <p:spPr>
          <a:xfrm>
            <a:off x="4041648" y="2272284"/>
            <a:ext cx="310896" cy="301752"/>
          </a:xfrm>
          <a:prstGeom prst="rect">
            <a:avLst/>
          </a:prstGeom>
          <a:noFill/>
        </p:spPr>
        <p:txBody>
          <a:bodyPr wrap="square" lIns="0" tIns="0" rIns="0" bIns="0" anchor="ctr">
            <a:spAutoFit/>
          </a:bodyPr>
          <a:lstStyle/>
          <a:p>
            <a:pPr algn="ctr"/>
            <a:r>
              <a:rPr sz="1100" b="1" i="0">
                <a:solidFill>
                  <a:srgbClr val="1F6FEB"/>
                </a:solidFill>
                <a:latin typeface="Calibri"/>
              </a:rPr>
              <a:t>1</a:t>
            </a:r>
          </a:p>
        </p:txBody>
      </p:sp>
      <p:sp>
        <p:nvSpPr>
          <p:cNvPr id="26" name="TextBox 25"/>
          <p:cNvSpPr txBox="1"/>
          <p:nvPr/>
        </p:nvSpPr>
        <p:spPr>
          <a:xfrm>
            <a:off x="4526280" y="2231136"/>
            <a:ext cx="6949440" cy="329184"/>
          </a:xfrm>
          <a:prstGeom prst="rect">
            <a:avLst/>
          </a:prstGeom>
          <a:noFill/>
        </p:spPr>
        <p:txBody>
          <a:bodyPr wrap="square" lIns="0" tIns="0" rIns="0" bIns="0" anchor="t">
            <a:spAutoFit/>
          </a:bodyPr>
          <a:lstStyle/>
          <a:p>
            <a:pPr algn="l"/>
            <a:r>
              <a:rPr sz="1700" b="1" i="0">
                <a:solidFill>
                  <a:srgbClr val="0A1733"/>
                </a:solidFill>
                <a:latin typeface="Cambria"/>
              </a:rPr>
              <a:t>Fuqaro</a:t>
            </a:r>
          </a:p>
        </p:txBody>
      </p:sp>
      <p:sp>
        <p:nvSpPr>
          <p:cNvPr id="27" name="TextBox 26"/>
          <p:cNvSpPr txBox="1"/>
          <p:nvPr/>
        </p:nvSpPr>
        <p:spPr>
          <a:xfrm>
            <a:off x="4526280" y="2578608"/>
            <a:ext cx="6903720" cy="457200"/>
          </a:xfrm>
          <a:prstGeom prst="rect">
            <a:avLst/>
          </a:prstGeom>
          <a:noFill/>
        </p:spPr>
        <p:txBody>
          <a:bodyPr wrap="square" lIns="0" tIns="0" rIns="0" bIns="0" anchor="t">
            <a:spAutoFit/>
          </a:bodyPr>
          <a:lstStyle/>
          <a:p>
            <a:pPr algn="l">
              <a:lnSpc>
                <a:spcPct val="124000"/>
              </a:lnSpc>
            </a:pPr>
            <a:r>
              <a:rPr sz="1300" b="0" i="0">
                <a:solidFill>
                  <a:srgbClr val="5C6B87"/>
                </a:solidFill>
                <a:latin typeface="Calibri"/>
              </a:rPr>
              <a:t>Muammoni o‘z tilida yozadi — ro‘yxatdan o‘tmasdan ham ko‘radi</a:t>
            </a:r>
          </a:p>
        </p:txBody>
      </p:sp>
      <p:sp>
        <p:nvSpPr>
          <p:cNvPr id="28" name="Oval 27"/>
          <p:cNvSpPr/>
          <p:nvPr/>
        </p:nvSpPr>
        <p:spPr>
          <a:xfrm>
            <a:off x="4041648" y="3127248"/>
            <a:ext cx="310896" cy="310896"/>
          </a:xfrm>
          <a:prstGeom prst="ellipse">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9" name="TextBox 28"/>
          <p:cNvSpPr txBox="1"/>
          <p:nvPr/>
        </p:nvSpPr>
        <p:spPr>
          <a:xfrm>
            <a:off x="4041648" y="3131820"/>
            <a:ext cx="310896" cy="301752"/>
          </a:xfrm>
          <a:prstGeom prst="rect">
            <a:avLst/>
          </a:prstGeom>
          <a:noFill/>
        </p:spPr>
        <p:txBody>
          <a:bodyPr wrap="square" lIns="0" tIns="0" rIns="0" bIns="0" anchor="ctr">
            <a:spAutoFit/>
          </a:bodyPr>
          <a:lstStyle/>
          <a:p>
            <a:pPr algn="ctr"/>
            <a:r>
              <a:rPr sz="1100" b="1" i="0">
                <a:solidFill>
                  <a:srgbClr val="1F6FEB"/>
                </a:solidFill>
                <a:latin typeface="Calibri"/>
              </a:rPr>
              <a:t>2</a:t>
            </a:r>
          </a:p>
        </p:txBody>
      </p:sp>
      <p:sp>
        <p:nvSpPr>
          <p:cNvPr id="30" name="TextBox 29"/>
          <p:cNvSpPr txBox="1"/>
          <p:nvPr/>
        </p:nvSpPr>
        <p:spPr>
          <a:xfrm>
            <a:off x="4526280" y="3090672"/>
            <a:ext cx="6949440" cy="329184"/>
          </a:xfrm>
          <a:prstGeom prst="rect">
            <a:avLst/>
          </a:prstGeom>
          <a:noFill/>
        </p:spPr>
        <p:txBody>
          <a:bodyPr wrap="square" lIns="0" tIns="0" rIns="0" bIns="0" anchor="t">
            <a:spAutoFit/>
          </a:bodyPr>
          <a:lstStyle/>
          <a:p>
            <a:pPr algn="l"/>
            <a:r>
              <a:rPr sz="1700" b="1" i="0">
                <a:solidFill>
                  <a:srgbClr val="0A1733"/>
                </a:solidFill>
                <a:latin typeface="Cambria"/>
              </a:rPr>
              <a:t>Ilova</a:t>
            </a:r>
          </a:p>
        </p:txBody>
      </p:sp>
      <p:sp>
        <p:nvSpPr>
          <p:cNvPr id="31" name="TextBox 30"/>
          <p:cNvSpPr txBox="1"/>
          <p:nvPr/>
        </p:nvSpPr>
        <p:spPr>
          <a:xfrm>
            <a:off x="4526280" y="3438144"/>
            <a:ext cx="6903720" cy="457200"/>
          </a:xfrm>
          <a:prstGeom prst="rect">
            <a:avLst/>
          </a:prstGeom>
          <a:noFill/>
        </p:spPr>
        <p:txBody>
          <a:bodyPr wrap="square" lIns="0" tIns="0" rIns="0" bIns="0" anchor="t">
            <a:spAutoFit/>
          </a:bodyPr>
          <a:lstStyle/>
          <a:p>
            <a:pPr algn="l">
              <a:lnSpc>
                <a:spcPct val="124000"/>
              </a:lnSpc>
            </a:pPr>
            <a:r>
              <a:rPr sz="1300" b="0" i="0">
                <a:solidFill>
                  <a:srgbClr val="5C6B87"/>
                </a:solidFill>
                <a:latin typeface="Calibri"/>
              </a:rPr>
              <a:t>5 blokli javob + majburiy ogohlantirish: bu maslahat, hukm emas</a:t>
            </a:r>
          </a:p>
        </p:txBody>
      </p:sp>
      <p:sp>
        <p:nvSpPr>
          <p:cNvPr id="32" name="Oval 31"/>
          <p:cNvSpPr/>
          <p:nvPr/>
        </p:nvSpPr>
        <p:spPr>
          <a:xfrm>
            <a:off x="4041648" y="3986784"/>
            <a:ext cx="310896" cy="310896"/>
          </a:xfrm>
          <a:prstGeom prst="ellipse">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3" name="TextBox 32"/>
          <p:cNvSpPr txBox="1"/>
          <p:nvPr/>
        </p:nvSpPr>
        <p:spPr>
          <a:xfrm>
            <a:off x="4041648" y="3991356"/>
            <a:ext cx="310896" cy="301752"/>
          </a:xfrm>
          <a:prstGeom prst="rect">
            <a:avLst/>
          </a:prstGeom>
          <a:noFill/>
        </p:spPr>
        <p:txBody>
          <a:bodyPr wrap="square" lIns="0" tIns="0" rIns="0" bIns="0" anchor="ctr">
            <a:spAutoFit/>
          </a:bodyPr>
          <a:lstStyle/>
          <a:p>
            <a:pPr algn="ctr"/>
            <a:r>
              <a:rPr sz="1100" b="1" i="0">
                <a:solidFill>
                  <a:srgbClr val="1F6FEB"/>
                </a:solidFill>
                <a:latin typeface="Calibri"/>
              </a:rPr>
              <a:t>3</a:t>
            </a:r>
          </a:p>
        </p:txBody>
      </p:sp>
      <p:sp>
        <p:nvSpPr>
          <p:cNvPr id="34" name="TextBox 33"/>
          <p:cNvSpPr txBox="1"/>
          <p:nvPr/>
        </p:nvSpPr>
        <p:spPr>
          <a:xfrm>
            <a:off x="4526280" y="3950208"/>
            <a:ext cx="6949440" cy="329184"/>
          </a:xfrm>
          <a:prstGeom prst="rect">
            <a:avLst/>
          </a:prstGeom>
          <a:noFill/>
        </p:spPr>
        <p:txBody>
          <a:bodyPr wrap="square" lIns="0" tIns="0" rIns="0" bIns="0" anchor="t">
            <a:spAutoFit/>
          </a:bodyPr>
          <a:lstStyle/>
          <a:p>
            <a:pPr algn="l"/>
            <a:r>
              <a:rPr sz="1700" b="1" i="0">
                <a:solidFill>
                  <a:srgbClr val="0A1733"/>
                </a:solidFill>
                <a:latin typeface="Cambria"/>
              </a:rPr>
              <a:t>Hamjamiyat</a:t>
            </a:r>
          </a:p>
        </p:txBody>
      </p:sp>
      <p:sp>
        <p:nvSpPr>
          <p:cNvPr id="35" name="TextBox 34"/>
          <p:cNvSpPr txBox="1"/>
          <p:nvPr/>
        </p:nvSpPr>
        <p:spPr>
          <a:xfrm>
            <a:off x="4526280" y="4297680"/>
            <a:ext cx="6903720" cy="457200"/>
          </a:xfrm>
          <a:prstGeom prst="rect">
            <a:avLst/>
          </a:prstGeom>
          <a:noFill/>
        </p:spPr>
        <p:txBody>
          <a:bodyPr wrap="square" lIns="0" tIns="0" rIns="0" bIns="0" anchor="t">
            <a:spAutoFit/>
          </a:bodyPr>
          <a:lstStyle/>
          <a:p>
            <a:pPr algn="l">
              <a:lnSpc>
                <a:spcPct val="124000"/>
              </a:lnSpc>
            </a:pPr>
            <a:r>
              <a:rPr sz="1300" b="0" i="0">
                <a:solidFill>
                  <a:srgbClr val="5C6B87"/>
                </a:solidFill>
                <a:latin typeface="Calibri"/>
              </a:rPr>
              <a:t>Savolni anonim berish mumkin; javob bergan advokat server tomonda tasdiqlanadi</a:t>
            </a:r>
          </a:p>
        </p:txBody>
      </p:sp>
      <p:sp>
        <p:nvSpPr>
          <p:cNvPr id="36" name="Oval 35"/>
          <p:cNvSpPr/>
          <p:nvPr/>
        </p:nvSpPr>
        <p:spPr>
          <a:xfrm>
            <a:off x="4041648" y="4846320"/>
            <a:ext cx="310896" cy="310896"/>
          </a:xfrm>
          <a:prstGeom prst="ellipse">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7" name="TextBox 36"/>
          <p:cNvSpPr txBox="1"/>
          <p:nvPr/>
        </p:nvSpPr>
        <p:spPr>
          <a:xfrm>
            <a:off x="4041648" y="4850892"/>
            <a:ext cx="310896" cy="301752"/>
          </a:xfrm>
          <a:prstGeom prst="rect">
            <a:avLst/>
          </a:prstGeom>
          <a:noFill/>
        </p:spPr>
        <p:txBody>
          <a:bodyPr wrap="square" lIns="0" tIns="0" rIns="0" bIns="0" anchor="ctr">
            <a:spAutoFit/>
          </a:bodyPr>
          <a:lstStyle/>
          <a:p>
            <a:pPr algn="ctr"/>
            <a:r>
              <a:rPr sz="1100" b="1" i="0">
                <a:solidFill>
                  <a:srgbClr val="1F6FEB"/>
                </a:solidFill>
                <a:latin typeface="Calibri"/>
              </a:rPr>
              <a:t>4</a:t>
            </a:r>
          </a:p>
        </p:txBody>
      </p:sp>
      <p:sp>
        <p:nvSpPr>
          <p:cNvPr id="38" name="TextBox 37"/>
          <p:cNvSpPr txBox="1"/>
          <p:nvPr/>
        </p:nvSpPr>
        <p:spPr>
          <a:xfrm>
            <a:off x="4526280" y="4809744"/>
            <a:ext cx="6949440" cy="329184"/>
          </a:xfrm>
          <a:prstGeom prst="rect">
            <a:avLst/>
          </a:prstGeom>
          <a:noFill/>
        </p:spPr>
        <p:txBody>
          <a:bodyPr wrap="square" lIns="0" tIns="0" rIns="0" bIns="0" anchor="t">
            <a:spAutoFit/>
          </a:bodyPr>
          <a:lstStyle/>
          <a:p>
            <a:pPr algn="l"/>
            <a:r>
              <a:rPr sz="1700" b="1" i="0">
                <a:solidFill>
                  <a:srgbClr val="0A1733"/>
                </a:solidFill>
                <a:latin typeface="Cambria"/>
              </a:rPr>
              <a:t>Advokat</a:t>
            </a:r>
          </a:p>
        </p:txBody>
      </p:sp>
      <p:sp>
        <p:nvSpPr>
          <p:cNvPr id="39" name="TextBox 38"/>
          <p:cNvSpPr txBox="1"/>
          <p:nvPr/>
        </p:nvSpPr>
        <p:spPr>
          <a:xfrm>
            <a:off x="4526280" y="5157216"/>
            <a:ext cx="6903720" cy="457200"/>
          </a:xfrm>
          <a:prstGeom prst="rect">
            <a:avLst/>
          </a:prstGeom>
          <a:noFill/>
        </p:spPr>
        <p:txBody>
          <a:bodyPr wrap="square" lIns="0" tIns="0" rIns="0" bIns="0" anchor="t">
            <a:spAutoFit/>
          </a:bodyPr>
          <a:lstStyle/>
          <a:p>
            <a:pPr algn="l">
              <a:lnSpc>
                <a:spcPct val="124000"/>
              </a:lnSpc>
            </a:pPr>
            <a:r>
              <a:rPr sz="1300" b="0" i="0">
                <a:solidFill>
                  <a:srgbClr val="5C6B87"/>
                </a:solidFill>
                <a:latin typeface="Calibri"/>
              </a:rPr>
              <a:t>45 daqiqalik slot band qilinadi — onlayn, telefon yoki ofisda</a:t>
            </a:r>
          </a:p>
        </p:txBody>
      </p:sp>
      <p:sp>
        <p:nvSpPr>
          <p:cNvPr id="40" name="Rounded Rectangle 39"/>
          <p:cNvSpPr/>
          <p:nvPr/>
        </p:nvSpPr>
        <p:spPr>
          <a:xfrm>
            <a:off x="4041648" y="5687568"/>
            <a:ext cx="7571231" cy="530352"/>
          </a:xfrm>
          <a:prstGeom prst="roundRect">
            <a:avLst>
              <a:gd name="adj" fmla="val 9000"/>
            </a:avLst>
          </a:prstGeom>
          <a:solidFill>
            <a:srgbClr val="F1F4FA"/>
          </a:solidFill>
          <a:ln>
            <a:noFill/>
          </a:ln>
          <a:effectLst>
            <a:outerShdw blurRad="177800" dist="63500" dir="5400000" rotWithShape="0">
              <a:srgbClr val="0A1733">
                <a:alpha val="14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1" name="TextBox 40"/>
          <p:cNvSpPr txBox="1"/>
          <p:nvPr/>
        </p:nvSpPr>
        <p:spPr>
          <a:xfrm>
            <a:off x="4279392" y="5705856"/>
            <a:ext cx="7223760" cy="493776"/>
          </a:xfrm>
          <a:prstGeom prst="rect">
            <a:avLst/>
          </a:prstGeom>
          <a:noFill/>
        </p:spPr>
        <p:txBody>
          <a:bodyPr wrap="square" lIns="0" tIns="0" rIns="0" bIns="0" anchor="ctr">
            <a:spAutoFit/>
          </a:bodyPr>
          <a:lstStyle/>
          <a:p>
            <a:pPr algn="l">
              <a:lnSpc>
                <a:spcPct val="120000"/>
              </a:lnSpc>
            </a:pPr>
            <a:r>
              <a:rPr sz="1200" b="1" i="0">
                <a:solidFill>
                  <a:srgbClr val="0A1733"/>
                </a:solidFill>
                <a:latin typeface="Calibri"/>
              </a:rPr>
              <a:t>Guest rejimi: ro‘yxatdan o‘tmasdan ko‘rish mumkin — birinchi qadamdagi to‘siq olib tashlangan.</a:t>
            </a:r>
          </a:p>
        </p:txBody>
      </p:sp>
      <p:sp>
        <p:nvSpPr>
          <p:cNvPr id="42" name="TextBox 41"/>
          <p:cNvSpPr txBox="1"/>
          <p:nvPr/>
        </p:nvSpPr>
        <p:spPr>
          <a:xfrm>
            <a:off x="566928" y="6382512"/>
            <a:ext cx="11064240" cy="274320"/>
          </a:xfrm>
          <a:prstGeom prst="rect">
            <a:avLst/>
          </a:prstGeom>
          <a:noFill/>
        </p:spPr>
        <p:txBody>
          <a:bodyPr wrap="square" lIns="0" tIns="0" rIns="0" bIns="0" anchor="t">
            <a:spAutoFit/>
          </a:bodyPr>
          <a:lstStyle/>
          <a:p>
            <a:pPr algn="l">
              <a:lnSpc>
                <a:spcPct val="105000"/>
              </a:lnSpc>
            </a:pPr>
            <a:r>
              <a:rPr sz="950" b="0" i="0">
                <a:solidFill>
                  <a:srgbClr val="5C6B87"/>
                </a:solidFill>
                <a:latin typeface="Calibri"/>
              </a:rPr>
              <a:t>Chapdagi tasvir — sxematik. Bloklar ilovadagi real javob strukturasi: legal_assistant_page.dart:387-413  ·  FACT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57200"/>
            <a:ext cx="5486400" cy="274320"/>
          </a:xfrm>
          <a:prstGeom prst="rect">
            <a:avLst/>
          </a:prstGeom>
          <a:noFill/>
        </p:spPr>
        <p:txBody>
          <a:bodyPr wrap="square" lIns="0" tIns="0" rIns="0" bIns="0" anchor="t">
            <a:spAutoFit/>
          </a:bodyPr>
          <a:lstStyle/>
          <a:p>
            <a:pPr algn="l"/>
            <a:r>
              <a:rPr sz="1150" b="1" i="0" spc="190">
                <a:solidFill>
                  <a:srgbClr val="C8A265"/>
                </a:solidFill>
                <a:latin typeface="Calibri"/>
              </a:rPr>
              <a:t>06  ·  BOZOR VA BIZNES MODEL</a:t>
            </a:r>
          </a:p>
        </p:txBody>
      </p:sp>
      <p:sp>
        <p:nvSpPr>
          <p:cNvPr id="3" name="TextBox 2"/>
          <p:cNvSpPr txBox="1"/>
          <p:nvPr/>
        </p:nvSpPr>
        <p:spPr>
          <a:xfrm>
            <a:off x="566928" y="841248"/>
            <a:ext cx="10058400" cy="777240"/>
          </a:xfrm>
          <a:prstGeom prst="rect">
            <a:avLst/>
          </a:prstGeom>
          <a:noFill/>
        </p:spPr>
        <p:txBody>
          <a:bodyPr wrap="square" lIns="0" tIns="0" rIns="0" bIns="0" anchor="t">
            <a:spAutoFit/>
          </a:bodyPr>
          <a:lstStyle/>
          <a:p>
            <a:pPr algn="l">
              <a:lnSpc>
                <a:spcPct val="95000"/>
              </a:lnSpc>
            </a:pPr>
            <a:r>
              <a:rPr sz="3800" b="1" i="0">
                <a:solidFill>
                  <a:srgbClr val="0A1733"/>
                </a:solidFill>
                <a:latin typeface="Cambria"/>
              </a:rPr>
              <a:t>Kim to‘laydi? Fuqaro. Biz 10% olamiz.</a:t>
            </a:r>
          </a:p>
        </p:txBody>
      </p:sp>
      <p:sp>
        <p:nvSpPr>
          <p:cNvPr id="4" name="TextBox 3"/>
          <p:cNvSpPr txBox="1"/>
          <p:nvPr/>
        </p:nvSpPr>
        <p:spPr>
          <a:xfrm>
            <a:off x="566928" y="1554480"/>
            <a:ext cx="10058400" cy="365760"/>
          </a:xfrm>
          <a:prstGeom prst="rect">
            <a:avLst/>
          </a:prstGeom>
          <a:noFill/>
        </p:spPr>
        <p:txBody>
          <a:bodyPr wrap="square" lIns="0" tIns="0" rIns="0" bIns="0" anchor="t">
            <a:spAutoFit/>
          </a:bodyPr>
          <a:lstStyle/>
          <a:p>
            <a:pPr algn="l">
              <a:lnSpc>
                <a:spcPct val="110000"/>
              </a:lnSpc>
            </a:pPr>
            <a:r>
              <a:rPr sz="1550" b="0" i="0">
                <a:solidFill>
                  <a:srgbClr val="5C6B87"/>
                </a:solidFill>
                <a:latin typeface="Calibri"/>
              </a:rPr>
              <a:t>Obuna yo‘q, kredit yo‘q — faqat amalga oshgan konsultatsiya.</a:t>
            </a:r>
          </a:p>
        </p:txBody>
      </p:sp>
      <p:sp>
        <p:nvSpPr>
          <p:cNvPr id="5" name="Rounded Rectangle 4"/>
          <p:cNvSpPr/>
          <p:nvPr/>
        </p:nvSpPr>
        <p:spPr>
          <a:xfrm>
            <a:off x="566928" y="2286000"/>
            <a:ext cx="3703320" cy="731520"/>
          </a:xfrm>
          <a:prstGeom prst="roundRect">
            <a:avLst>
              <a:gd name="adj" fmla="val 7000"/>
            </a:avLst>
          </a:prstGeom>
          <a:solidFill>
            <a:srgbClr val="F1F4FA"/>
          </a:solidFill>
          <a:ln>
            <a:noFill/>
          </a:ln>
          <a:effectLst>
            <a:outerShdw blurRad="177800" dist="63500" dir="5400000" rotWithShape="0">
              <a:srgbClr val="0A1733">
                <a:alpha val="14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768096" y="2286000"/>
            <a:ext cx="1371600" cy="731520"/>
          </a:xfrm>
          <a:prstGeom prst="rect">
            <a:avLst/>
          </a:prstGeom>
          <a:noFill/>
        </p:spPr>
        <p:txBody>
          <a:bodyPr wrap="square" lIns="0" tIns="0" rIns="0" bIns="0" anchor="ctr">
            <a:spAutoFit/>
          </a:bodyPr>
          <a:lstStyle/>
          <a:p>
            <a:pPr algn="l"/>
            <a:r>
              <a:rPr sz="2100" b="1" i="0">
                <a:solidFill>
                  <a:srgbClr val="0A1733"/>
                </a:solidFill>
                <a:latin typeface="Cambria"/>
              </a:rPr>
              <a:t>32,7 mln</a:t>
            </a:r>
          </a:p>
        </p:txBody>
      </p:sp>
      <p:sp>
        <p:nvSpPr>
          <p:cNvPr id="7" name="TextBox 6"/>
          <p:cNvSpPr txBox="1"/>
          <p:nvPr/>
        </p:nvSpPr>
        <p:spPr>
          <a:xfrm>
            <a:off x="2194560" y="2340864"/>
            <a:ext cx="1874519" cy="457200"/>
          </a:xfrm>
          <a:prstGeom prst="rect">
            <a:avLst/>
          </a:prstGeom>
          <a:noFill/>
        </p:spPr>
        <p:txBody>
          <a:bodyPr wrap="square" lIns="0" tIns="0" rIns="0" bIns="0" anchor="ctr">
            <a:spAutoFit/>
          </a:bodyPr>
          <a:lstStyle/>
          <a:p>
            <a:pPr algn="l">
              <a:lnSpc>
                <a:spcPct val="116000"/>
              </a:lnSpc>
            </a:pPr>
            <a:r>
              <a:rPr sz="1050" b="0" i="0">
                <a:solidFill>
                  <a:srgbClr val="5C6B87"/>
                </a:solidFill>
                <a:latin typeface="Calibri"/>
              </a:rPr>
              <a:t>Internetga ulangan aholi</a:t>
            </a:r>
          </a:p>
        </p:txBody>
      </p:sp>
      <p:sp>
        <p:nvSpPr>
          <p:cNvPr id="8" name="Rectangle 7"/>
          <p:cNvSpPr/>
          <p:nvPr/>
        </p:nvSpPr>
        <p:spPr>
          <a:xfrm>
            <a:off x="2194560" y="2834640"/>
            <a:ext cx="1874519" cy="41148"/>
          </a:xfrm>
          <a:prstGeom prst="rect">
            <a:avLst/>
          </a:prstGeom>
          <a:solidFill>
            <a:srgbClr val="E3E9F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Rectangle 8"/>
          <p:cNvSpPr/>
          <p:nvPr/>
        </p:nvSpPr>
        <p:spPr>
          <a:xfrm>
            <a:off x="2194560" y="2834640"/>
            <a:ext cx="1874519"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Rounded Rectangle 9"/>
          <p:cNvSpPr/>
          <p:nvPr/>
        </p:nvSpPr>
        <p:spPr>
          <a:xfrm>
            <a:off x="566928" y="3145536"/>
            <a:ext cx="3703320" cy="731520"/>
          </a:xfrm>
          <a:prstGeom prst="roundRect">
            <a:avLst>
              <a:gd name="adj" fmla="val 7000"/>
            </a:avLst>
          </a:prstGeom>
          <a:solidFill>
            <a:srgbClr val="F1F4FA"/>
          </a:solidFill>
          <a:ln>
            <a:noFill/>
          </a:ln>
          <a:effectLst>
            <a:outerShdw blurRad="177800" dist="63500" dir="5400000" rotWithShape="0">
              <a:srgbClr val="0A1733">
                <a:alpha val="14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768096" y="3145536"/>
            <a:ext cx="1371600" cy="731520"/>
          </a:xfrm>
          <a:prstGeom prst="rect">
            <a:avLst/>
          </a:prstGeom>
          <a:noFill/>
        </p:spPr>
        <p:txBody>
          <a:bodyPr wrap="square" lIns="0" tIns="0" rIns="0" bIns="0" anchor="ctr">
            <a:spAutoFit/>
          </a:bodyPr>
          <a:lstStyle/>
          <a:p>
            <a:pPr algn="l"/>
            <a:r>
              <a:rPr sz="2100" b="1" i="0">
                <a:solidFill>
                  <a:srgbClr val="0A1733"/>
                </a:solidFill>
                <a:latin typeface="Cambria"/>
              </a:rPr>
              <a:t>8,6%</a:t>
            </a:r>
          </a:p>
        </p:txBody>
      </p:sp>
      <p:sp>
        <p:nvSpPr>
          <p:cNvPr id="12" name="TextBox 11"/>
          <p:cNvSpPr txBox="1"/>
          <p:nvPr/>
        </p:nvSpPr>
        <p:spPr>
          <a:xfrm>
            <a:off x="2194560" y="3200400"/>
            <a:ext cx="1874519" cy="457200"/>
          </a:xfrm>
          <a:prstGeom prst="rect">
            <a:avLst/>
          </a:prstGeom>
          <a:noFill/>
        </p:spPr>
        <p:txBody>
          <a:bodyPr wrap="square" lIns="0" tIns="0" rIns="0" bIns="0" anchor="ctr">
            <a:spAutoFit/>
          </a:bodyPr>
          <a:lstStyle/>
          <a:p>
            <a:pPr algn="l">
              <a:lnSpc>
                <a:spcPct val="116000"/>
              </a:lnSpc>
            </a:pPr>
            <a:r>
              <a:rPr sz="1050" b="0" i="0">
                <a:solidFill>
                  <a:srgbClr val="5C6B87"/>
                </a:solidFill>
                <a:latin typeface="Calibri"/>
              </a:rPr>
              <a:t>Bugun advokatga yetib boradi</a:t>
            </a:r>
          </a:p>
        </p:txBody>
      </p:sp>
      <p:sp>
        <p:nvSpPr>
          <p:cNvPr id="13" name="Rectangle 12"/>
          <p:cNvSpPr/>
          <p:nvPr/>
        </p:nvSpPr>
        <p:spPr>
          <a:xfrm>
            <a:off x="2194560" y="3694176"/>
            <a:ext cx="1874519" cy="41148"/>
          </a:xfrm>
          <a:prstGeom prst="rect">
            <a:avLst/>
          </a:prstGeom>
          <a:solidFill>
            <a:srgbClr val="E3E9F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Rectangle 13"/>
          <p:cNvSpPr/>
          <p:nvPr/>
        </p:nvSpPr>
        <p:spPr>
          <a:xfrm>
            <a:off x="2194560" y="3694176"/>
            <a:ext cx="16120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Rounded Rectangle 14"/>
          <p:cNvSpPr/>
          <p:nvPr/>
        </p:nvSpPr>
        <p:spPr>
          <a:xfrm>
            <a:off x="566928" y="4005072"/>
            <a:ext cx="3703320" cy="731520"/>
          </a:xfrm>
          <a:prstGeom prst="roundRect">
            <a:avLst>
              <a:gd name="adj" fmla="val 7000"/>
            </a:avLst>
          </a:prstGeom>
          <a:solidFill>
            <a:srgbClr val="0A1733"/>
          </a:solidFill>
          <a:ln>
            <a:noFill/>
          </a:ln>
          <a:effectLst>
            <a:outerShdw blurRad="177800" dist="63500" dir="5400000" rotWithShape="0">
              <a:srgbClr val="0A1733">
                <a:alpha val="14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TextBox 15"/>
          <p:cNvSpPr txBox="1"/>
          <p:nvPr/>
        </p:nvSpPr>
        <p:spPr>
          <a:xfrm>
            <a:off x="768096" y="4005072"/>
            <a:ext cx="1371600" cy="731520"/>
          </a:xfrm>
          <a:prstGeom prst="rect">
            <a:avLst/>
          </a:prstGeom>
          <a:noFill/>
        </p:spPr>
        <p:txBody>
          <a:bodyPr wrap="square" lIns="0" tIns="0" rIns="0" bIns="0" anchor="ctr">
            <a:spAutoFit/>
          </a:bodyPr>
          <a:lstStyle/>
          <a:p>
            <a:pPr algn="l"/>
            <a:r>
              <a:rPr sz="2100" b="1" i="0">
                <a:solidFill>
                  <a:srgbClr val="FFFFFF"/>
                </a:solidFill>
                <a:latin typeface="Cambria"/>
              </a:rPr>
              <a:t>~91%</a:t>
            </a:r>
          </a:p>
        </p:txBody>
      </p:sp>
      <p:sp>
        <p:nvSpPr>
          <p:cNvPr id="17" name="TextBox 16"/>
          <p:cNvSpPr txBox="1"/>
          <p:nvPr/>
        </p:nvSpPr>
        <p:spPr>
          <a:xfrm>
            <a:off x="2194560" y="4059935"/>
            <a:ext cx="1874519" cy="457200"/>
          </a:xfrm>
          <a:prstGeom prst="rect">
            <a:avLst/>
          </a:prstGeom>
          <a:noFill/>
        </p:spPr>
        <p:txBody>
          <a:bodyPr wrap="square" lIns="0" tIns="0" rIns="0" bIns="0" anchor="ctr">
            <a:spAutoFit/>
          </a:bodyPr>
          <a:lstStyle/>
          <a:p>
            <a:pPr algn="l">
              <a:lnSpc>
                <a:spcPct val="116000"/>
              </a:lnSpc>
            </a:pPr>
            <a:r>
              <a:rPr sz="1050" b="0" i="0">
                <a:solidFill>
                  <a:srgbClr val="C7D3E8"/>
                </a:solidFill>
                <a:latin typeface="Calibri"/>
              </a:rPr>
              <a:t>Xizmat qamrovidan tashqarida</a:t>
            </a:r>
          </a:p>
        </p:txBody>
      </p:sp>
      <p:sp>
        <p:nvSpPr>
          <p:cNvPr id="18" name="Rectangle 17"/>
          <p:cNvSpPr/>
          <p:nvPr/>
        </p:nvSpPr>
        <p:spPr>
          <a:xfrm>
            <a:off x="2194560" y="4553712"/>
            <a:ext cx="1874519" cy="41148"/>
          </a:xfrm>
          <a:prstGeom prst="rect">
            <a:avLst/>
          </a:prstGeom>
          <a:solidFill>
            <a:srgbClr val="1B306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Rectangle 18"/>
          <p:cNvSpPr/>
          <p:nvPr/>
        </p:nvSpPr>
        <p:spPr>
          <a:xfrm>
            <a:off x="2194560" y="4553712"/>
            <a:ext cx="1713311" cy="41148"/>
          </a:xfrm>
          <a:prstGeom prst="rect">
            <a:avLst/>
          </a:prstGeom>
          <a:solidFill>
            <a:srgbClr val="C8A26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Rounded Rectangle 19"/>
          <p:cNvSpPr/>
          <p:nvPr/>
        </p:nvSpPr>
        <p:spPr>
          <a:xfrm>
            <a:off x="566928" y="4882896"/>
            <a:ext cx="3131820" cy="214884"/>
          </a:xfrm>
          <a:prstGeom prst="roundRect">
            <a:avLst>
              <a:gd name="adj" fmla="val 50000"/>
            </a:avLst>
          </a:prstGeom>
          <a:noFill/>
          <a:ln w="9525">
            <a:solidFill>
              <a:srgbClr val="1F6FE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TextBox 20"/>
          <p:cNvSpPr txBox="1"/>
          <p:nvPr/>
        </p:nvSpPr>
        <p:spPr>
          <a:xfrm>
            <a:off x="630936" y="4878324"/>
            <a:ext cx="3003804" cy="224028"/>
          </a:xfrm>
          <a:prstGeom prst="rect">
            <a:avLst/>
          </a:prstGeom>
          <a:noFill/>
        </p:spPr>
        <p:txBody>
          <a:bodyPr wrap="square" lIns="0" tIns="0" rIns="0" bIns="0" anchor="ctr">
            <a:spAutoFit/>
          </a:bodyPr>
          <a:lstStyle/>
          <a:p>
            <a:pPr algn="ctr"/>
            <a:r>
              <a:rPr sz="800" b="1" i="0" spc="70">
                <a:solidFill>
                  <a:srgbClr val="1F6FEB"/>
                </a:solidFill>
                <a:latin typeface="Calibri"/>
              </a:rPr>
              <a:t>FACT  DataReportal 2025 · UNDP 2025</a:t>
            </a:r>
          </a:p>
        </p:txBody>
      </p:sp>
      <p:sp>
        <p:nvSpPr>
          <p:cNvPr id="22" name="Rounded Rectangle 21"/>
          <p:cNvSpPr/>
          <p:nvPr/>
        </p:nvSpPr>
        <p:spPr>
          <a:xfrm>
            <a:off x="566928" y="5212080"/>
            <a:ext cx="3209544" cy="214884"/>
          </a:xfrm>
          <a:prstGeom prst="roundRect">
            <a:avLst>
              <a:gd name="adj" fmla="val 50000"/>
            </a:avLst>
          </a:prstGeom>
          <a:noFill/>
          <a:ln w="9525">
            <a:solidFill>
              <a:srgbClr val="C8A26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 name="TextBox 22"/>
          <p:cNvSpPr txBox="1"/>
          <p:nvPr/>
        </p:nvSpPr>
        <p:spPr>
          <a:xfrm>
            <a:off x="630936" y="5207508"/>
            <a:ext cx="3081528" cy="224028"/>
          </a:xfrm>
          <a:prstGeom prst="rect">
            <a:avLst/>
          </a:prstGeom>
          <a:noFill/>
        </p:spPr>
        <p:txBody>
          <a:bodyPr wrap="square" lIns="0" tIns="0" rIns="0" bIns="0" anchor="ctr">
            <a:spAutoFit/>
          </a:bodyPr>
          <a:lstStyle/>
          <a:p>
            <a:pPr algn="ctr"/>
            <a:r>
              <a:rPr sz="800" b="1" i="0" spc="70">
                <a:solidFill>
                  <a:srgbClr val="C8A265"/>
                </a:solidFill>
                <a:latin typeface="Calibri"/>
              </a:rPr>
              <a:t>ESTIMATE  ~91% — 100−8,6 dan olingan</a:t>
            </a:r>
          </a:p>
        </p:txBody>
      </p:sp>
      <p:sp>
        <p:nvSpPr>
          <p:cNvPr id="24" name="TextBox 23"/>
          <p:cNvSpPr txBox="1"/>
          <p:nvPr/>
        </p:nvSpPr>
        <p:spPr>
          <a:xfrm>
            <a:off x="4572000" y="2212848"/>
            <a:ext cx="3108960" cy="274320"/>
          </a:xfrm>
          <a:prstGeom prst="rect">
            <a:avLst/>
          </a:prstGeom>
          <a:noFill/>
        </p:spPr>
        <p:txBody>
          <a:bodyPr wrap="square" lIns="0" tIns="0" rIns="0" bIns="0" anchor="t">
            <a:spAutoFit/>
          </a:bodyPr>
          <a:lstStyle/>
          <a:p>
            <a:pPr algn="l"/>
            <a:r>
              <a:rPr sz="950" b="1" i="0" spc="150">
                <a:solidFill>
                  <a:srgbClr val="5C6B87"/>
                </a:solidFill>
                <a:latin typeface="Calibri"/>
              </a:rPr>
              <a:t>BITTA KONSULTATSIYA</a:t>
            </a:r>
          </a:p>
        </p:txBody>
      </p:sp>
      <p:sp>
        <p:nvSpPr>
          <p:cNvPr id="25" name="TextBox 24"/>
          <p:cNvSpPr txBox="1"/>
          <p:nvPr/>
        </p:nvSpPr>
        <p:spPr>
          <a:xfrm>
            <a:off x="4572000" y="2505456"/>
            <a:ext cx="3200400" cy="502920"/>
          </a:xfrm>
          <a:prstGeom prst="rect">
            <a:avLst/>
          </a:prstGeom>
          <a:noFill/>
        </p:spPr>
        <p:txBody>
          <a:bodyPr wrap="square" lIns="0" tIns="0" rIns="0" bIns="0" anchor="t">
            <a:spAutoFit/>
          </a:bodyPr>
          <a:lstStyle/>
          <a:p>
            <a:pPr algn="l"/>
            <a:r>
              <a:rPr sz="2700" b="1" i="0">
                <a:solidFill>
                  <a:srgbClr val="0A1733"/>
                </a:solidFill>
                <a:latin typeface="Cambria"/>
              </a:rPr>
              <a:t>150 000 so‘m</a:t>
            </a:r>
          </a:p>
        </p:txBody>
      </p:sp>
      <p:sp>
        <p:nvSpPr>
          <p:cNvPr id="26" name="TextBox 25"/>
          <p:cNvSpPr txBox="1"/>
          <p:nvPr/>
        </p:nvSpPr>
        <p:spPr>
          <a:xfrm>
            <a:off x="4572000" y="3035808"/>
            <a:ext cx="3200400" cy="256032"/>
          </a:xfrm>
          <a:prstGeom prst="rect">
            <a:avLst/>
          </a:prstGeom>
          <a:noFill/>
        </p:spPr>
        <p:txBody>
          <a:bodyPr wrap="square" lIns="0" tIns="0" rIns="0" bIns="0" anchor="t">
            <a:spAutoFit/>
          </a:bodyPr>
          <a:lstStyle/>
          <a:p>
            <a:pPr algn="l"/>
            <a:r>
              <a:rPr sz="1100" b="0" i="0">
                <a:solidFill>
                  <a:srgbClr val="5C6B87"/>
                </a:solidFill>
                <a:latin typeface="Calibri"/>
              </a:rPr>
              <a:t>45 daqiqa · default narx</a:t>
            </a:r>
          </a:p>
        </p:txBody>
      </p:sp>
      <p:sp>
        <p:nvSpPr>
          <p:cNvPr id="27" name="Rectangle 26"/>
          <p:cNvSpPr/>
          <p:nvPr/>
        </p:nvSpPr>
        <p:spPr>
          <a:xfrm>
            <a:off x="4572000" y="3493008"/>
            <a:ext cx="2518257" cy="310896"/>
          </a:xfrm>
          <a:prstGeom prst="rect">
            <a:avLst/>
          </a:prstGeom>
          <a:solidFill>
            <a:srgbClr val="0A173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8" name="Rectangle 27"/>
          <p:cNvSpPr/>
          <p:nvPr/>
        </p:nvSpPr>
        <p:spPr>
          <a:xfrm>
            <a:off x="7090257" y="3493008"/>
            <a:ext cx="279806" cy="310896"/>
          </a:xfrm>
          <a:prstGeom prst="rect">
            <a:avLst/>
          </a:prstGeom>
          <a:solidFill>
            <a:srgbClr val="C8A26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9" name="TextBox 28"/>
          <p:cNvSpPr txBox="1"/>
          <p:nvPr/>
        </p:nvSpPr>
        <p:spPr>
          <a:xfrm>
            <a:off x="4572000" y="3913632"/>
            <a:ext cx="3200400" cy="822960"/>
          </a:xfrm>
          <a:prstGeom prst="rect">
            <a:avLst/>
          </a:prstGeom>
          <a:noFill/>
        </p:spPr>
        <p:txBody>
          <a:bodyPr wrap="square" lIns="0" tIns="0" rIns="0" bIns="0" anchor="t">
            <a:spAutoFit/>
          </a:bodyPr>
          <a:lstStyle/>
          <a:p>
            <a:pPr algn="l">
              <a:spcAft>
                <a:spcPts val="300"/>
              </a:spcAft>
            </a:pPr>
            <a:r>
              <a:rPr sz="1250" b="1" i="0">
                <a:solidFill>
                  <a:srgbClr val="0A1733"/>
                </a:solidFill>
                <a:latin typeface="Calibri"/>
              </a:rPr>
              <a:t>135 000 so‘m — advokatga</a:t>
            </a:r>
          </a:p>
          <a:p>
            <a:pPr algn="l"/>
            <a:r>
              <a:rPr sz="1250" b="1" i="0">
                <a:solidFill>
                  <a:srgbClr val="C8A265"/>
                </a:solidFill>
                <a:latin typeface="Calibri"/>
              </a:rPr>
              <a:t>15 000 so‘m — LexHub (10%)</a:t>
            </a:r>
          </a:p>
        </p:txBody>
      </p:sp>
      <p:sp>
        <p:nvSpPr>
          <p:cNvPr id="30" name="TextBox 29"/>
          <p:cNvSpPr txBox="1"/>
          <p:nvPr/>
        </p:nvSpPr>
        <p:spPr>
          <a:xfrm>
            <a:off x="4572000" y="4718304"/>
            <a:ext cx="3108960" cy="1097280"/>
          </a:xfrm>
          <a:prstGeom prst="rect">
            <a:avLst/>
          </a:prstGeom>
          <a:noFill/>
        </p:spPr>
        <p:txBody>
          <a:bodyPr wrap="square" lIns="0" tIns="0" rIns="0" bIns="0" anchor="t">
            <a:spAutoFit/>
          </a:bodyPr>
          <a:lstStyle/>
          <a:p>
            <a:pPr algn="l">
              <a:lnSpc>
                <a:spcPct val="124000"/>
              </a:lnSpc>
            </a:pPr>
            <a:r>
              <a:rPr sz="1100" b="0" i="0">
                <a:solidFill>
                  <a:srgbClr val="5C6B87"/>
                </a:solidFill>
                <a:latin typeface="Calibri"/>
              </a:rPr>
              <a:t>Komissiya server tomonda hisoblanadi — mijoz ilovasi bu raqamga ta’sir qila olmaydi.</a:t>
            </a:r>
          </a:p>
        </p:txBody>
      </p:sp>
      <p:sp>
        <p:nvSpPr>
          <p:cNvPr id="31" name="Rounded Rectangle 30"/>
          <p:cNvSpPr/>
          <p:nvPr/>
        </p:nvSpPr>
        <p:spPr>
          <a:xfrm>
            <a:off x="4572000" y="5779008"/>
            <a:ext cx="2510028" cy="214884"/>
          </a:xfrm>
          <a:prstGeom prst="roundRect">
            <a:avLst>
              <a:gd name="adj" fmla="val 50000"/>
            </a:avLst>
          </a:prstGeom>
          <a:noFill/>
          <a:ln w="9525">
            <a:solidFill>
              <a:srgbClr val="1F6FE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2" name="TextBox 31"/>
          <p:cNvSpPr txBox="1"/>
          <p:nvPr/>
        </p:nvSpPr>
        <p:spPr>
          <a:xfrm>
            <a:off x="4636008" y="5774436"/>
            <a:ext cx="2382012" cy="224028"/>
          </a:xfrm>
          <a:prstGeom prst="rect">
            <a:avLst/>
          </a:prstGeom>
          <a:noFill/>
        </p:spPr>
        <p:txBody>
          <a:bodyPr wrap="square" lIns="0" tIns="0" rIns="0" bIns="0" anchor="ctr">
            <a:spAutoFit/>
          </a:bodyPr>
          <a:lstStyle/>
          <a:p>
            <a:pPr algn="ctr"/>
            <a:r>
              <a:rPr sz="800" b="1" i="0" spc="70">
                <a:solidFill>
                  <a:srgbClr val="1F6FEB"/>
                </a:solidFill>
                <a:latin typeface="Calibri"/>
              </a:rPr>
              <a:t>FACT  schema.sql:1329, 1573</a:t>
            </a:r>
          </a:p>
        </p:txBody>
      </p:sp>
      <p:graphicFrame>
        <p:nvGraphicFramePr>
          <p:cNvPr id="33" name="Chart 32"/>
          <p:cNvGraphicFramePr>
            <a:graphicFrameLocks noGrp="1"/>
          </p:cNvGraphicFramePr>
          <p:nvPr/>
        </p:nvGraphicFramePr>
        <p:xfrm>
          <a:off x="7973568" y="2212848"/>
          <a:ext cx="365760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34" name="Rounded Rectangle 33"/>
          <p:cNvSpPr/>
          <p:nvPr/>
        </p:nvSpPr>
        <p:spPr>
          <a:xfrm>
            <a:off x="7882127" y="5541264"/>
            <a:ext cx="3675888" cy="214884"/>
          </a:xfrm>
          <a:prstGeom prst="roundRect">
            <a:avLst>
              <a:gd name="adj" fmla="val 50000"/>
            </a:avLst>
          </a:prstGeom>
          <a:noFill/>
          <a:ln w="9525">
            <a:solidFill>
              <a:srgbClr val="5C6B87"/>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5" name="TextBox 34"/>
          <p:cNvSpPr txBox="1"/>
          <p:nvPr/>
        </p:nvSpPr>
        <p:spPr>
          <a:xfrm>
            <a:off x="7946136" y="5536692"/>
            <a:ext cx="3547872" cy="224028"/>
          </a:xfrm>
          <a:prstGeom prst="rect">
            <a:avLst/>
          </a:prstGeom>
          <a:noFill/>
        </p:spPr>
        <p:txBody>
          <a:bodyPr wrap="square" lIns="0" tIns="0" rIns="0" bIns="0" anchor="ctr">
            <a:spAutoFit/>
          </a:bodyPr>
          <a:lstStyle/>
          <a:p>
            <a:pPr algn="ctr"/>
            <a:r>
              <a:rPr sz="800" b="1" i="0" spc="70">
                <a:solidFill>
                  <a:srgbClr val="5C6B87"/>
                </a:solidFill>
                <a:latin typeface="Calibri"/>
              </a:rPr>
              <a:t>PROJECTION  100 advokat × 4–16 konsult./oy</a:t>
            </a:r>
          </a:p>
        </p:txBody>
      </p:sp>
      <p:sp>
        <p:nvSpPr>
          <p:cNvPr id="36" name="TextBox 35"/>
          <p:cNvSpPr txBox="1"/>
          <p:nvPr/>
        </p:nvSpPr>
        <p:spPr>
          <a:xfrm>
            <a:off x="7973568" y="5870448"/>
            <a:ext cx="3657600" cy="457200"/>
          </a:xfrm>
          <a:prstGeom prst="rect">
            <a:avLst/>
          </a:prstGeom>
          <a:noFill/>
        </p:spPr>
        <p:txBody>
          <a:bodyPr wrap="square" lIns="0" tIns="0" rIns="0" bIns="0" anchor="t">
            <a:spAutoFit/>
          </a:bodyPr>
          <a:lstStyle/>
          <a:p>
            <a:pPr algn="l">
              <a:lnSpc>
                <a:spcPct val="120000"/>
              </a:lnSpc>
            </a:pPr>
            <a:r>
              <a:rPr sz="1000" b="0" i="0">
                <a:solidFill>
                  <a:srgbClr val="5C6B87"/>
                </a:solidFill>
                <a:latin typeface="Calibri"/>
              </a:rPr>
              <a:t>Sig‘im chegarasi emas: bitta advokatda kuniga 12 slot bor (09:00–18:00 / 45 daq.).</a:t>
            </a:r>
          </a:p>
        </p:txBody>
      </p:sp>
      <p:sp>
        <p:nvSpPr>
          <p:cNvPr id="37" name="TextBox 36"/>
          <p:cNvSpPr txBox="1"/>
          <p:nvPr/>
        </p:nvSpPr>
        <p:spPr>
          <a:xfrm>
            <a:off x="566928" y="6382512"/>
            <a:ext cx="11064240" cy="274320"/>
          </a:xfrm>
          <a:prstGeom prst="rect">
            <a:avLst/>
          </a:prstGeom>
          <a:noFill/>
        </p:spPr>
        <p:txBody>
          <a:bodyPr wrap="square" lIns="0" tIns="0" rIns="0" bIns="0" anchor="t">
            <a:spAutoFit/>
          </a:bodyPr>
          <a:lstStyle/>
          <a:p>
            <a:pPr algn="l">
              <a:lnSpc>
                <a:spcPct val="105000"/>
              </a:lnSpc>
            </a:pPr>
            <a:r>
              <a:rPr sz="950" b="0" i="0">
                <a:solidFill>
                  <a:srgbClr val="5C6B87"/>
                </a:solidFill>
                <a:latin typeface="Calibri"/>
              </a:rPr>
              <a:t>FACT — narx, komissiya va slot uzunligi kodda: schema.sql:1311, 1326, 1571-1574  ·  PROJECTION — senariy, majburiyat emas.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A1733"/>
        </a:solidFill>
        <a:effectLst/>
      </p:bgPr>
    </p:bg>
    <p:spTree>
      <p:nvGrpSpPr>
        <p:cNvPr id="1" name=""/>
        <p:cNvGrpSpPr/>
        <p:nvPr/>
      </p:nvGrpSpPr>
      <p:grpSpPr>
        <a:xfrm>
          <a:off x="0" y="0"/>
          <a:ext cx="0" cy="0"/>
          <a:chOff x="0" y="0"/>
          <a:chExt cx="0" cy="0"/>
        </a:xfrm>
      </p:grpSpPr>
      <p:sp>
        <p:nvSpPr>
          <p:cNvPr id="2" name="TextBox 1"/>
          <p:cNvSpPr txBox="1"/>
          <p:nvPr/>
        </p:nvSpPr>
        <p:spPr>
          <a:xfrm>
            <a:off x="566928" y="457200"/>
            <a:ext cx="5486400" cy="274320"/>
          </a:xfrm>
          <a:prstGeom prst="rect">
            <a:avLst/>
          </a:prstGeom>
          <a:noFill/>
        </p:spPr>
        <p:txBody>
          <a:bodyPr wrap="square" lIns="0" tIns="0" rIns="0" bIns="0" anchor="t">
            <a:spAutoFit/>
          </a:bodyPr>
          <a:lstStyle/>
          <a:p>
            <a:pPr algn="l"/>
            <a:r>
              <a:rPr sz="1150" b="1" i="0" spc="190">
                <a:solidFill>
                  <a:srgbClr val="C8A265"/>
                </a:solidFill>
                <a:latin typeface="Calibri"/>
              </a:rPr>
              <a:t>07  ·  RAQOBAT VA HIMOYA</a:t>
            </a:r>
          </a:p>
        </p:txBody>
      </p:sp>
      <p:sp>
        <p:nvSpPr>
          <p:cNvPr id="3" name="TextBox 2"/>
          <p:cNvSpPr txBox="1"/>
          <p:nvPr/>
        </p:nvSpPr>
        <p:spPr>
          <a:xfrm>
            <a:off x="566928" y="841248"/>
            <a:ext cx="10058400" cy="777240"/>
          </a:xfrm>
          <a:prstGeom prst="rect">
            <a:avLst/>
          </a:prstGeom>
          <a:noFill/>
        </p:spPr>
        <p:txBody>
          <a:bodyPr wrap="square" lIns="0" tIns="0" rIns="0" bIns="0" anchor="t">
            <a:spAutoFit/>
          </a:bodyPr>
          <a:lstStyle/>
          <a:p>
            <a:pPr algn="l">
              <a:lnSpc>
                <a:spcPct val="95000"/>
              </a:lnSpc>
            </a:pPr>
            <a:r>
              <a:rPr sz="3800" b="1" i="0">
                <a:solidFill>
                  <a:srgbClr val="FFFFFF"/>
                </a:solidFill>
                <a:latin typeface="Cambria"/>
              </a:rPr>
              <a:t>Raqobat bor. Bo‘sh kvadrant ham bor.</a:t>
            </a:r>
          </a:p>
        </p:txBody>
      </p:sp>
      <p:sp>
        <p:nvSpPr>
          <p:cNvPr id="4" name="Rectangle 3"/>
          <p:cNvSpPr/>
          <p:nvPr/>
        </p:nvSpPr>
        <p:spPr>
          <a:xfrm>
            <a:off x="566928" y="2157984"/>
            <a:ext cx="5074920" cy="3529584"/>
          </a:xfrm>
          <a:prstGeom prst="rect">
            <a:avLst/>
          </a:prstGeom>
          <a:solidFill>
            <a:srgbClr val="13244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Rectangle 4"/>
          <p:cNvSpPr/>
          <p:nvPr/>
        </p:nvSpPr>
        <p:spPr>
          <a:xfrm>
            <a:off x="3104388" y="2157984"/>
            <a:ext cx="5486" cy="3529584"/>
          </a:xfrm>
          <a:prstGeom prst="rect">
            <a:avLst/>
          </a:prstGeom>
          <a:solidFill>
            <a:srgbClr val="1B306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Rectangle 5"/>
          <p:cNvSpPr/>
          <p:nvPr/>
        </p:nvSpPr>
        <p:spPr>
          <a:xfrm>
            <a:off x="566928" y="3922776"/>
            <a:ext cx="5074920" cy="5486"/>
          </a:xfrm>
          <a:prstGeom prst="rect">
            <a:avLst/>
          </a:prstGeom>
          <a:solidFill>
            <a:srgbClr val="1B306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Rectangle 6"/>
          <p:cNvSpPr/>
          <p:nvPr/>
        </p:nvSpPr>
        <p:spPr>
          <a:xfrm>
            <a:off x="3104388" y="2157984"/>
            <a:ext cx="2537460" cy="1764792"/>
          </a:xfrm>
          <a:prstGeom prst="rect">
            <a:avLst/>
          </a:prstGeom>
          <a:solidFill>
            <a:srgbClr val="1F6FEB">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566928" y="5760720"/>
            <a:ext cx="5074920" cy="274320"/>
          </a:xfrm>
          <a:prstGeom prst="rect">
            <a:avLst/>
          </a:prstGeom>
          <a:noFill/>
        </p:spPr>
        <p:txBody>
          <a:bodyPr wrap="square" lIns="0" tIns="0" rIns="0" bIns="0" anchor="t">
            <a:spAutoFit/>
          </a:bodyPr>
          <a:lstStyle/>
          <a:p>
            <a:pPr algn="ctr"/>
            <a:r>
              <a:rPr sz="1000" b="1" i="0">
                <a:solidFill>
                  <a:srgbClr val="9FB0CE"/>
                </a:solidFill>
                <a:latin typeface="Calibri"/>
              </a:rPr>
              <a:t>Kirish qulayligi  →</a:t>
            </a:r>
          </a:p>
        </p:txBody>
      </p:sp>
      <p:sp>
        <p:nvSpPr>
          <p:cNvPr id="9" name="TextBox 8"/>
          <p:cNvSpPr txBox="1"/>
          <p:nvPr/>
        </p:nvSpPr>
        <p:spPr>
          <a:xfrm>
            <a:off x="566928" y="1828800"/>
            <a:ext cx="5074920" cy="274320"/>
          </a:xfrm>
          <a:prstGeom prst="rect">
            <a:avLst/>
          </a:prstGeom>
          <a:noFill/>
        </p:spPr>
        <p:txBody>
          <a:bodyPr wrap="square" lIns="0" tIns="0" rIns="0" bIns="0" anchor="t">
            <a:spAutoFit/>
          </a:bodyPr>
          <a:lstStyle/>
          <a:p>
            <a:pPr algn="l"/>
            <a:r>
              <a:rPr sz="1000" b="1" i="0">
                <a:solidFill>
                  <a:srgbClr val="9FB0CE"/>
                </a:solidFill>
                <a:latin typeface="Calibri"/>
              </a:rPr>
              <a:t>↑  Huquqiy ishonchlilik</a:t>
            </a:r>
          </a:p>
        </p:txBody>
      </p:sp>
      <p:sp>
        <p:nvSpPr>
          <p:cNvPr id="10" name="Oval 9"/>
          <p:cNvSpPr/>
          <p:nvPr/>
        </p:nvSpPr>
        <p:spPr>
          <a:xfrm>
            <a:off x="1231696" y="2606405"/>
            <a:ext cx="91440" cy="91440"/>
          </a:xfrm>
          <a:prstGeom prst="ellipse">
            <a:avLst/>
          </a:prstGeom>
          <a:solidFill>
            <a:srgbClr val="9FB0C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1396288" y="2524109"/>
            <a:ext cx="2286000" cy="256032"/>
          </a:xfrm>
          <a:prstGeom prst="rect">
            <a:avLst/>
          </a:prstGeom>
          <a:noFill/>
        </p:spPr>
        <p:txBody>
          <a:bodyPr wrap="square" lIns="0" tIns="0" rIns="0" bIns="0" anchor="ctr">
            <a:spAutoFit/>
          </a:bodyPr>
          <a:lstStyle/>
          <a:p>
            <a:pPr algn="l"/>
            <a:r>
              <a:rPr sz="1050" b="0" i="0">
                <a:solidFill>
                  <a:srgbClr val="C7D3E8"/>
                </a:solidFill>
                <a:latin typeface="Calibri"/>
              </a:rPr>
              <a:t>An’anaviy advokat</a:t>
            </a:r>
          </a:p>
        </p:txBody>
      </p:sp>
      <p:sp>
        <p:nvSpPr>
          <p:cNvPr id="12" name="Oval 11"/>
          <p:cNvSpPr/>
          <p:nvPr/>
        </p:nvSpPr>
        <p:spPr>
          <a:xfrm>
            <a:off x="2043684" y="3453505"/>
            <a:ext cx="91440" cy="91440"/>
          </a:xfrm>
          <a:prstGeom prst="ellipse">
            <a:avLst/>
          </a:prstGeom>
          <a:solidFill>
            <a:srgbClr val="9FB0C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2208275" y="3371209"/>
            <a:ext cx="2286000" cy="256032"/>
          </a:xfrm>
          <a:prstGeom prst="rect">
            <a:avLst/>
          </a:prstGeom>
          <a:noFill/>
        </p:spPr>
        <p:txBody>
          <a:bodyPr wrap="square" lIns="0" tIns="0" rIns="0" bIns="0" anchor="ctr">
            <a:spAutoFit/>
          </a:bodyPr>
          <a:lstStyle/>
          <a:p>
            <a:pPr algn="l"/>
            <a:r>
              <a:rPr sz="1050" b="0" i="0">
                <a:solidFill>
                  <a:srgbClr val="C7D3E8"/>
                </a:solidFill>
                <a:latin typeface="Calibri"/>
              </a:rPr>
              <a:t>Lex.uz — rasmiy baza</a:t>
            </a:r>
          </a:p>
        </p:txBody>
      </p:sp>
      <p:sp>
        <p:nvSpPr>
          <p:cNvPr id="14" name="Oval 13"/>
          <p:cNvSpPr/>
          <p:nvPr/>
        </p:nvSpPr>
        <p:spPr>
          <a:xfrm>
            <a:off x="2754172" y="4441789"/>
            <a:ext cx="91440" cy="91440"/>
          </a:xfrm>
          <a:prstGeom prst="ellipse">
            <a:avLst/>
          </a:prstGeom>
          <a:solidFill>
            <a:srgbClr val="9FB0C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TextBox 14"/>
          <p:cNvSpPr txBox="1"/>
          <p:nvPr/>
        </p:nvSpPr>
        <p:spPr>
          <a:xfrm>
            <a:off x="2918764" y="4359493"/>
            <a:ext cx="2286000" cy="256032"/>
          </a:xfrm>
          <a:prstGeom prst="rect">
            <a:avLst/>
          </a:prstGeom>
          <a:noFill/>
        </p:spPr>
        <p:txBody>
          <a:bodyPr wrap="square" lIns="0" tIns="0" rIns="0" bIns="0" anchor="ctr">
            <a:spAutoFit/>
          </a:bodyPr>
          <a:lstStyle/>
          <a:p>
            <a:pPr algn="l"/>
            <a:r>
              <a:rPr sz="1050" b="0" i="0">
                <a:solidFill>
                  <a:srgbClr val="C7D3E8"/>
                </a:solidFill>
                <a:latin typeface="Calibri"/>
              </a:rPr>
              <a:t>Bepul yordam kanallari</a:t>
            </a:r>
          </a:p>
        </p:txBody>
      </p:sp>
      <p:sp>
        <p:nvSpPr>
          <p:cNvPr id="16" name="Oval 15"/>
          <p:cNvSpPr/>
          <p:nvPr/>
        </p:nvSpPr>
        <p:spPr>
          <a:xfrm>
            <a:off x="4784140" y="5077114"/>
            <a:ext cx="91440" cy="91440"/>
          </a:xfrm>
          <a:prstGeom prst="ellipse">
            <a:avLst/>
          </a:prstGeom>
          <a:solidFill>
            <a:srgbClr val="9FB0C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2424988" y="4994818"/>
            <a:ext cx="2286000" cy="256032"/>
          </a:xfrm>
          <a:prstGeom prst="rect">
            <a:avLst/>
          </a:prstGeom>
          <a:noFill/>
        </p:spPr>
        <p:txBody>
          <a:bodyPr wrap="square" lIns="0" tIns="0" rIns="0" bIns="0" anchor="ctr">
            <a:spAutoFit/>
          </a:bodyPr>
          <a:lstStyle/>
          <a:p>
            <a:pPr algn="r"/>
            <a:r>
              <a:rPr sz="1050" b="0" i="0">
                <a:solidFill>
                  <a:srgbClr val="C7D3E8"/>
                </a:solidFill>
                <a:latin typeface="Calibri"/>
              </a:rPr>
              <a:t>Umumiy AI (ChatGPT)</a:t>
            </a:r>
          </a:p>
        </p:txBody>
      </p:sp>
      <p:sp>
        <p:nvSpPr>
          <p:cNvPr id="18" name="Oval 17"/>
          <p:cNvSpPr/>
          <p:nvPr/>
        </p:nvSpPr>
        <p:spPr>
          <a:xfrm>
            <a:off x="3972153" y="5465368"/>
            <a:ext cx="91440" cy="91440"/>
          </a:xfrm>
          <a:prstGeom prst="ellipse">
            <a:avLst/>
          </a:prstGeom>
          <a:solidFill>
            <a:srgbClr val="9FB0C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TextBox 18"/>
          <p:cNvSpPr txBox="1"/>
          <p:nvPr/>
        </p:nvSpPr>
        <p:spPr>
          <a:xfrm>
            <a:off x="1613001" y="5383072"/>
            <a:ext cx="2286000" cy="256032"/>
          </a:xfrm>
          <a:prstGeom prst="rect">
            <a:avLst/>
          </a:prstGeom>
          <a:noFill/>
        </p:spPr>
        <p:txBody>
          <a:bodyPr wrap="square" lIns="0" tIns="0" rIns="0" bIns="0" anchor="ctr">
            <a:spAutoFit/>
          </a:bodyPr>
          <a:lstStyle/>
          <a:p>
            <a:pPr algn="r"/>
            <a:r>
              <a:rPr sz="1050" b="0" i="0">
                <a:solidFill>
                  <a:srgbClr val="C7D3E8"/>
                </a:solidFill>
                <a:latin typeface="Calibri"/>
              </a:rPr>
              <a:t>Telegram / tanish-bilish</a:t>
            </a:r>
          </a:p>
        </p:txBody>
      </p:sp>
      <p:sp>
        <p:nvSpPr>
          <p:cNvPr id="20" name="Oval 19"/>
          <p:cNvSpPr/>
          <p:nvPr/>
        </p:nvSpPr>
        <p:spPr>
          <a:xfrm>
            <a:off x="4539996" y="2706441"/>
            <a:ext cx="173736" cy="173736"/>
          </a:xfrm>
          <a:prstGeom prst="ellipse">
            <a:avLst/>
          </a:prstGeom>
          <a:solidFill>
            <a:srgbClr val="C8A26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TextBox 20"/>
          <p:cNvSpPr txBox="1"/>
          <p:nvPr/>
        </p:nvSpPr>
        <p:spPr>
          <a:xfrm>
            <a:off x="2221992" y="2665293"/>
            <a:ext cx="2286000" cy="256032"/>
          </a:xfrm>
          <a:prstGeom prst="rect">
            <a:avLst/>
          </a:prstGeom>
          <a:noFill/>
        </p:spPr>
        <p:txBody>
          <a:bodyPr wrap="square" lIns="0" tIns="0" rIns="0" bIns="0" anchor="ctr">
            <a:spAutoFit/>
          </a:bodyPr>
          <a:lstStyle/>
          <a:p>
            <a:pPr algn="r"/>
            <a:r>
              <a:rPr sz="1050" b="1" i="0">
                <a:solidFill>
                  <a:srgbClr val="FFFFFF"/>
                </a:solidFill>
                <a:latin typeface="Calibri"/>
              </a:rPr>
              <a:t>LexHub</a:t>
            </a:r>
          </a:p>
        </p:txBody>
      </p:sp>
      <p:sp>
        <p:nvSpPr>
          <p:cNvPr id="22" name="TextBox 21"/>
          <p:cNvSpPr txBox="1"/>
          <p:nvPr/>
        </p:nvSpPr>
        <p:spPr>
          <a:xfrm>
            <a:off x="6400800" y="2121408"/>
            <a:ext cx="5212080" cy="274320"/>
          </a:xfrm>
          <a:prstGeom prst="rect">
            <a:avLst/>
          </a:prstGeom>
          <a:noFill/>
        </p:spPr>
        <p:txBody>
          <a:bodyPr wrap="square" lIns="0" tIns="0" rIns="0" bIns="0" anchor="t">
            <a:spAutoFit/>
          </a:bodyPr>
          <a:lstStyle/>
          <a:p>
            <a:pPr algn="l"/>
            <a:r>
              <a:rPr sz="950" b="1" i="0" spc="150">
                <a:solidFill>
                  <a:srgbClr val="C8A265"/>
                </a:solidFill>
                <a:latin typeface="Calibri"/>
              </a:rPr>
              <a:t>NEGA OSON KO‘CHIRIB BO‘LMAYDI</a:t>
            </a:r>
          </a:p>
        </p:txBody>
      </p:sp>
      <p:sp>
        <p:nvSpPr>
          <p:cNvPr id="23" name="Isosceles Triangle 22"/>
          <p:cNvSpPr/>
          <p:nvPr/>
        </p:nvSpPr>
        <p:spPr>
          <a:xfrm rot="5400000">
            <a:off x="6400800" y="2560320"/>
            <a:ext cx="100584" cy="115671"/>
          </a:xfrm>
          <a:prstGeom prst="triangle">
            <a:avLst/>
          </a:prstGeom>
          <a:solidFill>
            <a:srgbClr val="C8A26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TextBox 23"/>
          <p:cNvSpPr txBox="1"/>
          <p:nvPr/>
        </p:nvSpPr>
        <p:spPr>
          <a:xfrm>
            <a:off x="6638544" y="2468880"/>
            <a:ext cx="4937760" cy="274320"/>
          </a:xfrm>
          <a:prstGeom prst="rect">
            <a:avLst/>
          </a:prstGeom>
          <a:noFill/>
        </p:spPr>
        <p:txBody>
          <a:bodyPr wrap="square" lIns="0" tIns="0" rIns="0" bIns="0" anchor="t">
            <a:spAutoFit/>
          </a:bodyPr>
          <a:lstStyle/>
          <a:p>
            <a:pPr algn="l"/>
            <a:r>
              <a:rPr sz="1350" b="1" i="0">
                <a:solidFill>
                  <a:srgbClr val="FFFFFF"/>
                </a:solidFill>
                <a:latin typeface="Cambria"/>
              </a:rPr>
              <a:t>Huquqiy guardrail — kod darajasida</a:t>
            </a:r>
          </a:p>
        </p:txBody>
      </p:sp>
      <p:sp>
        <p:nvSpPr>
          <p:cNvPr id="25" name="TextBox 24"/>
          <p:cNvSpPr txBox="1"/>
          <p:nvPr/>
        </p:nvSpPr>
        <p:spPr>
          <a:xfrm>
            <a:off x="6638544" y="2779776"/>
            <a:ext cx="4956048" cy="566928"/>
          </a:xfrm>
          <a:prstGeom prst="rect">
            <a:avLst/>
          </a:prstGeom>
          <a:noFill/>
        </p:spPr>
        <p:txBody>
          <a:bodyPr wrap="square" lIns="0" tIns="0" rIns="0" bIns="0" anchor="t">
            <a:spAutoFit/>
          </a:bodyPr>
          <a:lstStyle/>
          <a:p>
            <a:pPr algn="l">
              <a:lnSpc>
                <a:spcPct val="122000"/>
              </a:lnSpc>
            </a:pPr>
            <a:r>
              <a:rPr sz="1100" b="0" i="0">
                <a:solidFill>
                  <a:srgbClr val="AFBDD6"/>
                </a:solidFill>
                <a:latin typeface="Calibri"/>
              </a:rPr>
              <a:t>Modda chegarasi, muddat hisobi, PII tozalash va risk bahosi mahsulotning ichida. Chatbot ustiga qo‘shib bo‘lmaydi.</a:t>
            </a:r>
          </a:p>
        </p:txBody>
      </p:sp>
      <p:sp>
        <p:nvSpPr>
          <p:cNvPr id="26" name="Isosceles Triangle 25"/>
          <p:cNvSpPr/>
          <p:nvPr/>
        </p:nvSpPr>
        <p:spPr>
          <a:xfrm rot="5400000">
            <a:off x="6400800" y="3529584"/>
            <a:ext cx="100584" cy="115671"/>
          </a:xfrm>
          <a:prstGeom prst="triangle">
            <a:avLst/>
          </a:prstGeom>
          <a:solidFill>
            <a:srgbClr val="C8A26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7" name="TextBox 26"/>
          <p:cNvSpPr txBox="1"/>
          <p:nvPr/>
        </p:nvSpPr>
        <p:spPr>
          <a:xfrm>
            <a:off x="6638544" y="3438144"/>
            <a:ext cx="4937760" cy="274320"/>
          </a:xfrm>
          <a:prstGeom prst="rect">
            <a:avLst/>
          </a:prstGeom>
          <a:noFill/>
        </p:spPr>
        <p:txBody>
          <a:bodyPr wrap="square" lIns="0" tIns="0" rIns="0" bIns="0" anchor="t">
            <a:spAutoFit/>
          </a:bodyPr>
          <a:lstStyle/>
          <a:p>
            <a:pPr algn="l"/>
            <a:r>
              <a:rPr sz="1350" b="1" i="0">
                <a:solidFill>
                  <a:srgbClr val="FFFFFF"/>
                </a:solidFill>
                <a:latin typeface="Cambria"/>
              </a:rPr>
              <a:t>Ishonch server tomonda majburlangan</a:t>
            </a:r>
          </a:p>
        </p:txBody>
      </p:sp>
      <p:sp>
        <p:nvSpPr>
          <p:cNvPr id="28" name="TextBox 27"/>
          <p:cNvSpPr txBox="1"/>
          <p:nvPr/>
        </p:nvSpPr>
        <p:spPr>
          <a:xfrm>
            <a:off x="6638544" y="3749040"/>
            <a:ext cx="4956048" cy="566928"/>
          </a:xfrm>
          <a:prstGeom prst="rect">
            <a:avLst/>
          </a:prstGeom>
          <a:noFill/>
        </p:spPr>
        <p:txBody>
          <a:bodyPr wrap="square" lIns="0" tIns="0" rIns="0" bIns="0" anchor="t">
            <a:spAutoFit/>
          </a:bodyPr>
          <a:lstStyle/>
          <a:p>
            <a:pPr algn="l">
              <a:lnSpc>
                <a:spcPct val="122000"/>
              </a:lnSpc>
            </a:pPr>
            <a:r>
              <a:rPr sz="1100" b="0" i="0">
                <a:solidFill>
                  <a:srgbClr val="AFBDD6"/>
                </a:solidFill>
                <a:latin typeface="Calibri"/>
              </a:rPr>
              <a:t>Konsultatsiya va to‘lovga to‘g‘ridan-to‘g‘ri yozish RLS bilan taqiqlangan; komissiya, idempotentlik va audit log bazada.</a:t>
            </a:r>
          </a:p>
        </p:txBody>
      </p:sp>
      <p:sp>
        <p:nvSpPr>
          <p:cNvPr id="29" name="Isosceles Triangle 28"/>
          <p:cNvSpPr/>
          <p:nvPr/>
        </p:nvSpPr>
        <p:spPr>
          <a:xfrm rot="5400000">
            <a:off x="6400800" y="4498848"/>
            <a:ext cx="100584" cy="115671"/>
          </a:xfrm>
          <a:prstGeom prst="triangle">
            <a:avLst/>
          </a:prstGeom>
          <a:solidFill>
            <a:srgbClr val="C8A26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0" name="TextBox 29"/>
          <p:cNvSpPr txBox="1"/>
          <p:nvPr/>
        </p:nvSpPr>
        <p:spPr>
          <a:xfrm>
            <a:off x="6638544" y="4407408"/>
            <a:ext cx="4937760" cy="274320"/>
          </a:xfrm>
          <a:prstGeom prst="rect">
            <a:avLst/>
          </a:prstGeom>
          <a:noFill/>
        </p:spPr>
        <p:txBody>
          <a:bodyPr wrap="square" lIns="0" tIns="0" rIns="0" bIns="0" anchor="t">
            <a:spAutoFit/>
          </a:bodyPr>
          <a:lstStyle/>
          <a:p>
            <a:pPr algn="l"/>
            <a:r>
              <a:rPr sz="1350" b="1" i="0">
                <a:solidFill>
                  <a:srgbClr val="FFFFFF"/>
                </a:solidFill>
                <a:latin typeface="Cambria"/>
              </a:rPr>
              <a:t>Tasdiqlangan advokat — mijozdan emas</a:t>
            </a:r>
          </a:p>
        </p:txBody>
      </p:sp>
      <p:sp>
        <p:nvSpPr>
          <p:cNvPr id="31" name="TextBox 30"/>
          <p:cNvSpPr txBox="1"/>
          <p:nvPr/>
        </p:nvSpPr>
        <p:spPr>
          <a:xfrm>
            <a:off x="6638544" y="4718304"/>
            <a:ext cx="4956048" cy="566928"/>
          </a:xfrm>
          <a:prstGeom prst="rect">
            <a:avLst/>
          </a:prstGeom>
          <a:noFill/>
        </p:spPr>
        <p:txBody>
          <a:bodyPr wrap="square" lIns="0" tIns="0" rIns="0" bIns="0" anchor="t">
            <a:spAutoFit/>
          </a:bodyPr>
          <a:lstStyle/>
          <a:p>
            <a:pPr algn="l">
              <a:lnSpc>
                <a:spcPct val="122000"/>
              </a:lnSpc>
            </a:pPr>
            <a:r>
              <a:rPr sz="1100" b="0" i="0">
                <a:solidFill>
                  <a:srgbClr val="AFBDD6"/>
                </a:solidFill>
                <a:latin typeface="Calibri"/>
              </a:rPr>
              <a:t>Ekspert nishoni trigger orqali beriladi, litsenziya raqami unikal. Ilovadan “men advokatman” deb bo‘lmaydi.</a:t>
            </a:r>
          </a:p>
        </p:txBody>
      </p:sp>
      <p:sp>
        <p:nvSpPr>
          <p:cNvPr id="32" name="Isosceles Triangle 31"/>
          <p:cNvSpPr/>
          <p:nvPr/>
        </p:nvSpPr>
        <p:spPr>
          <a:xfrm rot="5400000">
            <a:off x="6400800" y="5468112"/>
            <a:ext cx="100584" cy="115671"/>
          </a:xfrm>
          <a:prstGeom prst="triangle">
            <a:avLst/>
          </a:prstGeom>
          <a:solidFill>
            <a:srgbClr val="C8A26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3" name="TextBox 32"/>
          <p:cNvSpPr txBox="1"/>
          <p:nvPr/>
        </p:nvSpPr>
        <p:spPr>
          <a:xfrm>
            <a:off x="6638544" y="5376672"/>
            <a:ext cx="4937760" cy="274320"/>
          </a:xfrm>
          <a:prstGeom prst="rect">
            <a:avLst/>
          </a:prstGeom>
          <a:noFill/>
        </p:spPr>
        <p:txBody>
          <a:bodyPr wrap="square" lIns="0" tIns="0" rIns="0" bIns="0" anchor="t">
            <a:spAutoFit/>
          </a:bodyPr>
          <a:lstStyle/>
          <a:p>
            <a:pPr algn="l"/>
            <a:r>
              <a:rPr sz="1350" b="1" i="0">
                <a:solidFill>
                  <a:srgbClr val="FFFFFF"/>
                </a:solidFill>
                <a:latin typeface="Cambria"/>
              </a:rPr>
              <a:t>Lokalizatsiya va hamjamiyat aylanmasi</a:t>
            </a:r>
          </a:p>
        </p:txBody>
      </p:sp>
      <p:sp>
        <p:nvSpPr>
          <p:cNvPr id="34" name="TextBox 33"/>
          <p:cNvSpPr txBox="1"/>
          <p:nvPr/>
        </p:nvSpPr>
        <p:spPr>
          <a:xfrm>
            <a:off x="6638544" y="5687568"/>
            <a:ext cx="4956048" cy="566928"/>
          </a:xfrm>
          <a:prstGeom prst="rect">
            <a:avLst/>
          </a:prstGeom>
          <a:noFill/>
        </p:spPr>
        <p:txBody>
          <a:bodyPr wrap="square" lIns="0" tIns="0" rIns="0" bIns="0" anchor="t">
            <a:spAutoFit/>
          </a:bodyPr>
          <a:lstStyle/>
          <a:p>
            <a:pPr algn="l">
              <a:lnSpc>
                <a:spcPct val="122000"/>
              </a:lnSpc>
            </a:pPr>
            <a:r>
              <a:rPr sz="1100" b="0" i="0">
                <a:solidFill>
                  <a:srgbClr val="AFBDD6"/>
                </a:solidFill>
                <a:latin typeface="Calibri"/>
              </a:rPr>
              <a:t>O‘zbek tilidagi savol-javob korpusi, ikki til, davlat xizmatlariga to‘g‘ridan-to‘g‘ri havolalar.</a:t>
            </a:r>
          </a:p>
        </p:txBody>
      </p:sp>
      <p:sp>
        <p:nvSpPr>
          <p:cNvPr id="35" name="TextBox 34"/>
          <p:cNvSpPr txBox="1"/>
          <p:nvPr/>
        </p:nvSpPr>
        <p:spPr>
          <a:xfrm>
            <a:off x="566928" y="6382512"/>
            <a:ext cx="11064240" cy="274320"/>
          </a:xfrm>
          <a:prstGeom prst="rect">
            <a:avLst/>
          </a:prstGeom>
          <a:noFill/>
        </p:spPr>
        <p:txBody>
          <a:bodyPr wrap="square" lIns="0" tIns="0" rIns="0" bIns="0" anchor="t">
            <a:spAutoFit/>
          </a:bodyPr>
          <a:lstStyle/>
          <a:p>
            <a:pPr algn="l">
              <a:lnSpc>
                <a:spcPct val="105000"/>
              </a:lnSpc>
            </a:pPr>
            <a:r>
              <a:rPr sz="950" b="0" i="0">
                <a:solidFill>
                  <a:srgbClr val="9FB0CE"/>
                </a:solidFill>
                <a:latin typeface="Calibri"/>
              </a:rPr>
              <a:t>Joylashuv xaritasi — bizning bahomiz (ESTIMATE). Moat’lar kod bilan tasdiqlangan (FACT): schema.sql:1453-1473, 1384, 1401  ·  trg_enforce_expert_answer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57200"/>
            <a:ext cx="5486400" cy="274320"/>
          </a:xfrm>
          <a:prstGeom prst="rect">
            <a:avLst/>
          </a:prstGeom>
          <a:noFill/>
        </p:spPr>
        <p:txBody>
          <a:bodyPr wrap="square" lIns="0" tIns="0" rIns="0" bIns="0" anchor="t">
            <a:spAutoFit/>
          </a:bodyPr>
          <a:lstStyle/>
          <a:p>
            <a:pPr algn="l"/>
            <a:r>
              <a:rPr sz="1150" b="1" i="0" spc="190">
                <a:solidFill>
                  <a:srgbClr val="C8A265"/>
                </a:solidFill>
                <a:latin typeface="Calibri"/>
              </a:rPr>
              <a:t>08  ·  HOLAT VA REJA</a:t>
            </a:r>
          </a:p>
        </p:txBody>
      </p:sp>
      <p:sp>
        <p:nvSpPr>
          <p:cNvPr id="3" name="TextBox 2"/>
          <p:cNvSpPr txBox="1"/>
          <p:nvPr/>
        </p:nvSpPr>
        <p:spPr>
          <a:xfrm>
            <a:off x="566928" y="841248"/>
            <a:ext cx="10058400" cy="777240"/>
          </a:xfrm>
          <a:prstGeom prst="rect">
            <a:avLst/>
          </a:prstGeom>
          <a:noFill/>
        </p:spPr>
        <p:txBody>
          <a:bodyPr wrap="square" lIns="0" tIns="0" rIns="0" bIns="0" anchor="t">
            <a:spAutoFit/>
          </a:bodyPr>
          <a:lstStyle/>
          <a:p>
            <a:pPr algn="l">
              <a:lnSpc>
                <a:spcPct val="95000"/>
              </a:lnSpc>
            </a:pPr>
            <a:r>
              <a:rPr sz="3800" b="1" i="0">
                <a:solidFill>
                  <a:srgbClr val="0A1733"/>
                </a:solidFill>
                <a:latin typeface="Cambria"/>
              </a:rPr>
              <a:t>Traction yo‘q. MVP esa — qurilgan.</a:t>
            </a:r>
          </a:p>
        </p:txBody>
      </p:sp>
      <p:sp>
        <p:nvSpPr>
          <p:cNvPr id="4" name="TextBox 3"/>
          <p:cNvSpPr txBox="1"/>
          <p:nvPr/>
        </p:nvSpPr>
        <p:spPr>
          <a:xfrm>
            <a:off x="566928" y="1554480"/>
            <a:ext cx="10058400" cy="365760"/>
          </a:xfrm>
          <a:prstGeom prst="rect">
            <a:avLst/>
          </a:prstGeom>
          <a:noFill/>
        </p:spPr>
        <p:txBody>
          <a:bodyPr wrap="square" lIns="0" tIns="0" rIns="0" bIns="0" anchor="t">
            <a:spAutoFit/>
          </a:bodyPr>
          <a:lstStyle/>
          <a:p>
            <a:pPr algn="l">
              <a:lnSpc>
                <a:spcPct val="110000"/>
              </a:lnSpc>
            </a:pPr>
            <a:r>
              <a:rPr sz="1550" b="0" i="0">
                <a:solidFill>
                  <a:srgbClr val="5C6B87"/>
                </a:solidFill>
                <a:latin typeface="Calibri"/>
              </a:rPr>
              <a:t>Ochiq aytamiz: foydalanuvchi 0, daromad 0, to‘lov rails ulanmagan.</a:t>
            </a:r>
          </a:p>
        </p:txBody>
      </p:sp>
      <p:sp>
        <p:nvSpPr>
          <p:cNvPr id="5" name="Rounded Rectangle 4"/>
          <p:cNvSpPr/>
          <p:nvPr/>
        </p:nvSpPr>
        <p:spPr>
          <a:xfrm>
            <a:off x="566928" y="2249424"/>
            <a:ext cx="2670048" cy="969264"/>
          </a:xfrm>
          <a:prstGeom prst="roundRect">
            <a:avLst>
              <a:gd name="adj" fmla="val 7000"/>
            </a:avLst>
          </a:prstGeom>
          <a:solidFill>
            <a:srgbClr val="F1F4FA"/>
          </a:solidFill>
          <a:ln>
            <a:noFill/>
          </a:ln>
          <a:effectLst>
            <a:outerShdw blurRad="177800" dist="63500" dir="5400000" rotWithShape="0">
              <a:srgbClr val="0A1733">
                <a:alpha val="14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804672" y="2340864"/>
            <a:ext cx="2286000" cy="457200"/>
          </a:xfrm>
          <a:prstGeom prst="rect">
            <a:avLst/>
          </a:prstGeom>
          <a:noFill/>
        </p:spPr>
        <p:txBody>
          <a:bodyPr wrap="square" lIns="0" tIns="0" rIns="0" bIns="0" anchor="t">
            <a:spAutoFit/>
          </a:bodyPr>
          <a:lstStyle/>
          <a:p>
            <a:pPr algn="l"/>
            <a:r>
              <a:rPr sz="2400" b="1" i="0">
                <a:solidFill>
                  <a:srgbClr val="0A1733"/>
                </a:solidFill>
                <a:latin typeface="Cambria"/>
              </a:rPr>
              <a:t>34 489</a:t>
            </a:r>
          </a:p>
        </p:txBody>
      </p:sp>
      <p:sp>
        <p:nvSpPr>
          <p:cNvPr id="7" name="TextBox 6"/>
          <p:cNvSpPr txBox="1"/>
          <p:nvPr/>
        </p:nvSpPr>
        <p:spPr>
          <a:xfrm>
            <a:off x="804672" y="2798064"/>
            <a:ext cx="2286000" cy="329184"/>
          </a:xfrm>
          <a:prstGeom prst="rect">
            <a:avLst/>
          </a:prstGeom>
          <a:noFill/>
        </p:spPr>
        <p:txBody>
          <a:bodyPr wrap="square" lIns="0" tIns="0" rIns="0" bIns="0" anchor="t">
            <a:spAutoFit/>
          </a:bodyPr>
          <a:lstStyle/>
          <a:p>
            <a:pPr algn="l"/>
            <a:r>
              <a:rPr sz="1050" b="0" i="0">
                <a:solidFill>
                  <a:srgbClr val="5C6B87"/>
                </a:solidFill>
                <a:latin typeface="Calibri"/>
              </a:rPr>
              <a:t>satr Dart kod, 230 fayl</a:t>
            </a:r>
          </a:p>
        </p:txBody>
      </p:sp>
      <p:sp>
        <p:nvSpPr>
          <p:cNvPr id="8" name="Rounded Rectangle 7"/>
          <p:cNvSpPr/>
          <p:nvPr/>
        </p:nvSpPr>
        <p:spPr>
          <a:xfrm>
            <a:off x="3364992" y="2249424"/>
            <a:ext cx="2670048" cy="969264"/>
          </a:xfrm>
          <a:prstGeom prst="roundRect">
            <a:avLst>
              <a:gd name="adj" fmla="val 7000"/>
            </a:avLst>
          </a:prstGeom>
          <a:solidFill>
            <a:srgbClr val="F1F4FA"/>
          </a:solidFill>
          <a:ln>
            <a:noFill/>
          </a:ln>
          <a:effectLst>
            <a:outerShdw blurRad="177800" dist="63500" dir="5400000" rotWithShape="0">
              <a:srgbClr val="0A1733">
                <a:alpha val="14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3602736" y="2340864"/>
            <a:ext cx="2286000" cy="457200"/>
          </a:xfrm>
          <a:prstGeom prst="rect">
            <a:avLst/>
          </a:prstGeom>
          <a:noFill/>
        </p:spPr>
        <p:txBody>
          <a:bodyPr wrap="square" lIns="0" tIns="0" rIns="0" bIns="0" anchor="t">
            <a:spAutoFit/>
          </a:bodyPr>
          <a:lstStyle/>
          <a:p>
            <a:pPr algn="l"/>
            <a:r>
              <a:rPr sz="2400" b="1" i="0">
                <a:solidFill>
                  <a:srgbClr val="0A1733"/>
                </a:solidFill>
                <a:latin typeface="Cambria"/>
              </a:rPr>
              <a:t>20 / 36</a:t>
            </a:r>
          </a:p>
        </p:txBody>
      </p:sp>
      <p:sp>
        <p:nvSpPr>
          <p:cNvPr id="10" name="TextBox 9"/>
          <p:cNvSpPr txBox="1"/>
          <p:nvPr/>
        </p:nvSpPr>
        <p:spPr>
          <a:xfrm>
            <a:off x="3602736" y="2798064"/>
            <a:ext cx="2286000" cy="329184"/>
          </a:xfrm>
          <a:prstGeom prst="rect">
            <a:avLst/>
          </a:prstGeom>
          <a:noFill/>
        </p:spPr>
        <p:txBody>
          <a:bodyPr wrap="square" lIns="0" tIns="0" rIns="0" bIns="0" anchor="t">
            <a:spAutoFit/>
          </a:bodyPr>
          <a:lstStyle/>
          <a:p>
            <a:pPr algn="l"/>
            <a:r>
              <a:rPr sz="1050" b="0" i="0">
                <a:solidFill>
                  <a:srgbClr val="5C6B87"/>
                </a:solidFill>
                <a:latin typeface="Calibri"/>
              </a:rPr>
              <a:t>jadval / RLS policy</a:t>
            </a:r>
          </a:p>
        </p:txBody>
      </p:sp>
      <p:sp>
        <p:nvSpPr>
          <p:cNvPr id="11" name="Rounded Rectangle 10"/>
          <p:cNvSpPr/>
          <p:nvPr/>
        </p:nvSpPr>
        <p:spPr>
          <a:xfrm>
            <a:off x="6163056" y="2249424"/>
            <a:ext cx="2670048" cy="969264"/>
          </a:xfrm>
          <a:prstGeom prst="roundRect">
            <a:avLst>
              <a:gd name="adj" fmla="val 7000"/>
            </a:avLst>
          </a:prstGeom>
          <a:solidFill>
            <a:srgbClr val="F1F4FA"/>
          </a:solidFill>
          <a:ln>
            <a:noFill/>
          </a:ln>
          <a:effectLst>
            <a:outerShdw blurRad="177800" dist="63500" dir="5400000" rotWithShape="0">
              <a:srgbClr val="0A1733">
                <a:alpha val="14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p:cNvSpPr txBox="1"/>
          <p:nvPr/>
        </p:nvSpPr>
        <p:spPr>
          <a:xfrm>
            <a:off x="6400800" y="2340864"/>
            <a:ext cx="2286000" cy="457200"/>
          </a:xfrm>
          <a:prstGeom prst="rect">
            <a:avLst/>
          </a:prstGeom>
          <a:noFill/>
        </p:spPr>
        <p:txBody>
          <a:bodyPr wrap="square" lIns="0" tIns="0" rIns="0" bIns="0" anchor="t">
            <a:spAutoFit/>
          </a:bodyPr>
          <a:lstStyle/>
          <a:p>
            <a:pPr algn="l"/>
            <a:r>
              <a:rPr sz="2400" b="1" i="0">
                <a:solidFill>
                  <a:srgbClr val="0A1733"/>
                </a:solidFill>
                <a:latin typeface="Cambria"/>
              </a:rPr>
              <a:t>14</a:t>
            </a:r>
          </a:p>
        </p:txBody>
      </p:sp>
      <p:sp>
        <p:nvSpPr>
          <p:cNvPr id="13" name="TextBox 12"/>
          <p:cNvSpPr txBox="1"/>
          <p:nvPr/>
        </p:nvSpPr>
        <p:spPr>
          <a:xfrm>
            <a:off x="6400800" y="2798064"/>
            <a:ext cx="2286000" cy="329184"/>
          </a:xfrm>
          <a:prstGeom prst="rect">
            <a:avLst/>
          </a:prstGeom>
          <a:noFill/>
        </p:spPr>
        <p:txBody>
          <a:bodyPr wrap="square" lIns="0" tIns="0" rIns="0" bIns="0" anchor="t">
            <a:spAutoFit/>
          </a:bodyPr>
          <a:lstStyle/>
          <a:p>
            <a:pPr algn="l"/>
            <a:r>
              <a:rPr sz="1050" b="0" i="0">
                <a:solidFill>
                  <a:srgbClr val="5C6B87"/>
                </a:solidFill>
                <a:latin typeface="Calibri"/>
              </a:rPr>
              <a:t>mahsulot moduli</a:t>
            </a:r>
          </a:p>
        </p:txBody>
      </p:sp>
      <p:sp>
        <p:nvSpPr>
          <p:cNvPr id="14" name="Rounded Rectangle 13"/>
          <p:cNvSpPr/>
          <p:nvPr/>
        </p:nvSpPr>
        <p:spPr>
          <a:xfrm>
            <a:off x="8961120" y="2249424"/>
            <a:ext cx="2670048" cy="969264"/>
          </a:xfrm>
          <a:prstGeom prst="roundRect">
            <a:avLst>
              <a:gd name="adj" fmla="val 7000"/>
            </a:avLst>
          </a:prstGeom>
          <a:solidFill>
            <a:srgbClr val="F1F4FA"/>
          </a:solidFill>
          <a:ln>
            <a:noFill/>
          </a:ln>
          <a:effectLst>
            <a:outerShdw blurRad="177800" dist="63500" dir="5400000" rotWithShape="0">
              <a:srgbClr val="0A1733">
                <a:alpha val="14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TextBox 14"/>
          <p:cNvSpPr txBox="1"/>
          <p:nvPr/>
        </p:nvSpPr>
        <p:spPr>
          <a:xfrm>
            <a:off x="9198864" y="2340864"/>
            <a:ext cx="2286000" cy="457200"/>
          </a:xfrm>
          <a:prstGeom prst="rect">
            <a:avLst/>
          </a:prstGeom>
          <a:noFill/>
        </p:spPr>
        <p:txBody>
          <a:bodyPr wrap="square" lIns="0" tIns="0" rIns="0" bIns="0" anchor="t">
            <a:spAutoFit/>
          </a:bodyPr>
          <a:lstStyle/>
          <a:p>
            <a:pPr algn="l"/>
            <a:r>
              <a:rPr sz="2400" b="1" i="0">
                <a:solidFill>
                  <a:srgbClr val="0A1733"/>
                </a:solidFill>
                <a:latin typeface="Cambria"/>
              </a:rPr>
              <a:t>267 × 2</a:t>
            </a:r>
          </a:p>
        </p:txBody>
      </p:sp>
      <p:sp>
        <p:nvSpPr>
          <p:cNvPr id="16" name="TextBox 15"/>
          <p:cNvSpPr txBox="1"/>
          <p:nvPr/>
        </p:nvSpPr>
        <p:spPr>
          <a:xfrm>
            <a:off x="9198864" y="2798064"/>
            <a:ext cx="2286000" cy="329184"/>
          </a:xfrm>
          <a:prstGeom prst="rect">
            <a:avLst/>
          </a:prstGeom>
          <a:noFill/>
        </p:spPr>
        <p:txBody>
          <a:bodyPr wrap="square" lIns="0" tIns="0" rIns="0" bIns="0" anchor="t">
            <a:spAutoFit/>
          </a:bodyPr>
          <a:lstStyle/>
          <a:p>
            <a:pPr algn="l"/>
            <a:r>
              <a:rPr sz="1050" b="0" i="0">
                <a:solidFill>
                  <a:srgbClr val="5C6B87"/>
                </a:solidFill>
                <a:latin typeface="Calibri"/>
              </a:rPr>
              <a:t>lokalizatsiya kaliti, uz + en</a:t>
            </a:r>
          </a:p>
        </p:txBody>
      </p:sp>
      <p:sp>
        <p:nvSpPr>
          <p:cNvPr id="17" name="Rounded Rectangle 16"/>
          <p:cNvSpPr/>
          <p:nvPr/>
        </p:nvSpPr>
        <p:spPr>
          <a:xfrm>
            <a:off x="566928" y="3310128"/>
            <a:ext cx="3675888" cy="214884"/>
          </a:xfrm>
          <a:prstGeom prst="roundRect">
            <a:avLst>
              <a:gd name="adj" fmla="val 50000"/>
            </a:avLst>
          </a:prstGeom>
          <a:noFill/>
          <a:ln w="9525">
            <a:solidFill>
              <a:srgbClr val="1F6FE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TextBox 17"/>
          <p:cNvSpPr txBox="1"/>
          <p:nvPr/>
        </p:nvSpPr>
        <p:spPr>
          <a:xfrm>
            <a:off x="630936" y="3305556"/>
            <a:ext cx="3547872" cy="224028"/>
          </a:xfrm>
          <a:prstGeom prst="rect">
            <a:avLst/>
          </a:prstGeom>
          <a:noFill/>
        </p:spPr>
        <p:txBody>
          <a:bodyPr wrap="square" lIns="0" tIns="0" rIns="0" bIns="0" anchor="ctr">
            <a:spAutoFit/>
          </a:bodyPr>
          <a:lstStyle/>
          <a:p>
            <a:pPr algn="ctr"/>
            <a:r>
              <a:rPr sz="800" b="1" i="0" spc="70">
                <a:solidFill>
                  <a:srgbClr val="1F6FEB"/>
                </a:solidFill>
                <a:latin typeface="Calibri"/>
              </a:rPr>
              <a:t>FACT  repo bilan tasdiqlangan — 2026-08-22</a:t>
            </a:r>
          </a:p>
        </p:txBody>
      </p:sp>
      <p:sp>
        <p:nvSpPr>
          <p:cNvPr id="19" name="Rounded Rectangle 18"/>
          <p:cNvSpPr/>
          <p:nvPr/>
        </p:nvSpPr>
        <p:spPr>
          <a:xfrm>
            <a:off x="566928" y="3913632"/>
            <a:ext cx="2670048" cy="2139696"/>
          </a:xfrm>
          <a:prstGeom prst="roundRect">
            <a:avLst>
              <a:gd name="adj" fmla="val 6000"/>
            </a:avLst>
          </a:prstGeom>
          <a:solidFill>
            <a:srgbClr val="0A1733"/>
          </a:solidFill>
          <a:ln>
            <a:noFill/>
          </a:ln>
          <a:effectLst>
            <a:outerShdw blurRad="177800" dist="63500" dir="5400000" rotWithShape="0">
              <a:srgbClr val="0A1733">
                <a:alpha val="14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TextBox 19"/>
          <p:cNvSpPr txBox="1"/>
          <p:nvPr/>
        </p:nvSpPr>
        <p:spPr>
          <a:xfrm>
            <a:off x="804672" y="4096512"/>
            <a:ext cx="2194560" cy="256032"/>
          </a:xfrm>
          <a:prstGeom prst="rect">
            <a:avLst/>
          </a:prstGeom>
          <a:noFill/>
        </p:spPr>
        <p:txBody>
          <a:bodyPr wrap="square" lIns="0" tIns="0" rIns="0" bIns="0" anchor="t">
            <a:spAutoFit/>
          </a:bodyPr>
          <a:lstStyle/>
          <a:p>
            <a:pPr algn="l"/>
            <a:r>
              <a:rPr sz="1050" b="1" i="0" spc="160">
                <a:solidFill>
                  <a:srgbClr val="C8A265"/>
                </a:solidFill>
                <a:latin typeface="Calibri"/>
              </a:rPr>
              <a:t>HOZIR</a:t>
            </a:r>
          </a:p>
        </p:txBody>
      </p:sp>
      <p:sp>
        <p:nvSpPr>
          <p:cNvPr id="21" name="TextBox 20"/>
          <p:cNvSpPr txBox="1"/>
          <p:nvPr/>
        </p:nvSpPr>
        <p:spPr>
          <a:xfrm>
            <a:off x="804672" y="4407408"/>
            <a:ext cx="2240280" cy="310896"/>
          </a:xfrm>
          <a:prstGeom prst="rect">
            <a:avLst/>
          </a:prstGeom>
          <a:noFill/>
        </p:spPr>
        <p:txBody>
          <a:bodyPr wrap="square" lIns="0" tIns="0" rIns="0" bIns="0" anchor="t">
            <a:spAutoFit/>
          </a:bodyPr>
          <a:lstStyle/>
          <a:p>
            <a:pPr algn="l"/>
            <a:r>
              <a:rPr sz="1550" b="1" i="0">
                <a:solidFill>
                  <a:srgbClr val="FFFFFF"/>
                </a:solidFill>
                <a:latin typeface="Cambria"/>
              </a:rPr>
              <a:t>MVP ishlaydi</a:t>
            </a:r>
          </a:p>
        </p:txBody>
      </p:sp>
      <p:sp>
        <p:nvSpPr>
          <p:cNvPr id="22" name="TextBox 21"/>
          <p:cNvSpPr txBox="1"/>
          <p:nvPr/>
        </p:nvSpPr>
        <p:spPr>
          <a:xfrm>
            <a:off x="804672" y="4791456"/>
            <a:ext cx="2212848" cy="1097280"/>
          </a:xfrm>
          <a:prstGeom prst="rect">
            <a:avLst/>
          </a:prstGeom>
          <a:noFill/>
        </p:spPr>
        <p:txBody>
          <a:bodyPr wrap="square" lIns="0" tIns="0" rIns="0" bIns="0" anchor="t">
            <a:spAutoFit/>
          </a:bodyPr>
          <a:lstStyle/>
          <a:p>
            <a:pPr algn="l">
              <a:lnSpc>
                <a:spcPct val="124000"/>
              </a:lnSpc>
            </a:pPr>
            <a:r>
              <a:rPr sz="1100" b="0" i="0">
                <a:solidFill>
                  <a:srgbClr val="C7D3E8"/>
                </a:solidFill>
                <a:latin typeface="Calibri"/>
              </a:rPr>
              <a:t>Hamjamiyat savol-javobi, AI tahlil, davlat xizmatlari qo‘llanmasi va konsultatsiya band qilish oqimi tayyor.</a:t>
            </a:r>
          </a:p>
        </p:txBody>
      </p:sp>
      <p:sp>
        <p:nvSpPr>
          <p:cNvPr id="23" name="Isosceles Triangle 22"/>
          <p:cNvSpPr/>
          <p:nvPr/>
        </p:nvSpPr>
        <p:spPr>
          <a:xfrm rot="5400000">
            <a:off x="3305556" y="4882896"/>
            <a:ext cx="109728" cy="126187"/>
          </a:xfrm>
          <a:prstGeom prst="triangle">
            <a:avLst/>
          </a:prstGeom>
          <a:solidFill>
            <a:srgbClr val="C8A26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Rounded Rectangle 23"/>
          <p:cNvSpPr/>
          <p:nvPr/>
        </p:nvSpPr>
        <p:spPr>
          <a:xfrm>
            <a:off x="3364992" y="3913632"/>
            <a:ext cx="2670048" cy="2139696"/>
          </a:xfrm>
          <a:prstGeom prst="roundRect">
            <a:avLst>
              <a:gd name="adj" fmla="val 6000"/>
            </a:avLst>
          </a:prstGeom>
          <a:solidFill>
            <a:srgbClr val="F1F4FA"/>
          </a:solidFill>
          <a:ln>
            <a:noFill/>
          </a:ln>
          <a:effectLst>
            <a:outerShdw blurRad="177800" dist="63500" dir="5400000" rotWithShape="0">
              <a:srgbClr val="0A1733">
                <a:alpha val="14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TextBox 24"/>
          <p:cNvSpPr txBox="1"/>
          <p:nvPr/>
        </p:nvSpPr>
        <p:spPr>
          <a:xfrm>
            <a:off x="3602736" y="4096512"/>
            <a:ext cx="2194560" cy="256032"/>
          </a:xfrm>
          <a:prstGeom prst="rect">
            <a:avLst/>
          </a:prstGeom>
          <a:noFill/>
        </p:spPr>
        <p:txBody>
          <a:bodyPr wrap="square" lIns="0" tIns="0" rIns="0" bIns="0" anchor="t">
            <a:spAutoFit/>
          </a:bodyPr>
          <a:lstStyle/>
          <a:p>
            <a:pPr algn="l"/>
            <a:r>
              <a:rPr sz="1050" b="1" i="0" spc="160">
                <a:solidFill>
                  <a:srgbClr val="1F6FEB"/>
                </a:solidFill>
                <a:latin typeface="Calibri"/>
              </a:rPr>
              <a:t>3 OY</a:t>
            </a:r>
          </a:p>
        </p:txBody>
      </p:sp>
      <p:sp>
        <p:nvSpPr>
          <p:cNvPr id="26" name="TextBox 25"/>
          <p:cNvSpPr txBox="1"/>
          <p:nvPr/>
        </p:nvSpPr>
        <p:spPr>
          <a:xfrm>
            <a:off x="3602736" y="4407408"/>
            <a:ext cx="2240280" cy="310896"/>
          </a:xfrm>
          <a:prstGeom prst="rect">
            <a:avLst/>
          </a:prstGeom>
          <a:noFill/>
        </p:spPr>
        <p:txBody>
          <a:bodyPr wrap="square" lIns="0" tIns="0" rIns="0" bIns="0" anchor="t">
            <a:spAutoFit/>
          </a:bodyPr>
          <a:lstStyle/>
          <a:p>
            <a:pPr algn="l"/>
            <a:r>
              <a:rPr sz="1550" b="1" i="0">
                <a:solidFill>
                  <a:srgbClr val="0A1733"/>
                </a:solidFill>
                <a:latin typeface="Cambria"/>
              </a:rPr>
              <a:t>To‘lov va korpus</a:t>
            </a:r>
          </a:p>
        </p:txBody>
      </p:sp>
      <p:sp>
        <p:nvSpPr>
          <p:cNvPr id="27" name="TextBox 26"/>
          <p:cNvSpPr txBox="1"/>
          <p:nvPr/>
        </p:nvSpPr>
        <p:spPr>
          <a:xfrm>
            <a:off x="3602736" y="4791456"/>
            <a:ext cx="2212848" cy="1097280"/>
          </a:xfrm>
          <a:prstGeom prst="rect">
            <a:avLst/>
          </a:prstGeom>
          <a:noFill/>
        </p:spPr>
        <p:txBody>
          <a:bodyPr wrap="square" lIns="0" tIns="0" rIns="0" bIns="0" anchor="t">
            <a:spAutoFit/>
          </a:bodyPr>
          <a:lstStyle/>
          <a:p>
            <a:pPr algn="l">
              <a:lnSpc>
                <a:spcPct val="124000"/>
              </a:lnSpc>
            </a:pPr>
            <a:r>
              <a:rPr sz="1100" b="0" i="0">
                <a:solidFill>
                  <a:srgbClr val="5C6B87"/>
                </a:solidFill>
                <a:latin typeface="Calibri"/>
              </a:rPr>
              <a:t>Payme yoki Click integratsiyasi, payout ijrosi, cloud huquqiy korpus va real vektor qidiruv.</a:t>
            </a:r>
          </a:p>
        </p:txBody>
      </p:sp>
      <p:sp>
        <p:nvSpPr>
          <p:cNvPr id="28" name="Isosceles Triangle 27"/>
          <p:cNvSpPr/>
          <p:nvPr/>
        </p:nvSpPr>
        <p:spPr>
          <a:xfrm rot="5400000">
            <a:off x="6103620" y="4882896"/>
            <a:ext cx="109728" cy="126187"/>
          </a:xfrm>
          <a:prstGeom prst="triangle">
            <a:avLst/>
          </a:prstGeom>
          <a:solidFill>
            <a:srgbClr val="C8A26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9" name="Rounded Rectangle 28"/>
          <p:cNvSpPr/>
          <p:nvPr/>
        </p:nvSpPr>
        <p:spPr>
          <a:xfrm>
            <a:off x="6163056" y="3913632"/>
            <a:ext cx="2670048" cy="2139696"/>
          </a:xfrm>
          <a:prstGeom prst="roundRect">
            <a:avLst>
              <a:gd name="adj" fmla="val 6000"/>
            </a:avLst>
          </a:prstGeom>
          <a:solidFill>
            <a:srgbClr val="F1F4FA"/>
          </a:solidFill>
          <a:ln>
            <a:noFill/>
          </a:ln>
          <a:effectLst>
            <a:outerShdw blurRad="177800" dist="63500" dir="5400000" rotWithShape="0">
              <a:srgbClr val="0A1733">
                <a:alpha val="14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0" name="TextBox 29"/>
          <p:cNvSpPr txBox="1"/>
          <p:nvPr/>
        </p:nvSpPr>
        <p:spPr>
          <a:xfrm>
            <a:off x="6400800" y="4096512"/>
            <a:ext cx="2194560" cy="256032"/>
          </a:xfrm>
          <a:prstGeom prst="rect">
            <a:avLst/>
          </a:prstGeom>
          <a:noFill/>
        </p:spPr>
        <p:txBody>
          <a:bodyPr wrap="square" lIns="0" tIns="0" rIns="0" bIns="0" anchor="t">
            <a:spAutoFit/>
          </a:bodyPr>
          <a:lstStyle/>
          <a:p>
            <a:pPr algn="l"/>
            <a:r>
              <a:rPr sz="1050" b="1" i="0" spc="160">
                <a:solidFill>
                  <a:srgbClr val="1F6FEB"/>
                </a:solidFill>
                <a:latin typeface="Calibri"/>
              </a:rPr>
              <a:t>6 OY</a:t>
            </a:r>
          </a:p>
        </p:txBody>
      </p:sp>
      <p:sp>
        <p:nvSpPr>
          <p:cNvPr id="31" name="TextBox 30"/>
          <p:cNvSpPr txBox="1"/>
          <p:nvPr/>
        </p:nvSpPr>
        <p:spPr>
          <a:xfrm>
            <a:off x="6400800" y="4407408"/>
            <a:ext cx="2240280" cy="310896"/>
          </a:xfrm>
          <a:prstGeom prst="rect">
            <a:avLst/>
          </a:prstGeom>
          <a:noFill/>
        </p:spPr>
        <p:txBody>
          <a:bodyPr wrap="square" lIns="0" tIns="0" rIns="0" bIns="0" anchor="t">
            <a:spAutoFit/>
          </a:bodyPr>
          <a:lstStyle/>
          <a:p>
            <a:pPr algn="l"/>
            <a:r>
              <a:rPr sz="1550" b="1" i="0">
                <a:solidFill>
                  <a:srgbClr val="0A1733"/>
                </a:solidFill>
                <a:latin typeface="Cambria"/>
              </a:rPr>
              <a:t>Pilot</a:t>
            </a:r>
          </a:p>
        </p:txBody>
      </p:sp>
      <p:sp>
        <p:nvSpPr>
          <p:cNvPr id="32" name="TextBox 31"/>
          <p:cNvSpPr txBox="1"/>
          <p:nvPr/>
        </p:nvSpPr>
        <p:spPr>
          <a:xfrm>
            <a:off x="6400800" y="4791456"/>
            <a:ext cx="2212848" cy="1097280"/>
          </a:xfrm>
          <a:prstGeom prst="rect">
            <a:avLst/>
          </a:prstGeom>
          <a:noFill/>
        </p:spPr>
        <p:txBody>
          <a:bodyPr wrap="square" lIns="0" tIns="0" rIns="0" bIns="0" anchor="t">
            <a:spAutoFit/>
          </a:bodyPr>
          <a:lstStyle/>
          <a:p>
            <a:pPr algn="l">
              <a:lnSpc>
                <a:spcPct val="124000"/>
              </a:lnSpc>
            </a:pPr>
            <a:r>
              <a:rPr sz="1100" b="0" i="0">
                <a:solidFill>
                  <a:srgbClr val="5C6B87"/>
                </a:solidFill>
                <a:latin typeface="Calibri"/>
              </a:rPr>
              <a:t>20–30 tasdiqlangan advokat, birinchi to‘lovli konsultatsiyalar, reyting va sharh tizimi.</a:t>
            </a:r>
          </a:p>
        </p:txBody>
      </p:sp>
      <p:sp>
        <p:nvSpPr>
          <p:cNvPr id="33" name="Isosceles Triangle 32"/>
          <p:cNvSpPr/>
          <p:nvPr/>
        </p:nvSpPr>
        <p:spPr>
          <a:xfrm rot="5400000">
            <a:off x="8901684" y="4882896"/>
            <a:ext cx="109728" cy="126187"/>
          </a:xfrm>
          <a:prstGeom prst="triangle">
            <a:avLst/>
          </a:prstGeom>
          <a:solidFill>
            <a:srgbClr val="C8A26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4" name="Rounded Rectangle 33"/>
          <p:cNvSpPr/>
          <p:nvPr/>
        </p:nvSpPr>
        <p:spPr>
          <a:xfrm>
            <a:off x="8961120" y="3913632"/>
            <a:ext cx="2670048" cy="2139696"/>
          </a:xfrm>
          <a:prstGeom prst="roundRect">
            <a:avLst>
              <a:gd name="adj" fmla="val 6000"/>
            </a:avLst>
          </a:prstGeom>
          <a:solidFill>
            <a:srgbClr val="F1F4FA"/>
          </a:solidFill>
          <a:ln>
            <a:noFill/>
          </a:ln>
          <a:effectLst>
            <a:outerShdw blurRad="177800" dist="63500" dir="5400000" rotWithShape="0">
              <a:srgbClr val="0A1733">
                <a:alpha val="14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5" name="TextBox 34"/>
          <p:cNvSpPr txBox="1"/>
          <p:nvPr/>
        </p:nvSpPr>
        <p:spPr>
          <a:xfrm>
            <a:off x="9198864" y="4096512"/>
            <a:ext cx="2194560" cy="256032"/>
          </a:xfrm>
          <a:prstGeom prst="rect">
            <a:avLst/>
          </a:prstGeom>
          <a:noFill/>
        </p:spPr>
        <p:txBody>
          <a:bodyPr wrap="square" lIns="0" tIns="0" rIns="0" bIns="0" anchor="t">
            <a:spAutoFit/>
          </a:bodyPr>
          <a:lstStyle/>
          <a:p>
            <a:pPr algn="l"/>
            <a:r>
              <a:rPr sz="1050" b="1" i="0" spc="160">
                <a:solidFill>
                  <a:srgbClr val="1F6FEB"/>
                </a:solidFill>
                <a:latin typeface="Calibri"/>
              </a:rPr>
              <a:t>12 OY</a:t>
            </a:r>
          </a:p>
        </p:txBody>
      </p:sp>
      <p:sp>
        <p:nvSpPr>
          <p:cNvPr id="36" name="TextBox 35"/>
          <p:cNvSpPr txBox="1"/>
          <p:nvPr/>
        </p:nvSpPr>
        <p:spPr>
          <a:xfrm>
            <a:off x="9198864" y="4407408"/>
            <a:ext cx="2240280" cy="310896"/>
          </a:xfrm>
          <a:prstGeom prst="rect">
            <a:avLst/>
          </a:prstGeom>
          <a:noFill/>
        </p:spPr>
        <p:txBody>
          <a:bodyPr wrap="square" lIns="0" tIns="0" rIns="0" bIns="0" anchor="t">
            <a:spAutoFit/>
          </a:bodyPr>
          <a:lstStyle/>
          <a:p>
            <a:pPr algn="l"/>
            <a:r>
              <a:rPr sz="1550" b="1" i="0">
                <a:solidFill>
                  <a:srgbClr val="0A1733"/>
                </a:solidFill>
                <a:latin typeface="Cambria"/>
              </a:rPr>
              <a:t>B2B2C</a:t>
            </a:r>
          </a:p>
        </p:txBody>
      </p:sp>
      <p:sp>
        <p:nvSpPr>
          <p:cNvPr id="37" name="TextBox 36"/>
          <p:cNvSpPr txBox="1"/>
          <p:nvPr/>
        </p:nvSpPr>
        <p:spPr>
          <a:xfrm>
            <a:off x="9198864" y="4791456"/>
            <a:ext cx="2212848" cy="1097280"/>
          </a:xfrm>
          <a:prstGeom prst="rect">
            <a:avLst/>
          </a:prstGeom>
          <a:noFill/>
        </p:spPr>
        <p:txBody>
          <a:bodyPr wrap="square" lIns="0" tIns="0" rIns="0" bIns="0" anchor="t">
            <a:spAutoFit/>
          </a:bodyPr>
          <a:lstStyle/>
          <a:p>
            <a:pPr algn="l">
              <a:lnSpc>
                <a:spcPct val="124000"/>
              </a:lnSpc>
            </a:pPr>
            <a:r>
              <a:rPr sz="1100" b="0" i="0">
                <a:solidFill>
                  <a:srgbClr val="5C6B87"/>
                </a:solidFill>
                <a:latin typeface="Calibri"/>
              </a:rPr>
              <a:t>Bank, sug‘urta va HR uchun huquqiy yordam kanali; hujjat avtomatlashtirish.</a:t>
            </a:r>
          </a:p>
        </p:txBody>
      </p:sp>
      <p:sp>
        <p:nvSpPr>
          <p:cNvPr id="38" name="TextBox 37"/>
          <p:cNvSpPr txBox="1"/>
          <p:nvPr/>
        </p:nvSpPr>
        <p:spPr>
          <a:xfrm>
            <a:off x="566928" y="6382512"/>
            <a:ext cx="11064240" cy="274320"/>
          </a:xfrm>
          <a:prstGeom prst="rect">
            <a:avLst/>
          </a:prstGeom>
          <a:noFill/>
        </p:spPr>
        <p:txBody>
          <a:bodyPr wrap="square" lIns="0" tIns="0" rIns="0" bIns="0" anchor="t">
            <a:spAutoFit/>
          </a:bodyPr>
          <a:lstStyle/>
          <a:p>
            <a:pPr algn="l">
              <a:lnSpc>
                <a:spcPct val="105000"/>
              </a:lnSpc>
            </a:pPr>
            <a:r>
              <a:rPr sz="950" b="0" i="0">
                <a:solidFill>
                  <a:srgbClr val="5C6B87"/>
                </a:solidFill>
                <a:latin typeface="Calibri"/>
              </a:rPr>
              <a:t>HOZIR — FACT. 3 / 6 / 12 oy ko‘rsatkichlari — PROJECTION va reja, fakt emas. Vektor infratuzilma (pgvector + HNSW) tayyor, korpus hali yuklanmagan.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57200"/>
            <a:ext cx="5486400" cy="274320"/>
          </a:xfrm>
          <a:prstGeom prst="rect">
            <a:avLst/>
          </a:prstGeom>
          <a:noFill/>
        </p:spPr>
        <p:txBody>
          <a:bodyPr wrap="square" lIns="0" tIns="0" rIns="0" bIns="0" anchor="t">
            <a:spAutoFit/>
          </a:bodyPr>
          <a:lstStyle/>
          <a:p>
            <a:pPr algn="l"/>
            <a:r>
              <a:rPr sz="1150" b="1" i="0" spc="190">
                <a:solidFill>
                  <a:srgbClr val="C8A265"/>
                </a:solidFill>
                <a:latin typeface="Calibri"/>
              </a:rPr>
              <a:t>09  ·  JAMOA</a:t>
            </a:r>
          </a:p>
        </p:txBody>
      </p:sp>
      <p:sp>
        <p:nvSpPr>
          <p:cNvPr id="3" name="TextBox 2"/>
          <p:cNvSpPr txBox="1"/>
          <p:nvPr/>
        </p:nvSpPr>
        <p:spPr>
          <a:xfrm>
            <a:off x="566928" y="841248"/>
            <a:ext cx="10058400" cy="777240"/>
          </a:xfrm>
          <a:prstGeom prst="rect">
            <a:avLst/>
          </a:prstGeom>
          <a:noFill/>
        </p:spPr>
        <p:txBody>
          <a:bodyPr wrap="square" lIns="0" tIns="0" rIns="0" bIns="0" anchor="t">
            <a:spAutoFit/>
          </a:bodyPr>
          <a:lstStyle/>
          <a:p>
            <a:pPr algn="l">
              <a:lnSpc>
                <a:spcPct val="95000"/>
              </a:lnSpc>
            </a:pPr>
            <a:r>
              <a:rPr sz="3800" b="1" i="0">
                <a:solidFill>
                  <a:srgbClr val="0A1733"/>
                </a:solidFill>
                <a:latin typeface="Cambria"/>
              </a:rPr>
              <a:t>AXION — mahsulotni qurgan jamoa</a:t>
            </a:r>
          </a:p>
        </p:txBody>
      </p:sp>
      <p:sp>
        <p:nvSpPr>
          <p:cNvPr id="4" name="TextBox 3"/>
          <p:cNvSpPr txBox="1"/>
          <p:nvPr/>
        </p:nvSpPr>
        <p:spPr>
          <a:xfrm>
            <a:off x="566928" y="1554480"/>
            <a:ext cx="10058400" cy="365760"/>
          </a:xfrm>
          <a:prstGeom prst="rect">
            <a:avLst/>
          </a:prstGeom>
          <a:noFill/>
        </p:spPr>
        <p:txBody>
          <a:bodyPr wrap="square" lIns="0" tIns="0" rIns="0" bIns="0" anchor="t">
            <a:spAutoFit/>
          </a:bodyPr>
          <a:lstStyle/>
          <a:p>
            <a:pPr algn="l">
              <a:lnSpc>
                <a:spcPct val="110000"/>
              </a:lnSpc>
            </a:pPr>
            <a:r>
              <a:rPr sz="1550" b="0" i="0">
                <a:solidFill>
                  <a:srgbClr val="5C6B87"/>
                </a:solidFill>
                <a:latin typeface="Calibri"/>
              </a:rPr>
              <a:t>Har bir rol LexHubning aniq ehtiyojiga bog‘langan.</a:t>
            </a:r>
          </a:p>
        </p:txBody>
      </p:sp>
      <p:sp>
        <p:nvSpPr>
          <p:cNvPr id="5" name="Rounded Rectangle 4"/>
          <p:cNvSpPr/>
          <p:nvPr/>
        </p:nvSpPr>
        <p:spPr>
          <a:xfrm>
            <a:off x="566928" y="2286000"/>
            <a:ext cx="2112264" cy="2962656"/>
          </a:xfrm>
          <a:prstGeom prst="roundRect">
            <a:avLst>
              <a:gd name="adj" fmla="val 6000"/>
            </a:avLst>
          </a:prstGeom>
          <a:solidFill>
            <a:srgbClr val="F1F4FA"/>
          </a:solidFill>
          <a:ln>
            <a:noFill/>
          </a:ln>
          <a:effectLst>
            <a:outerShdw blurRad="177800" dist="63500" dir="5400000" rotWithShape="0">
              <a:srgbClr val="0A1733">
                <a:alpha val="14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786384" y="3310128"/>
            <a:ext cx="1691640" cy="566928"/>
          </a:xfrm>
          <a:prstGeom prst="rect">
            <a:avLst/>
          </a:prstGeom>
          <a:noFill/>
        </p:spPr>
        <p:txBody>
          <a:bodyPr wrap="square" lIns="0" tIns="0" rIns="0" bIns="0" anchor="t">
            <a:spAutoFit/>
          </a:bodyPr>
          <a:lstStyle/>
          <a:p>
            <a:pPr algn="l">
              <a:lnSpc>
                <a:spcPct val="110000"/>
              </a:lnSpc>
            </a:pPr>
            <a:r>
              <a:rPr sz="1350" b="1" i="0">
                <a:solidFill>
                  <a:srgbClr val="0A1733"/>
                </a:solidFill>
                <a:latin typeface="Cambria"/>
              </a:rPr>
              <a:t>O‘ktam Pirimov</a:t>
            </a:r>
          </a:p>
        </p:txBody>
      </p:sp>
      <p:sp>
        <p:nvSpPr>
          <p:cNvPr id="9" name="TextBox 8"/>
          <p:cNvSpPr txBox="1"/>
          <p:nvPr/>
        </p:nvSpPr>
        <p:spPr>
          <a:xfrm>
            <a:off x="786384" y="3877056"/>
            <a:ext cx="1691640" cy="365760"/>
          </a:xfrm>
          <a:prstGeom prst="rect">
            <a:avLst/>
          </a:prstGeom>
          <a:noFill/>
        </p:spPr>
        <p:txBody>
          <a:bodyPr wrap="square" lIns="0" tIns="0" rIns="0" bIns="0" anchor="t">
            <a:spAutoFit/>
          </a:bodyPr>
          <a:lstStyle/>
          <a:p>
            <a:pPr algn="l">
              <a:lnSpc>
                <a:spcPct val="115000"/>
              </a:lnSpc>
            </a:pPr>
            <a:r>
              <a:rPr sz="1000" b="1" i="0">
                <a:solidFill>
                  <a:srgbClr val="1F6FEB"/>
                </a:solidFill>
                <a:latin typeface="Calibri"/>
              </a:rPr>
              <a:t>Product Manager / Full-Stack</a:t>
            </a:r>
          </a:p>
        </p:txBody>
      </p:sp>
      <p:sp>
        <p:nvSpPr>
          <p:cNvPr id="10" name="TextBox 9"/>
          <p:cNvSpPr txBox="1"/>
          <p:nvPr/>
        </p:nvSpPr>
        <p:spPr>
          <a:xfrm>
            <a:off x="786384" y="4297680"/>
            <a:ext cx="1691640" cy="595419"/>
          </a:xfrm>
          <a:prstGeom prst="rect">
            <a:avLst/>
          </a:prstGeom>
          <a:noFill/>
        </p:spPr>
        <p:txBody>
          <a:bodyPr wrap="square" lIns="0" tIns="0" rIns="0" bIns="0" anchor="t">
            <a:spAutoFit/>
          </a:bodyPr>
          <a:lstStyle/>
          <a:p>
            <a:pPr algn="l">
              <a:lnSpc>
                <a:spcPct val="126000"/>
              </a:lnSpc>
            </a:pPr>
            <a:r>
              <a:rPr lang="uz-Latn-UZ" sz="1050" b="0" i="0" dirty="0">
                <a:solidFill>
                  <a:srgbClr val="5C6B87"/>
                </a:solidFill>
                <a:latin typeface="Calibri"/>
              </a:rPr>
              <a:t>Product vision, Flutter, Supabase, arxitektura, AI integratsiyasi</a:t>
            </a:r>
            <a:endParaRPr sz="1050" b="0" i="0" dirty="0">
              <a:solidFill>
                <a:srgbClr val="5C6B87"/>
              </a:solidFill>
              <a:latin typeface="Calibri"/>
            </a:endParaRPr>
          </a:p>
        </p:txBody>
      </p:sp>
      <p:sp>
        <p:nvSpPr>
          <p:cNvPr id="11" name="Rounded Rectangle 10"/>
          <p:cNvSpPr/>
          <p:nvPr/>
        </p:nvSpPr>
        <p:spPr>
          <a:xfrm>
            <a:off x="2807208" y="2286000"/>
            <a:ext cx="2112264" cy="2962656"/>
          </a:xfrm>
          <a:prstGeom prst="roundRect">
            <a:avLst>
              <a:gd name="adj" fmla="val 6000"/>
            </a:avLst>
          </a:prstGeom>
          <a:solidFill>
            <a:srgbClr val="F1F4FA"/>
          </a:solidFill>
          <a:ln>
            <a:noFill/>
          </a:ln>
          <a:effectLst>
            <a:outerShdw blurRad="177800" dist="63500" dir="5400000" rotWithShape="0">
              <a:srgbClr val="0A1733">
                <a:alpha val="14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Oval 11"/>
          <p:cNvSpPr/>
          <p:nvPr/>
        </p:nvSpPr>
        <p:spPr>
          <a:xfrm>
            <a:off x="3026664" y="2505456"/>
            <a:ext cx="658368" cy="658368"/>
          </a:xfrm>
          <a:prstGeom prst="ellipse">
            <a:avLst/>
          </a:prstGeom>
          <a:solidFill>
            <a:srgbClr val="0A173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3026664" y="2514600"/>
            <a:ext cx="658368" cy="640080"/>
          </a:xfrm>
          <a:prstGeom prst="rect">
            <a:avLst/>
          </a:prstGeom>
          <a:noFill/>
        </p:spPr>
        <p:txBody>
          <a:bodyPr wrap="square" lIns="0" tIns="0" rIns="0" bIns="0" anchor="ctr">
            <a:spAutoFit/>
          </a:bodyPr>
          <a:lstStyle/>
          <a:p>
            <a:pPr algn="ctr"/>
            <a:r>
              <a:rPr sz="1500" b="1" i="0">
                <a:solidFill>
                  <a:srgbClr val="C8A265"/>
                </a:solidFill>
                <a:latin typeface="Cambria"/>
              </a:rPr>
              <a:t>AA</a:t>
            </a:r>
          </a:p>
        </p:txBody>
      </p:sp>
      <p:sp>
        <p:nvSpPr>
          <p:cNvPr id="14" name="TextBox 13"/>
          <p:cNvSpPr txBox="1"/>
          <p:nvPr/>
        </p:nvSpPr>
        <p:spPr>
          <a:xfrm>
            <a:off x="3026664" y="3310128"/>
            <a:ext cx="1691640" cy="210763"/>
          </a:xfrm>
          <a:prstGeom prst="rect">
            <a:avLst/>
          </a:prstGeom>
          <a:noFill/>
        </p:spPr>
        <p:txBody>
          <a:bodyPr wrap="square" lIns="0" tIns="0" rIns="0" bIns="0" anchor="t">
            <a:spAutoFit/>
          </a:bodyPr>
          <a:lstStyle/>
          <a:p>
            <a:pPr algn="l">
              <a:lnSpc>
                <a:spcPct val="110000"/>
              </a:lnSpc>
            </a:pPr>
            <a:r>
              <a:rPr lang="en-US" sz="1350" b="1" dirty="0">
                <a:solidFill>
                  <a:srgbClr val="0A1733"/>
                </a:solidFill>
                <a:latin typeface="Cambria"/>
              </a:rPr>
              <a:t>Muxtarov Sarvar</a:t>
            </a:r>
            <a:endParaRPr sz="1350" b="1" i="0" dirty="0">
              <a:solidFill>
                <a:srgbClr val="0A1733"/>
              </a:solidFill>
              <a:latin typeface="Cambria"/>
            </a:endParaRPr>
          </a:p>
        </p:txBody>
      </p:sp>
      <p:sp>
        <p:nvSpPr>
          <p:cNvPr id="15" name="TextBox 14"/>
          <p:cNvSpPr txBox="1"/>
          <p:nvPr/>
        </p:nvSpPr>
        <p:spPr>
          <a:xfrm>
            <a:off x="3026664" y="3877056"/>
            <a:ext cx="1691640" cy="166584"/>
          </a:xfrm>
          <a:prstGeom prst="rect">
            <a:avLst/>
          </a:prstGeom>
          <a:noFill/>
        </p:spPr>
        <p:txBody>
          <a:bodyPr wrap="square" lIns="0" tIns="0" rIns="0" bIns="0" anchor="t">
            <a:spAutoFit/>
          </a:bodyPr>
          <a:lstStyle/>
          <a:p>
            <a:pPr algn="l">
              <a:lnSpc>
                <a:spcPct val="115000"/>
              </a:lnSpc>
            </a:pPr>
            <a:r>
              <a:rPr lang="uz-Latn-UZ" sz="1000" b="1" i="0" dirty="0">
                <a:solidFill>
                  <a:srgbClr val="1F6FEB"/>
                </a:solidFill>
                <a:latin typeface="Calibri"/>
              </a:rPr>
              <a:t>Backend Engineer</a:t>
            </a:r>
            <a:endParaRPr sz="1000" b="1" i="0" dirty="0">
              <a:solidFill>
                <a:srgbClr val="1F6FEB"/>
              </a:solidFill>
              <a:latin typeface="Calibri"/>
            </a:endParaRPr>
          </a:p>
        </p:txBody>
      </p:sp>
      <p:sp>
        <p:nvSpPr>
          <p:cNvPr id="16" name="TextBox 15"/>
          <p:cNvSpPr txBox="1"/>
          <p:nvPr/>
        </p:nvSpPr>
        <p:spPr>
          <a:xfrm>
            <a:off x="3026664" y="4297680"/>
            <a:ext cx="1691640" cy="595419"/>
          </a:xfrm>
          <a:prstGeom prst="rect">
            <a:avLst/>
          </a:prstGeom>
          <a:noFill/>
        </p:spPr>
        <p:txBody>
          <a:bodyPr wrap="square" lIns="0" tIns="0" rIns="0" bIns="0" anchor="t">
            <a:spAutoFit/>
          </a:bodyPr>
          <a:lstStyle/>
          <a:p>
            <a:pPr algn="l">
              <a:lnSpc>
                <a:spcPct val="126000"/>
              </a:lnSpc>
            </a:pPr>
            <a:r>
              <a:rPr lang="en-US" sz="1050" b="0" i="0" dirty="0">
                <a:solidFill>
                  <a:srgbClr val="5C6B87"/>
                </a:solidFill>
                <a:latin typeface="Calibri"/>
              </a:rPr>
              <a:t>Backend architecture, API, database, security, business logic</a:t>
            </a:r>
            <a:endParaRPr sz="1050" b="0" i="0" dirty="0">
              <a:solidFill>
                <a:srgbClr val="5C6B87"/>
              </a:solidFill>
              <a:latin typeface="Calibri"/>
            </a:endParaRPr>
          </a:p>
        </p:txBody>
      </p:sp>
      <p:sp>
        <p:nvSpPr>
          <p:cNvPr id="17" name="Rounded Rectangle 16"/>
          <p:cNvSpPr/>
          <p:nvPr/>
        </p:nvSpPr>
        <p:spPr>
          <a:xfrm>
            <a:off x="5010912" y="2286000"/>
            <a:ext cx="2112264" cy="2962656"/>
          </a:xfrm>
          <a:prstGeom prst="roundRect">
            <a:avLst>
              <a:gd name="adj" fmla="val 6000"/>
            </a:avLst>
          </a:prstGeom>
          <a:solidFill>
            <a:srgbClr val="F1F4FA"/>
          </a:solidFill>
          <a:ln>
            <a:noFill/>
          </a:ln>
          <a:effectLst>
            <a:outerShdw blurRad="177800" dist="63500" dir="5400000" rotWithShape="0">
              <a:srgbClr val="0A1733">
                <a:alpha val="14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Oval 17"/>
          <p:cNvSpPr/>
          <p:nvPr/>
        </p:nvSpPr>
        <p:spPr>
          <a:xfrm>
            <a:off x="5673852" y="2505456"/>
            <a:ext cx="658368" cy="658368"/>
          </a:xfrm>
          <a:prstGeom prst="ellipse">
            <a:avLst/>
          </a:prstGeom>
          <a:solidFill>
            <a:srgbClr val="0A173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TextBox 18"/>
          <p:cNvSpPr txBox="1"/>
          <p:nvPr/>
        </p:nvSpPr>
        <p:spPr>
          <a:xfrm>
            <a:off x="5673852" y="2706338"/>
            <a:ext cx="658368" cy="230832"/>
          </a:xfrm>
          <a:prstGeom prst="rect">
            <a:avLst/>
          </a:prstGeom>
          <a:noFill/>
        </p:spPr>
        <p:txBody>
          <a:bodyPr wrap="square" lIns="0" tIns="0" rIns="0" bIns="0" anchor="ctr">
            <a:spAutoFit/>
          </a:bodyPr>
          <a:lstStyle/>
          <a:p>
            <a:pPr algn="ctr"/>
            <a:r>
              <a:rPr lang="en-US" sz="1500" b="1" dirty="0">
                <a:solidFill>
                  <a:srgbClr val="C8A265"/>
                </a:solidFill>
                <a:latin typeface="Cambria"/>
              </a:rPr>
              <a:t>IK</a:t>
            </a:r>
            <a:endParaRPr sz="1500" b="1" i="0" dirty="0">
              <a:solidFill>
                <a:srgbClr val="C8A265"/>
              </a:solidFill>
              <a:latin typeface="Cambria"/>
            </a:endParaRPr>
          </a:p>
        </p:txBody>
      </p:sp>
      <p:sp>
        <p:nvSpPr>
          <p:cNvPr id="20" name="TextBox 19"/>
          <p:cNvSpPr txBox="1"/>
          <p:nvPr/>
        </p:nvSpPr>
        <p:spPr>
          <a:xfrm>
            <a:off x="5266944" y="3310128"/>
            <a:ext cx="1691640" cy="210763"/>
          </a:xfrm>
          <a:prstGeom prst="rect">
            <a:avLst/>
          </a:prstGeom>
          <a:noFill/>
        </p:spPr>
        <p:txBody>
          <a:bodyPr wrap="square" lIns="0" tIns="0" rIns="0" bIns="0" anchor="t">
            <a:spAutoFit/>
          </a:bodyPr>
          <a:lstStyle/>
          <a:p>
            <a:pPr algn="l">
              <a:lnSpc>
                <a:spcPct val="110000"/>
              </a:lnSpc>
            </a:pPr>
            <a:r>
              <a:rPr lang="en-US" sz="1350" b="1" dirty="0">
                <a:solidFill>
                  <a:srgbClr val="0A1733"/>
                </a:solidFill>
                <a:latin typeface="Cambria"/>
              </a:rPr>
              <a:t>Islamov Kamoliddin</a:t>
            </a:r>
            <a:endParaRPr sz="1350" b="1" i="0" dirty="0">
              <a:solidFill>
                <a:srgbClr val="0A1733"/>
              </a:solidFill>
              <a:latin typeface="Cambria"/>
            </a:endParaRPr>
          </a:p>
        </p:txBody>
      </p:sp>
      <p:sp>
        <p:nvSpPr>
          <p:cNvPr id="21" name="TextBox 20"/>
          <p:cNvSpPr txBox="1"/>
          <p:nvPr/>
        </p:nvSpPr>
        <p:spPr>
          <a:xfrm>
            <a:off x="5266944" y="3877056"/>
            <a:ext cx="1691640" cy="365760"/>
          </a:xfrm>
          <a:prstGeom prst="rect">
            <a:avLst/>
          </a:prstGeom>
          <a:noFill/>
        </p:spPr>
        <p:txBody>
          <a:bodyPr wrap="square" lIns="0" tIns="0" rIns="0" bIns="0" anchor="t">
            <a:spAutoFit/>
          </a:bodyPr>
          <a:lstStyle/>
          <a:p>
            <a:pPr algn="l">
              <a:lnSpc>
                <a:spcPct val="115000"/>
              </a:lnSpc>
            </a:pPr>
            <a:r>
              <a:rPr sz="1000" b="1" i="0">
                <a:solidFill>
                  <a:srgbClr val="1F6FEB"/>
                </a:solidFill>
                <a:latin typeface="Calibri"/>
              </a:rPr>
              <a:t>Designer / UI-UX</a:t>
            </a:r>
          </a:p>
        </p:txBody>
      </p:sp>
      <p:sp>
        <p:nvSpPr>
          <p:cNvPr id="22" name="TextBox 21"/>
          <p:cNvSpPr txBox="1"/>
          <p:nvPr/>
        </p:nvSpPr>
        <p:spPr>
          <a:xfrm>
            <a:off x="5266944" y="4297680"/>
            <a:ext cx="1691640" cy="841248"/>
          </a:xfrm>
          <a:prstGeom prst="rect">
            <a:avLst/>
          </a:prstGeom>
          <a:noFill/>
        </p:spPr>
        <p:txBody>
          <a:bodyPr wrap="square" lIns="0" tIns="0" rIns="0" bIns="0" anchor="t">
            <a:spAutoFit/>
          </a:bodyPr>
          <a:lstStyle/>
          <a:p>
            <a:pPr algn="l">
              <a:lnSpc>
                <a:spcPct val="126000"/>
              </a:lnSpc>
            </a:pPr>
            <a:r>
              <a:rPr sz="1050" b="0" i="0" dirty="0">
                <a:solidFill>
                  <a:srgbClr val="5C6B87"/>
                </a:solidFill>
                <a:latin typeface="Calibri"/>
              </a:rPr>
              <a:t>Design system, </a:t>
            </a:r>
            <a:r>
              <a:rPr sz="1050" b="0" i="0" dirty="0" err="1">
                <a:solidFill>
                  <a:srgbClr val="5C6B87"/>
                </a:solidFill>
                <a:latin typeface="Calibri"/>
              </a:rPr>
              <a:t>ikki</a:t>
            </a:r>
            <a:r>
              <a:rPr sz="1050" b="0" i="0" dirty="0">
                <a:solidFill>
                  <a:srgbClr val="5C6B87"/>
                </a:solidFill>
                <a:latin typeface="Calibri"/>
              </a:rPr>
              <a:t> </a:t>
            </a:r>
            <a:r>
              <a:rPr sz="1050" b="0" i="0" dirty="0" err="1">
                <a:solidFill>
                  <a:srgbClr val="5C6B87"/>
                </a:solidFill>
                <a:latin typeface="Calibri"/>
              </a:rPr>
              <a:t>tilli</a:t>
            </a:r>
            <a:r>
              <a:rPr sz="1050" b="0" i="0" dirty="0">
                <a:solidFill>
                  <a:srgbClr val="5C6B87"/>
                </a:solidFill>
                <a:latin typeface="Calibri"/>
              </a:rPr>
              <a:t> </a:t>
            </a:r>
            <a:r>
              <a:rPr sz="1050" b="0" i="0" dirty="0" err="1">
                <a:solidFill>
                  <a:srgbClr val="5C6B87"/>
                </a:solidFill>
                <a:latin typeface="Calibri"/>
              </a:rPr>
              <a:t>interfeys</a:t>
            </a:r>
            <a:r>
              <a:rPr sz="1050" b="0" i="0" dirty="0">
                <a:solidFill>
                  <a:srgbClr val="5C6B87"/>
                </a:solidFill>
                <a:latin typeface="Calibri"/>
              </a:rPr>
              <a:t> </a:t>
            </a:r>
            <a:r>
              <a:rPr sz="1050" b="0" i="0" dirty="0" err="1">
                <a:solidFill>
                  <a:srgbClr val="5C6B87"/>
                </a:solidFill>
                <a:latin typeface="Calibri"/>
              </a:rPr>
              <a:t>va</a:t>
            </a:r>
            <a:r>
              <a:rPr sz="1050" b="0" i="0" dirty="0">
                <a:solidFill>
                  <a:srgbClr val="5C6B87"/>
                </a:solidFill>
                <a:latin typeface="Calibri"/>
              </a:rPr>
              <a:t> </a:t>
            </a:r>
            <a:r>
              <a:rPr sz="1050" b="0" i="0" dirty="0" err="1">
                <a:solidFill>
                  <a:srgbClr val="5C6B87"/>
                </a:solidFill>
                <a:latin typeface="Calibri"/>
              </a:rPr>
              <a:t>o‘qilishi</a:t>
            </a:r>
            <a:r>
              <a:rPr sz="1050" b="0" i="0" dirty="0">
                <a:solidFill>
                  <a:srgbClr val="5C6B87"/>
                </a:solidFill>
                <a:latin typeface="Calibri"/>
              </a:rPr>
              <a:t> </a:t>
            </a:r>
            <a:r>
              <a:rPr sz="1050" b="0" i="0" dirty="0" err="1">
                <a:solidFill>
                  <a:srgbClr val="5C6B87"/>
                </a:solidFill>
                <a:latin typeface="Calibri"/>
              </a:rPr>
              <a:t>oson</a:t>
            </a:r>
            <a:r>
              <a:rPr sz="1050" b="0" i="0" dirty="0">
                <a:solidFill>
                  <a:srgbClr val="5C6B87"/>
                </a:solidFill>
                <a:latin typeface="Calibri"/>
              </a:rPr>
              <a:t> </a:t>
            </a:r>
            <a:r>
              <a:rPr sz="1050" b="0" i="0" dirty="0" err="1">
                <a:solidFill>
                  <a:srgbClr val="5C6B87"/>
                </a:solidFill>
                <a:latin typeface="Calibri"/>
              </a:rPr>
              <a:t>tipografiya</a:t>
            </a:r>
            <a:r>
              <a:rPr sz="1050" b="0" i="0" dirty="0">
                <a:solidFill>
                  <a:srgbClr val="5C6B87"/>
                </a:solidFill>
                <a:latin typeface="Calibri"/>
              </a:rPr>
              <a:t>.</a:t>
            </a:r>
          </a:p>
        </p:txBody>
      </p:sp>
      <p:sp>
        <p:nvSpPr>
          <p:cNvPr id="23" name="Rounded Rectangle 22"/>
          <p:cNvSpPr/>
          <p:nvPr/>
        </p:nvSpPr>
        <p:spPr>
          <a:xfrm>
            <a:off x="7287768" y="2286000"/>
            <a:ext cx="2112264" cy="2962656"/>
          </a:xfrm>
          <a:prstGeom prst="roundRect">
            <a:avLst>
              <a:gd name="adj" fmla="val 6000"/>
            </a:avLst>
          </a:prstGeom>
          <a:solidFill>
            <a:srgbClr val="F1F4FA"/>
          </a:solidFill>
          <a:ln>
            <a:noFill/>
          </a:ln>
          <a:effectLst>
            <a:outerShdw blurRad="177800" dist="63500" dir="5400000" rotWithShape="0">
              <a:srgbClr val="0A1733">
                <a:alpha val="14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Oval 23"/>
          <p:cNvSpPr/>
          <p:nvPr/>
        </p:nvSpPr>
        <p:spPr>
          <a:xfrm>
            <a:off x="7854696" y="2505456"/>
            <a:ext cx="658368" cy="658368"/>
          </a:xfrm>
          <a:prstGeom prst="ellipse">
            <a:avLst/>
          </a:prstGeom>
          <a:solidFill>
            <a:srgbClr val="0A173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TextBox 24"/>
          <p:cNvSpPr txBox="1"/>
          <p:nvPr/>
        </p:nvSpPr>
        <p:spPr>
          <a:xfrm>
            <a:off x="7836408" y="2713536"/>
            <a:ext cx="658368" cy="230832"/>
          </a:xfrm>
          <a:prstGeom prst="rect">
            <a:avLst/>
          </a:prstGeom>
          <a:noFill/>
        </p:spPr>
        <p:txBody>
          <a:bodyPr wrap="square" lIns="0" tIns="0" rIns="0" bIns="0" anchor="ctr">
            <a:spAutoFit/>
          </a:bodyPr>
          <a:lstStyle/>
          <a:p>
            <a:pPr algn="ctr"/>
            <a:r>
              <a:rPr lang="en-US" sz="1500" b="1" i="0" dirty="0">
                <a:solidFill>
                  <a:srgbClr val="C8A265"/>
                </a:solidFill>
                <a:latin typeface="Cambria"/>
              </a:rPr>
              <a:t>RA</a:t>
            </a:r>
            <a:endParaRPr sz="1500" b="1" i="0" dirty="0">
              <a:solidFill>
                <a:srgbClr val="C8A265"/>
              </a:solidFill>
              <a:latin typeface="Cambria"/>
            </a:endParaRPr>
          </a:p>
        </p:txBody>
      </p:sp>
      <p:sp>
        <p:nvSpPr>
          <p:cNvPr id="26" name="TextBox 25"/>
          <p:cNvSpPr txBox="1"/>
          <p:nvPr/>
        </p:nvSpPr>
        <p:spPr>
          <a:xfrm>
            <a:off x="7507224" y="3310128"/>
            <a:ext cx="1691640" cy="439287"/>
          </a:xfrm>
          <a:prstGeom prst="rect">
            <a:avLst/>
          </a:prstGeom>
          <a:noFill/>
        </p:spPr>
        <p:txBody>
          <a:bodyPr wrap="square" lIns="0" tIns="0" rIns="0" bIns="0" anchor="t">
            <a:spAutoFit/>
          </a:bodyPr>
          <a:lstStyle/>
          <a:p>
            <a:pPr algn="ctr">
              <a:lnSpc>
                <a:spcPct val="110000"/>
              </a:lnSpc>
            </a:pPr>
            <a:r>
              <a:rPr lang="en-US" sz="1350" b="1" dirty="0" err="1">
                <a:solidFill>
                  <a:srgbClr val="0A1733"/>
                </a:solidFill>
                <a:latin typeface="Cambria"/>
              </a:rPr>
              <a:t>Raxmatullayev</a:t>
            </a:r>
            <a:r>
              <a:rPr lang="en-US" sz="1350" b="1" dirty="0">
                <a:solidFill>
                  <a:srgbClr val="0A1733"/>
                </a:solidFill>
                <a:latin typeface="Cambria"/>
              </a:rPr>
              <a:t> Abdulla</a:t>
            </a:r>
            <a:endParaRPr sz="1350" b="1" i="0" dirty="0">
              <a:solidFill>
                <a:srgbClr val="0A1733"/>
              </a:solidFill>
              <a:latin typeface="Cambria"/>
            </a:endParaRPr>
          </a:p>
        </p:txBody>
      </p:sp>
      <p:sp>
        <p:nvSpPr>
          <p:cNvPr id="27" name="TextBox 26"/>
          <p:cNvSpPr txBox="1"/>
          <p:nvPr/>
        </p:nvSpPr>
        <p:spPr>
          <a:xfrm>
            <a:off x="7507224" y="3877056"/>
            <a:ext cx="1691640" cy="166584"/>
          </a:xfrm>
          <a:prstGeom prst="rect">
            <a:avLst/>
          </a:prstGeom>
          <a:noFill/>
        </p:spPr>
        <p:txBody>
          <a:bodyPr wrap="square" lIns="0" tIns="0" rIns="0" bIns="0" anchor="t">
            <a:spAutoFit/>
          </a:bodyPr>
          <a:lstStyle/>
          <a:p>
            <a:pPr algn="l">
              <a:lnSpc>
                <a:spcPct val="115000"/>
              </a:lnSpc>
            </a:pPr>
            <a:r>
              <a:rPr lang="uz-Latn-UZ" sz="1000" b="1" i="0" dirty="0">
                <a:solidFill>
                  <a:srgbClr val="1F6FEB"/>
                </a:solidFill>
                <a:latin typeface="Calibri"/>
              </a:rPr>
              <a:t>Business &amp; Growth Analyst</a:t>
            </a:r>
            <a:endParaRPr sz="1000" b="1" i="0" dirty="0">
              <a:solidFill>
                <a:srgbClr val="1F6FEB"/>
              </a:solidFill>
              <a:latin typeface="Calibri"/>
            </a:endParaRPr>
          </a:p>
        </p:txBody>
      </p:sp>
      <p:sp>
        <p:nvSpPr>
          <p:cNvPr id="28" name="TextBox 27"/>
          <p:cNvSpPr txBox="1"/>
          <p:nvPr/>
        </p:nvSpPr>
        <p:spPr>
          <a:xfrm>
            <a:off x="7507224" y="4297680"/>
            <a:ext cx="1691640" cy="595419"/>
          </a:xfrm>
          <a:prstGeom prst="rect">
            <a:avLst/>
          </a:prstGeom>
          <a:noFill/>
        </p:spPr>
        <p:txBody>
          <a:bodyPr wrap="square" lIns="0" tIns="0" rIns="0" bIns="0" anchor="t">
            <a:spAutoFit/>
          </a:bodyPr>
          <a:lstStyle/>
          <a:p>
            <a:pPr algn="l">
              <a:lnSpc>
                <a:spcPct val="126000"/>
              </a:lnSpc>
            </a:pPr>
            <a:r>
              <a:rPr lang="en-US" sz="1050" b="0" i="0" dirty="0" err="1">
                <a:solidFill>
                  <a:srgbClr val="5C6B87"/>
                </a:solidFill>
                <a:latin typeface="Calibri"/>
              </a:rPr>
              <a:t>Monetizatsiya</a:t>
            </a:r>
            <a:r>
              <a:rPr lang="en-US" sz="1050" b="0" i="0" dirty="0">
                <a:solidFill>
                  <a:srgbClr val="5C6B87"/>
                </a:solidFill>
                <a:latin typeface="Calibri"/>
              </a:rPr>
              <a:t>, unit economics, lawyer onboarding, partnerships, market strategy</a:t>
            </a:r>
            <a:endParaRPr sz="1050" b="0" i="0" dirty="0">
              <a:solidFill>
                <a:srgbClr val="5C6B87"/>
              </a:solidFill>
              <a:latin typeface="Calibri"/>
            </a:endParaRPr>
          </a:p>
        </p:txBody>
      </p:sp>
      <p:sp>
        <p:nvSpPr>
          <p:cNvPr id="29" name="Rounded Rectangle 28"/>
          <p:cNvSpPr/>
          <p:nvPr/>
        </p:nvSpPr>
        <p:spPr>
          <a:xfrm>
            <a:off x="9528048" y="2286000"/>
            <a:ext cx="2112264" cy="2962656"/>
          </a:xfrm>
          <a:prstGeom prst="roundRect">
            <a:avLst>
              <a:gd name="adj" fmla="val 6000"/>
            </a:avLst>
          </a:prstGeom>
          <a:solidFill>
            <a:srgbClr val="F1F4FA"/>
          </a:solidFill>
          <a:ln>
            <a:noFill/>
          </a:ln>
          <a:effectLst>
            <a:outerShdw blurRad="177800" dist="63500" dir="5400000" rotWithShape="0">
              <a:srgbClr val="0A1733">
                <a:alpha val="14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0" name="Oval 29"/>
          <p:cNvSpPr/>
          <p:nvPr/>
        </p:nvSpPr>
        <p:spPr>
          <a:xfrm>
            <a:off x="10076688" y="2496312"/>
            <a:ext cx="658368" cy="658368"/>
          </a:xfrm>
          <a:prstGeom prst="ellipse">
            <a:avLst/>
          </a:prstGeom>
          <a:solidFill>
            <a:srgbClr val="0A173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dirty="0"/>
          </a:p>
        </p:txBody>
      </p:sp>
      <p:sp>
        <p:nvSpPr>
          <p:cNvPr id="31" name="TextBox 30"/>
          <p:cNvSpPr txBox="1"/>
          <p:nvPr/>
        </p:nvSpPr>
        <p:spPr>
          <a:xfrm>
            <a:off x="10076688" y="2719224"/>
            <a:ext cx="658368" cy="230832"/>
          </a:xfrm>
          <a:prstGeom prst="rect">
            <a:avLst/>
          </a:prstGeom>
          <a:noFill/>
        </p:spPr>
        <p:txBody>
          <a:bodyPr wrap="square" lIns="0" tIns="0" rIns="0" bIns="0" anchor="ctr">
            <a:spAutoFit/>
          </a:bodyPr>
          <a:lstStyle/>
          <a:p>
            <a:pPr algn="ctr"/>
            <a:r>
              <a:rPr lang="en-US" sz="1500" b="1" dirty="0">
                <a:solidFill>
                  <a:srgbClr val="C8A265"/>
                </a:solidFill>
                <a:latin typeface="Cambria"/>
              </a:rPr>
              <a:t>AE</a:t>
            </a:r>
            <a:endParaRPr sz="1500" b="1" i="0" dirty="0">
              <a:solidFill>
                <a:srgbClr val="C8A265"/>
              </a:solidFill>
              <a:latin typeface="Cambria"/>
            </a:endParaRPr>
          </a:p>
        </p:txBody>
      </p:sp>
      <p:sp>
        <p:nvSpPr>
          <p:cNvPr id="32" name="TextBox 31"/>
          <p:cNvSpPr txBox="1"/>
          <p:nvPr/>
        </p:nvSpPr>
        <p:spPr>
          <a:xfrm>
            <a:off x="9747504" y="3310128"/>
            <a:ext cx="1691640" cy="210763"/>
          </a:xfrm>
          <a:prstGeom prst="rect">
            <a:avLst/>
          </a:prstGeom>
          <a:noFill/>
        </p:spPr>
        <p:txBody>
          <a:bodyPr wrap="square" lIns="0" tIns="0" rIns="0" bIns="0" anchor="t">
            <a:spAutoFit/>
          </a:bodyPr>
          <a:lstStyle/>
          <a:p>
            <a:pPr algn="l">
              <a:lnSpc>
                <a:spcPct val="110000"/>
              </a:lnSpc>
            </a:pPr>
            <a:r>
              <a:rPr lang="en-US" sz="1350" b="1" dirty="0" err="1">
                <a:solidFill>
                  <a:srgbClr val="0A1733"/>
                </a:solidFill>
                <a:latin typeface="Cambria"/>
              </a:rPr>
              <a:t>Aliqulova</a:t>
            </a:r>
            <a:r>
              <a:rPr lang="en-US" sz="1350" b="1" dirty="0">
                <a:solidFill>
                  <a:srgbClr val="0A1733"/>
                </a:solidFill>
                <a:latin typeface="Cambria"/>
              </a:rPr>
              <a:t> </a:t>
            </a:r>
            <a:r>
              <a:rPr lang="en-US" sz="1350" b="1" dirty="0" err="1">
                <a:solidFill>
                  <a:srgbClr val="0A1733"/>
                </a:solidFill>
                <a:latin typeface="Cambria"/>
              </a:rPr>
              <a:t>E’zoza</a:t>
            </a:r>
            <a:endParaRPr sz="1350" b="1" i="0" dirty="0">
              <a:solidFill>
                <a:srgbClr val="0A1733"/>
              </a:solidFill>
              <a:latin typeface="Cambria"/>
            </a:endParaRPr>
          </a:p>
        </p:txBody>
      </p:sp>
      <p:sp>
        <p:nvSpPr>
          <p:cNvPr id="33" name="TextBox 32"/>
          <p:cNvSpPr txBox="1"/>
          <p:nvPr/>
        </p:nvSpPr>
        <p:spPr>
          <a:xfrm>
            <a:off x="9747504" y="3877056"/>
            <a:ext cx="1691640" cy="365760"/>
          </a:xfrm>
          <a:prstGeom prst="rect">
            <a:avLst/>
          </a:prstGeom>
          <a:noFill/>
        </p:spPr>
        <p:txBody>
          <a:bodyPr wrap="square" lIns="0" tIns="0" rIns="0" bIns="0" anchor="t">
            <a:spAutoFit/>
          </a:bodyPr>
          <a:lstStyle/>
          <a:p>
            <a:pPr algn="l">
              <a:lnSpc>
                <a:spcPct val="115000"/>
              </a:lnSpc>
            </a:pPr>
            <a:r>
              <a:rPr sz="1000" b="1" i="0" dirty="0">
                <a:solidFill>
                  <a:srgbClr val="1F6FEB"/>
                </a:solidFill>
                <a:latin typeface="Calibri"/>
              </a:rPr>
              <a:t>Pitcher / Growth</a:t>
            </a:r>
          </a:p>
        </p:txBody>
      </p:sp>
      <p:sp>
        <p:nvSpPr>
          <p:cNvPr id="34" name="TextBox 33"/>
          <p:cNvSpPr txBox="1"/>
          <p:nvPr/>
        </p:nvSpPr>
        <p:spPr>
          <a:xfrm>
            <a:off x="9747504" y="4297680"/>
            <a:ext cx="1691640" cy="595419"/>
          </a:xfrm>
          <a:prstGeom prst="rect">
            <a:avLst/>
          </a:prstGeom>
          <a:noFill/>
        </p:spPr>
        <p:txBody>
          <a:bodyPr wrap="square" lIns="0" tIns="0" rIns="0" bIns="0" anchor="t">
            <a:spAutoFit/>
          </a:bodyPr>
          <a:lstStyle/>
          <a:p>
            <a:pPr algn="l">
              <a:lnSpc>
                <a:spcPct val="126000"/>
              </a:lnSpc>
            </a:pPr>
            <a:r>
              <a:rPr lang="uz-Latn-UZ" sz="1050" b="0" i="0" dirty="0">
                <a:solidFill>
                  <a:srgbClr val="5C6B87"/>
                </a:solidFill>
                <a:latin typeface="Calibri"/>
              </a:rPr>
              <a:t>Huquqiy mazmun, legal terminology, user ehtiyojlarini tushunish, yuridik workflow</a:t>
            </a:r>
            <a:endParaRPr sz="1050" b="0" i="0" dirty="0">
              <a:solidFill>
                <a:srgbClr val="5C6B87"/>
              </a:solidFill>
              <a:latin typeface="Calibri"/>
            </a:endParaRPr>
          </a:p>
        </p:txBody>
      </p:sp>
      <p:sp>
        <p:nvSpPr>
          <p:cNvPr id="35" name="Rounded Rectangle 34"/>
          <p:cNvSpPr/>
          <p:nvPr/>
        </p:nvSpPr>
        <p:spPr>
          <a:xfrm>
            <a:off x="566928" y="5449824"/>
            <a:ext cx="11055096" cy="786384"/>
          </a:xfrm>
          <a:prstGeom prst="roundRect">
            <a:avLst>
              <a:gd name="adj" fmla="val 7000"/>
            </a:avLst>
          </a:prstGeom>
          <a:solidFill>
            <a:srgbClr val="0A1733"/>
          </a:solidFill>
          <a:ln>
            <a:noFill/>
          </a:ln>
          <a:effectLst>
            <a:outerShdw blurRad="177800" dist="63500" dir="5400000" rotWithShape="0">
              <a:srgbClr val="0A1733">
                <a:alpha val="14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6" name="Isosceles Triangle 35"/>
          <p:cNvSpPr/>
          <p:nvPr/>
        </p:nvSpPr>
        <p:spPr>
          <a:xfrm rot="5400000">
            <a:off x="859536" y="5779008"/>
            <a:ext cx="118872" cy="136702"/>
          </a:xfrm>
          <a:prstGeom prst="triangle">
            <a:avLst/>
          </a:prstGeom>
          <a:solidFill>
            <a:srgbClr val="C8A26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7" name="TextBox 36"/>
          <p:cNvSpPr txBox="1"/>
          <p:nvPr/>
        </p:nvSpPr>
        <p:spPr>
          <a:xfrm>
            <a:off x="1170432" y="5522976"/>
            <a:ext cx="10241280" cy="640080"/>
          </a:xfrm>
          <a:prstGeom prst="rect">
            <a:avLst/>
          </a:prstGeom>
          <a:noFill/>
        </p:spPr>
        <p:txBody>
          <a:bodyPr wrap="square" lIns="0" tIns="0" rIns="0" bIns="0" anchor="ctr">
            <a:spAutoFit/>
          </a:bodyPr>
          <a:lstStyle/>
          <a:p>
            <a:pPr algn="l">
              <a:lnSpc>
                <a:spcPct val="124000"/>
              </a:lnSpc>
            </a:pPr>
            <a:r>
              <a:rPr sz="1250" b="0" i="0">
                <a:solidFill>
                  <a:srgbClr val="FFFFFF"/>
                </a:solidFill>
                <a:latin typeface="Calibri"/>
              </a:rPr>
              <a:t>Ochiq bo‘shliq: jamoada litsenziyalangan advokat yo‘q. Shu sababli huquqiy to‘g‘rilik kodga qurilgan; pilotda 2–3 tasdiqlangan advokat domen maslahatchisi bo‘ladi.</a:t>
            </a:r>
          </a:p>
        </p:txBody>
      </p:sp>
      <p:sp>
        <p:nvSpPr>
          <p:cNvPr id="38" name="TextBox 37"/>
          <p:cNvSpPr txBox="1"/>
          <p:nvPr/>
        </p:nvSpPr>
        <p:spPr>
          <a:xfrm>
            <a:off x="566928" y="6382512"/>
            <a:ext cx="11064240" cy="147284"/>
          </a:xfrm>
          <a:prstGeom prst="rect">
            <a:avLst/>
          </a:prstGeom>
          <a:noFill/>
        </p:spPr>
        <p:txBody>
          <a:bodyPr wrap="square" lIns="0" tIns="0" rIns="0" bIns="0" anchor="t">
            <a:spAutoFit/>
          </a:bodyPr>
          <a:lstStyle/>
          <a:p>
            <a:pPr algn="l">
              <a:lnSpc>
                <a:spcPct val="105000"/>
              </a:lnSpc>
            </a:pPr>
            <a:r>
              <a:rPr sz="950" b="0" i="0" dirty="0" err="1">
                <a:solidFill>
                  <a:srgbClr val="5C6B87"/>
                </a:solidFill>
                <a:latin typeface="Calibri"/>
              </a:rPr>
              <a:t>Rollar</a:t>
            </a:r>
            <a:r>
              <a:rPr sz="950" b="0" i="0" dirty="0">
                <a:solidFill>
                  <a:srgbClr val="5C6B87"/>
                </a:solidFill>
                <a:latin typeface="Calibri"/>
              </a:rPr>
              <a:t> </a:t>
            </a:r>
            <a:r>
              <a:rPr sz="950" b="0" i="0" dirty="0" err="1">
                <a:solidFill>
                  <a:srgbClr val="5C6B87"/>
                </a:solidFill>
                <a:latin typeface="Calibri"/>
              </a:rPr>
              <a:t>va</a:t>
            </a:r>
            <a:r>
              <a:rPr sz="950" b="0" i="0" dirty="0">
                <a:solidFill>
                  <a:srgbClr val="5C6B87"/>
                </a:solidFill>
                <a:latin typeface="Calibri"/>
              </a:rPr>
              <a:t> </a:t>
            </a:r>
            <a:r>
              <a:rPr sz="950" b="0" i="0" dirty="0" err="1">
                <a:solidFill>
                  <a:srgbClr val="5C6B87"/>
                </a:solidFill>
                <a:latin typeface="Calibri"/>
              </a:rPr>
              <a:t>tajriba</a:t>
            </a:r>
            <a:r>
              <a:rPr sz="950" b="0" i="0" dirty="0">
                <a:solidFill>
                  <a:srgbClr val="5C6B87"/>
                </a:solidFill>
                <a:latin typeface="Calibri"/>
              </a:rPr>
              <a:t> — </a:t>
            </a:r>
            <a:r>
              <a:rPr sz="950" b="0" i="0" dirty="0" err="1">
                <a:solidFill>
                  <a:srgbClr val="5C6B87"/>
                </a:solidFill>
                <a:latin typeface="Calibri"/>
              </a:rPr>
              <a:t>jamoa</a:t>
            </a:r>
            <a:r>
              <a:rPr sz="950" b="0" i="0" dirty="0">
                <a:solidFill>
                  <a:srgbClr val="5C6B87"/>
                </a:solidFill>
                <a:latin typeface="Calibri"/>
              </a:rPr>
              <a:t> </a:t>
            </a:r>
            <a:r>
              <a:rPr sz="950" b="0" i="0" dirty="0" err="1">
                <a:solidFill>
                  <a:srgbClr val="5C6B87"/>
                </a:solidFill>
                <a:latin typeface="Calibri"/>
              </a:rPr>
              <a:t>tomonidan</a:t>
            </a:r>
            <a:r>
              <a:rPr sz="950" b="0" i="0" dirty="0">
                <a:solidFill>
                  <a:srgbClr val="5C6B87"/>
                </a:solidFill>
                <a:latin typeface="Calibri"/>
              </a:rPr>
              <a:t> </a:t>
            </a:r>
            <a:r>
              <a:rPr sz="950" b="0" i="0" dirty="0" err="1">
                <a:solidFill>
                  <a:srgbClr val="5C6B87"/>
                </a:solidFill>
                <a:latin typeface="Calibri"/>
              </a:rPr>
              <a:t>berilgan</a:t>
            </a:r>
            <a:r>
              <a:rPr sz="950" b="0" i="0" dirty="0">
                <a:solidFill>
                  <a:srgbClr val="5C6B87"/>
                </a:solidFill>
                <a:latin typeface="Calibri"/>
              </a:rPr>
              <a:t> </a:t>
            </a:r>
            <a:r>
              <a:rPr sz="950" b="0" i="0" dirty="0" err="1">
                <a:solidFill>
                  <a:srgbClr val="5C6B87"/>
                </a:solidFill>
                <a:latin typeface="Calibri"/>
              </a:rPr>
              <a:t>ma’lumot</a:t>
            </a:r>
            <a:r>
              <a:rPr sz="950" b="0" i="0" dirty="0">
                <a:solidFill>
                  <a:srgbClr val="5C6B87"/>
                </a:solidFill>
                <a:latin typeface="Calibri"/>
              </a:rPr>
              <a:t>.</a:t>
            </a:r>
          </a:p>
        </p:txBody>
      </p:sp>
      <p:pic>
        <p:nvPicPr>
          <p:cNvPr id="40" name="Рисунок 39">
            <a:extLst>
              <a:ext uri="{FF2B5EF4-FFF2-40B4-BE49-F238E27FC236}">
                <a16:creationId xmlns:a16="http://schemas.microsoft.com/office/drawing/2014/main" id="{894A39C0-242C-1B33-B788-782EACB8453C}"/>
              </a:ext>
            </a:extLst>
          </p:cNvPr>
          <p:cNvPicPr>
            <a:picLocks noChangeAspect="1"/>
          </p:cNvPicPr>
          <p:nvPr/>
        </p:nvPicPr>
        <p:blipFill>
          <a:blip r:embed="rId3"/>
          <a:stretch>
            <a:fillRect/>
          </a:stretch>
        </p:blipFill>
        <p:spPr>
          <a:xfrm>
            <a:off x="904919" y="2261922"/>
            <a:ext cx="1091409" cy="1091409"/>
          </a:xfrm>
          <a:prstGeom prst="ellipse">
            <a:avLst/>
          </a:prstGeom>
        </p:spPr>
      </p:pic>
      <p:pic>
        <p:nvPicPr>
          <p:cNvPr id="42" name="Рисунок 41">
            <a:extLst>
              <a:ext uri="{FF2B5EF4-FFF2-40B4-BE49-F238E27FC236}">
                <a16:creationId xmlns:a16="http://schemas.microsoft.com/office/drawing/2014/main" id="{76B0C4D7-B3CA-5F86-7586-FA6B7EFF6A60}"/>
              </a:ext>
            </a:extLst>
          </p:cNvPr>
          <p:cNvPicPr>
            <a:picLocks noChangeAspect="1"/>
          </p:cNvPicPr>
          <p:nvPr/>
        </p:nvPicPr>
        <p:blipFill>
          <a:blip r:embed="rId4"/>
          <a:stretch>
            <a:fillRect/>
          </a:stretch>
        </p:blipFill>
        <p:spPr>
          <a:xfrm>
            <a:off x="2993136" y="2212848"/>
            <a:ext cx="1114100" cy="1122540"/>
          </a:xfrm>
          <a:prstGeom prst="flowChartConnector">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A1733"/>
        </a:solidFill>
        <a:effectLst/>
      </p:bgPr>
    </p:bg>
    <p:spTree>
      <p:nvGrpSpPr>
        <p:cNvPr id="1" name=""/>
        <p:cNvGrpSpPr/>
        <p:nvPr/>
      </p:nvGrpSpPr>
      <p:grpSpPr>
        <a:xfrm>
          <a:off x="0" y="0"/>
          <a:ext cx="0" cy="0"/>
          <a:chOff x="0" y="0"/>
          <a:chExt cx="0" cy="0"/>
        </a:xfrm>
      </p:grpSpPr>
      <p:sp>
        <p:nvSpPr>
          <p:cNvPr id="2" name="TextBox 1"/>
          <p:cNvSpPr txBox="1"/>
          <p:nvPr/>
        </p:nvSpPr>
        <p:spPr>
          <a:xfrm>
            <a:off x="566928" y="457200"/>
            <a:ext cx="5486400" cy="274320"/>
          </a:xfrm>
          <a:prstGeom prst="rect">
            <a:avLst/>
          </a:prstGeom>
          <a:noFill/>
        </p:spPr>
        <p:txBody>
          <a:bodyPr wrap="square" lIns="0" tIns="0" rIns="0" bIns="0" anchor="t">
            <a:spAutoFit/>
          </a:bodyPr>
          <a:lstStyle/>
          <a:p>
            <a:pPr algn="l"/>
            <a:r>
              <a:rPr sz="1150" b="1" i="0" spc="190">
                <a:solidFill>
                  <a:srgbClr val="C8A265"/>
                </a:solidFill>
                <a:latin typeface="Calibri"/>
              </a:rPr>
              <a:t>10  ·  KEYINGI QADAM</a:t>
            </a:r>
          </a:p>
        </p:txBody>
      </p:sp>
      <p:sp>
        <p:nvSpPr>
          <p:cNvPr id="3" name="TextBox 2"/>
          <p:cNvSpPr txBox="1"/>
          <p:nvPr/>
        </p:nvSpPr>
        <p:spPr>
          <a:xfrm>
            <a:off x="566928" y="1417320"/>
            <a:ext cx="6949440" cy="2651760"/>
          </a:xfrm>
          <a:prstGeom prst="rect">
            <a:avLst/>
          </a:prstGeom>
          <a:noFill/>
        </p:spPr>
        <p:txBody>
          <a:bodyPr wrap="square" lIns="0" tIns="0" rIns="0" bIns="0" anchor="t">
            <a:spAutoFit/>
          </a:bodyPr>
          <a:lstStyle/>
          <a:p>
            <a:pPr algn="l">
              <a:spcAft>
                <a:spcPts val="600"/>
              </a:spcAft>
            </a:pPr>
            <a:r>
              <a:rPr sz="2600" b="0" i="0">
                <a:solidFill>
                  <a:srgbClr val="9FB0CE"/>
                </a:solidFill>
                <a:latin typeface="Cambria"/>
              </a:rPr>
              <a:t>Bugun har 100 fuqarodan</a:t>
            </a:r>
          </a:p>
          <a:p>
            <a:pPr algn="l">
              <a:lnSpc>
                <a:spcPct val="98000"/>
              </a:lnSpc>
              <a:spcAft>
                <a:spcPts val="1000"/>
              </a:spcAft>
            </a:pPr>
            <a:r>
              <a:rPr sz="3800" b="1" i="0">
                <a:solidFill>
                  <a:srgbClr val="FFFFFF"/>
                </a:solidFill>
                <a:latin typeface="Cambria"/>
              </a:rPr>
              <a:t>9 tasi advokatga yetib boradi.</a:t>
            </a:r>
          </a:p>
          <a:p>
            <a:pPr algn="l">
              <a:lnSpc>
                <a:spcPct val="98000"/>
              </a:lnSpc>
            </a:pPr>
            <a:r>
              <a:rPr sz="3800" b="1" i="0">
                <a:solidFill>
                  <a:srgbClr val="C8A265"/>
                </a:solidFill>
                <a:latin typeface="Cambria"/>
              </a:rPr>
              <a:t>Biz qolgan 91 tasi uchun yo‘l quramiz.</a:t>
            </a:r>
          </a:p>
        </p:txBody>
      </p:sp>
      <p:sp>
        <p:nvSpPr>
          <p:cNvPr id="4" name="Rounded Rectangle 3"/>
          <p:cNvSpPr/>
          <p:nvPr/>
        </p:nvSpPr>
        <p:spPr>
          <a:xfrm>
            <a:off x="566928" y="4224528"/>
            <a:ext cx="2898648" cy="214884"/>
          </a:xfrm>
          <a:prstGeom prst="roundRect">
            <a:avLst>
              <a:gd name="adj" fmla="val 50000"/>
            </a:avLst>
          </a:prstGeom>
          <a:noFill/>
          <a:ln w="9525">
            <a:solidFill>
              <a:srgbClr val="1F6FE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630936" y="4219956"/>
            <a:ext cx="2770632" cy="224028"/>
          </a:xfrm>
          <a:prstGeom prst="rect">
            <a:avLst/>
          </a:prstGeom>
          <a:noFill/>
        </p:spPr>
        <p:txBody>
          <a:bodyPr wrap="square" lIns="0" tIns="0" rIns="0" bIns="0" anchor="ctr">
            <a:spAutoFit/>
          </a:bodyPr>
          <a:lstStyle/>
          <a:p>
            <a:pPr algn="ctr"/>
            <a:r>
              <a:rPr sz="800" b="1" i="0" spc="70">
                <a:solidFill>
                  <a:srgbClr val="1F6FEB"/>
                </a:solidFill>
                <a:latin typeface="Calibri"/>
              </a:rPr>
              <a:t>FACT  UNDP 2025 — 8,6% ≈ 9 / 100</a:t>
            </a:r>
          </a:p>
        </p:txBody>
      </p:sp>
      <p:sp>
        <p:nvSpPr>
          <p:cNvPr id="6" name="Isosceles Triangle 5"/>
          <p:cNvSpPr/>
          <p:nvPr/>
        </p:nvSpPr>
        <p:spPr>
          <a:xfrm rot="5400000">
            <a:off x="585216" y="4864608"/>
            <a:ext cx="109728" cy="126187"/>
          </a:xfrm>
          <a:prstGeom prst="triangle">
            <a:avLst/>
          </a:prstGeom>
          <a:solidFill>
            <a:srgbClr val="C8A26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859536" y="4736592"/>
            <a:ext cx="6583680" cy="822960"/>
          </a:xfrm>
          <a:prstGeom prst="rect">
            <a:avLst/>
          </a:prstGeom>
          <a:noFill/>
        </p:spPr>
        <p:txBody>
          <a:bodyPr wrap="square" lIns="0" tIns="0" rIns="0" bIns="0" anchor="t">
            <a:spAutoFit/>
          </a:bodyPr>
          <a:lstStyle/>
          <a:p>
            <a:pPr algn="l">
              <a:lnSpc>
                <a:spcPct val="130000"/>
              </a:lnSpc>
            </a:pPr>
            <a:r>
              <a:rPr sz="1500" b="0" i="0">
                <a:solidFill>
                  <a:srgbClr val="D8E1F2"/>
                </a:solidFill>
                <a:latin typeface="Calibri"/>
              </a:rPr>
              <a:t>LexHub yana bitta huquqiy chatbot emas. Bu — fuqaro bilan huquqiy tizim o‘rtasidagi ishonchli kirish qatlami.</a:t>
            </a:r>
          </a:p>
        </p:txBody>
      </p:sp>
      <p:sp>
        <p:nvSpPr>
          <p:cNvPr id="8" name="Rounded Rectangle 7"/>
          <p:cNvSpPr/>
          <p:nvPr/>
        </p:nvSpPr>
        <p:spPr>
          <a:xfrm>
            <a:off x="7772400" y="1325880"/>
            <a:ext cx="3858768" cy="4526280"/>
          </a:xfrm>
          <a:prstGeom prst="roundRect">
            <a:avLst>
              <a:gd name="adj" fmla="val 5000"/>
            </a:avLst>
          </a:prstGeom>
          <a:solidFill>
            <a:srgbClr val="132447"/>
          </a:solidFill>
          <a:ln>
            <a:noFill/>
          </a:ln>
          <a:effectLst>
            <a:outerShdw blurRad="177800" dist="63500" dir="5400000" rotWithShape="0">
              <a:srgbClr val="0A1733">
                <a:alpha val="14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8065008" y="1591056"/>
            <a:ext cx="3291840" cy="274320"/>
          </a:xfrm>
          <a:prstGeom prst="rect">
            <a:avLst/>
          </a:prstGeom>
          <a:noFill/>
        </p:spPr>
        <p:txBody>
          <a:bodyPr wrap="square" lIns="0" tIns="0" rIns="0" bIns="0" anchor="t">
            <a:spAutoFit/>
          </a:bodyPr>
          <a:lstStyle/>
          <a:p>
            <a:pPr algn="l"/>
            <a:r>
              <a:rPr sz="950" b="1" i="0" spc="150">
                <a:solidFill>
                  <a:srgbClr val="C8A265"/>
                </a:solidFill>
                <a:latin typeface="Calibri"/>
              </a:rPr>
              <a:t>BIZNING SO‘ROVIMIZ</a:t>
            </a:r>
          </a:p>
        </p:txBody>
      </p:sp>
      <p:sp>
        <p:nvSpPr>
          <p:cNvPr id="10" name="Isosceles Triangle 9"/>
          <p:cNvSpPr/>
          <p:nvPr/>
        </p:nvSpPr>
        <p:spPr>
          <a:xfrm rot="5400000">
            <a:off x="8065008" y="2112264"/>
            <a:ext cx="91440" cy="105155"/>
          </a:xfrm>
          <a:prstGeom prst="triangle">
            <a:avLst/>
          </a:prstGeom>
          <a:solidFill>
            <a:srgbClr val="C8A26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8284464" y="2020824"/>
            <a:ext cx="3108960" cy="292608"/>
          </a:xfrm>
          <a:prstGeom prst="rect">
            <a:avLst/>
          </a:prstGeom>
          <a:noFill/>
        </p:spPr>
        <p:txBody>
          <a:bodyPr wrap="square" lIns="0" tIns="0" rIns="0" bIns="0" anchor="t">
            <a:spAutoFit/>
          </a:bodyPr>
          <a:lstStyle/>
          <a:p>
            <a:pPr algn="l">
              <a:lnSpc>
                <a:spcPct val="112000"/>
              </a:lnSpc>
            </a:pPr>
            <a:r>
              <a:rPr sz="1350" b="1" i="0">
                <a:solidFill>
                  <a:srgbClr val="FFFFFF"/>
                </a:solidFill>
                <a:latin typeface="Cambria"/>
              </a:rPr>
              <a:t>Pitch Day g‘olibligi</a:t>
            </a:r>
          </a:p>
        </p:txBody>
      </p:sp>
      <p:sp>
        <p:nvSpPr>
          <p:cNvPr id="12" name="TextBox 11"/>
          <p:cNvSpPr txBox="1"/>
          <p:nvPr/>
        </p:nvSpPr>
        <p:spPr>
          <a:xfrm>
            <a:off x="8284464" y="2505456"/>
            <a:ext cx="3072384" cy="548640"/>
          </a:xfrm>
          <a:prstGeom prst="rect">
            <a:avLst/>
          </a:prstGeom>
          <a:noFill/>
        </p:spPr>
        <p:txBody>
          <a:bodyPr wrap="square" lIns="0" tIns="0" rIns="0" bIns="0" anchor="t">
            <a:spAutoFit/>
          </a:bodyPr>
          <a:lstStyle/>
          <a:p>
            <a:pPr algn="l">
              <a:lnSpc>
                <a:spcPct val="122000"/>
              </a:lnSpc>
            </a:pPr>
            <a:r>
              <a:rPr sz="1100" b="0" i="0" dirty="0" err="1">
                <a:solidFill>
                  <a:srgbClr val="AFBDD6"/>
                </a:solidFill>
                <a:latin typeface="Calibri"/>
              </a:rPr>
              <a:t>va</a:t>
            </a:r>
            <a:r>
              <a:rPr sz="1100" b="0" i="0" dirty="0">
                <a:solidFill>
                  <a:srgbClr val="AFBDD6"/>
                </a:solidFill>
                <a:latin typeface="Calibri"/>
              </a:rPr>
              <a:t> LegalTech compliance </a:t>
            </a:r>
            <a:r>
              <a:rPr sz="1100" b="0" i="0" dirty="0" err="1">
                <a:solidFill>
                  <a:srgbClr val="AFBDD6"/>
                </a:solidFill>
                <a:latin typeface="Calibri"/>
              </a:rPr>
              <a:t>yo‘nalishida</a:t>
            </a:r>
            <a:r>
              <a:rPr sz="1100" b="0" i="0" dirty="0">
                <a:solidFill>
                  <a:srgbClr val="AFBDD6"/>
                </a:solidFill>
                <a:latin typeface="Calibri"/>
              </a:rPr>
              <a:t> </a:t>
            </a:r>
            <a:r>
              <a:rPr sz="1100" b="0" i="0" dirty="0" err="1">
                <a:solidFill>
                  <a:srgbClr val="AFBDD6"/>
                </a:solidFill>
                <a:latin typeface="Calibri"/>
              </a:rPr>
              <a:t>mentorlik</a:t>
            </a:r>
            <a:endParaRPr sz="1100" b="0" i="0" dirty="0">
              <a:solidFill>
                <a:srgbClr val="AFBDD6"/>
              </a:solidFill>
              <a:latin typeface="Calibri"/>
            </a:endParaRPr>
          </a:p>
        </p:txBody>
      </p:sp>
      <p:sp>
        <p:nvSpPr>
          <p:cNvPr id="13" name="Isosceles Triangle 12"/>
          <p:cNvSpPr/>
          <p:nvPr/>
        </p:nvSpPr>
        <p:spPr>
          <a:xfrm rot="5400000">
            <a:off x="8065008" y="3246120"/>
            <a:ext cx="91440" cy="105155"/>
          </a:xfrm>
          <a:prstGeom prst="triangle">
            <a:avLst/>
          </a:prstGeom>
          <a:solidFill>
            <a:srgbClr val="C8A26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TextBox 13"/>
          <p:cNvSpPr txBox="1"/>
          <p:nvPr/>
        </p:nvSpPr>
        <p:spPr>
          <a:xfrm>
            <a:off x="8284464" y="3154680"/>
            <a:ext cx="3108960" cy="292608"/>
          </a:xfrm>
          <a:prstGeom prst="rect">
            <a:avLst/>
          </a:prstGeom>
          <a:noFill/>
        </p:spPr>
        <p:txBody>
          <a:bodyPr wrap="square" lIns="0" tIns="0" rIns="0" bIns="0" anchor="t">
            <a:spAutoFit/>
          </a:bodyPr>
          <a:lstStyle/>
          <a:p>
            <a:pPr algn="l">
              <a:lnSpc>
                <a:spcPct val="112000"/>
              </a:lnSpc>
            </a:pPr>
            <a:r>
              <a:rPr sz="1350" b="1" i="0">
                <a:solidFill>
                  <a:srgbClr val="FFFFFF"/>
                </a:solidFill>
                <a:latin typeface="Cambria"/>
              </a:rPr>
              <a:t>2–3 tasdiqlangan advokat</a:t>
            </a:r>
          </a:p>
        </p:txBody>
      </p:sp>
      <p:sp>
        <p:nvSpPr>
          <p:cNvPr id="15" name="TextBox 14"/>
          <p:cNvSpPr txBox="1"/>
          <p:nvPr/>
        </p:nvSpPr>
        <p:spPr>
          <a:xfrm>
            <a:off x="8284464" y="3639312"/>
            <a:ext cx="3072384" cy="548640"/>
          </a:xfrm>
          <a:prstGeom prst="rect">
            <a:avLst/>
          </a:prstGeom>
          <a:noFill/>
        </p:spPr>
        <p:txBody>
          <a:bodyPr wrap="square" lIns="0" tIns="0" rIns="0" bIns="0" anchor="t">
            <a:spAutoFit/>
          </a:bodyPr>
          <a:lstStyle/>
          <a:p>
            <a:pPr algn="l">
              <a:lnSpc>
                <a:spcPct val="122000"/>
              </a:lnSpc>
            </a:pPr>
            <a:r>
              <a:rPr sz="1100" b="0" i="0">
                <a:solidFill>
                  <a:srgbClr val="AFBDD6"/>
                </a:solidFill>
                <a:latin typeface="Calibri"/>
              </a:rPr>
              <a:t>pilot uchun — advokatura bilan tanishtirish</a:t>
            </a:r>
          </a:p>
        </p:txBody>
      </p:sp>
      <p:sp>
        <p:nvSpPr>
          <p:cNvPr id="16" name="Isosceles Triangle 15"/>
          <p:cNvSpPr/>
          <p:nvPr/>
        </p:nvSpPr>
        <p:spPr>
          <a:xfrm rot="5400000">
            <a:off x="8065008" y="4379976"/>
            <a:ext cx="91440" cy="105155"/>
          </a:xfrm>
          <a:prstGeom prst="triangle">
            <a:avLst/>
          </a:prstGeom>
          <a:solidFill>
            <a:srgbClr val="C8A26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8284464" y="4288536"/>
            <a:ext cx="3108960" cy="292608"/>
          </a:xfrm>
          <a:prstGeom prst="rect">
            <a:avLst/>
          </a:prstGeom>
          <a:noFill/>
        </p:spPr>
        <p:txBody>
          <a:bodyPr wrap="square" lIns="0" tIns="0" rIns="0" bIns="0" anchor="t">
            <a:spAutoFit/>
          </a:bodyPr>
          <a:lstStyle/>
          <a:p>
            <a:pPr algn="l">
              <a:lnSpc>
                <a:spcPct val="112000"/>
              </a:lnSpc>
            </a:pPr>
            <a:r>
              <a:rPr sz="1350" b="1" i="0">
                <a:solidFill>
                  <a:srgbClr val="FFFFFF"/>
                </a:solidFill>
                <a:latin typeface="Cambria"/>
              </a:rPr>
              <a:t>Payme yoki Click test-merchant</a:t>
            </a:r>
          </a:p>
        </p:txBody>
      </p:sp>
      <p:sp>
        <p:nvSpPr>
          <p:cNvPr id="18" name="TextBox 17"/>
          <p:cNvSpPr txBox="1"/>
          <p:nvPr/>
        </p:nvSpPr>
        <p:spPr>
          <a:xfrm>
            <a:off x="8284464" y="4773168"/>
            <a:ext cx="3072384" cy="548640"/>
          </a:xfrm>
          <a:prstGeom prst="rect">
            <a:avLst/>
          </a:prstGeom>
          <a:noFill/>
        </p:spPr>
        <p:txBody>
          <a:bodyPr wrap="square" lIns="0" tIns="0" rIns="0" bIns="0" anchor="t">
            <a:spAutoFit/>
          </a:bodyPr>
          <a:lstStyle/>
          <a:p>
            <a:pPr algn="l">
              <a:lnSpc>
                <a:spcPct val="122000"/>
              </a:lnSpc>
            </a:pPr>
            <a:r>
              <a:rPr sz="1100" b="0" i="0">
                <a:solidFill>
                  <a:srgbClr val="AFBDD6"/>
                </a:solidFill>
                <a:latin typeface="Calibri"/>
              </a:rPr>
              <a:t>to‘lov rails’ni yopish uchun kirish</a:t>
            </a:r>
          </a:p>
        </p:txBody>
      </p:sp>
      <p:sp>
        <p:nvSpPr>
          <p:cNvPr id="19" name="Rectangle 18"/>
          <p:cNvSpPr/>
          <p:nvPr/>
        </p:nvSpPr>
        <p:spPr>
          <a:xfrm>
            <a:off x="8065008" y="5212080"/>
            <a:ext cx="3291840" cy="7315"/>
          </a:xfrm>
          <a:prstGeom prst="rect">
            <a:avLst/>
          </a:prstGeom>
          <a:solidFill>
            <a:srgbClr val="1B306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TextBox 19"/>
          <p:cNvSpPr txBox="1"/>
          <p:nvPr/>
        </p:nvSpPr>
        <p:spPr>
          <a:xfrm>
            <a:off x="8065008" y="5358384"/>
            <a:ext cx="3291840" cy="402336"/>
          </a:xfrm>
          <a:prstGeom prst="rect">
            <a:avLst/>
          </a:prstGeom>
          <a:noFill/>
        </p:spPr>
        <p:txBody>
          <a:bodyPr wrap="square" lIns="0" tIns="0" rIns="0" bIns="0" anchor="t">
            <a:spAutoFit/>
          </a:bodyPr>
          <a:lstStyle/>
          <a:p>
            <a:pPr algn="l">
              <a:lnSpc>
                <a:spcPct val="120000"/>
              </a:lnSpc>
            </a:pPr>
            <a:r>
              <a:rPr sz="1100" b="0" i="1">
                <a:solidFill>
                  <a:srgbClr val="9FB0CE"/>
                </a:solidFill>
                <a:latin typeface="Calibri"/>
              </a:rPr>
              <a:t>Mablag‘ so‘ramaymiz — hozircha kirish va tasdiq kerak.</a:t>
            </a:r>
          </a:p>
        </p:txBody>
      </p:sp>
      <p:sp>
        <p:nvSpPr>
          <p:cNvPr id="21" name="TextBox 20"/>
          <p:cNvSpPr txBox="1"/>
          <p:nvPr/>
        </p:nvSpPr>
        <p:spPr>
          <a:xfrm>
            <a:off x="566928" y="6016752"/>
            <a:ext cx="6949440" cy="365760"/>
          </a:xfrm>
          <a:prstGeom prst="rect">
            <a:avLst/>
          </a:prstGeom>
          <a:noFill/>
        </p:spPr>
        <p:txBody>
          <a:bodyPr wrap="square" lIns="0" tIns="0" rIns="0" bIns="0" anchor="t">
            <a:spAutoFit/>
          </a:bodyPr>
          <a:lstStyle/>
          <a:p>
            <a:pPr algn="l"/>
            <a:r>
              <a:rPr sz="1200" b="1" i="0" spc="80">
                <a:solidFill>
                  <a:srgbClr val="FFFFFF"/>
                </a:solidFill>
                <a:latin typeface="Calibri"/>
              </a:rPr>
              <a:t>LexHub  ·  AXION jamoasi  ·  Pitch Day 2026</a:t>
            </a:r>
          </a:p>
        </p:txBody>
      </p:sp>
      <p:sp>
        <p:nvSpPr>
          <p:cNvPr id="22" name="TextBox 21"/>
          <p:cNvSpPr txBox="1"/>
          <p:nvPr/>
        </p:nvSpPr>
        <p:spPr>
          <a:xfrm>
            <a:off x="566928" y="6382512"/>
            <a:ext cx="11064240" cy="274320"/>
          </a:xfrm>
          <a:prstGeom prst="rect">
            <a:avLst/>
          </a:prstGeom>
          <a:noFill/>
        </p:spPr>
        <p:txBody>
          <a:bodyPr wrap="square" lIns="0" tIns="0" rIns="0" bIns="0" anchor="t">
            <a:spAutoFit/>
          </a:bodyPr>
          <a:lstStyle/>
          <a:p>
            <a:pPr algn="l">
              <a:lnSpc>
                <a:spcPct val="105000"/>
              </a:lnSpc>
            </a:pPr>
            <a:r>
              <a:rPr sz="950" b="0" i="0">
                <a:solidFill>
                  <a:srgbClr val="9FB0CE"/>
                </a:solidFill>
                <a:latin typeface="Calibri"/>
              </a:rPr>
              <a:t>Keyingi 3 oy: to‘lov ulanadi, huquqiy korpus yuklanadi, pilot boshlanadi.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TotalTime>
  <Words>2242</Words>
  <Application>Microsoft Office PowerPoint</Application>
  <PresentationFormat>Широкоэкранный</PresentationFormat>
  <Paragraphs>221</Paragraphs>
  <Slides>10</Slides>
  <Notes>10</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10</vt:i4>
      </vt:variant>
    </vt:vector>
  </HeadingPairs>
  <TitlesOfParts>
    <vt:vector size="14" baseType="lpstr">
      <vt:lpstr>Arial</vt:lpstr>
      <vt:lpstr>Calibri</vt:lpstr>
      <vt:lpstr>Cambria</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O'ktam Pirimov</cp:lastModifiedBy>
  <cp:revision>4</cp:revision>
  <dcterms:created xsi:type="dcterms:W3CDTF">2013-01-27T09:14:16Z</dcterms:created>
  <dcterms:modified xsi:type="dcterms:W3CDTF">2026-08-22T15:37:13Z</dcterms:modified>
  <cp:category/>
</cp:coreProperties>
</file>