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r>
              <a:rPr lang="en" sz="1100" b="1">
                <a:solidFill>
                  <a:srgbClr val="0A1733"/>
                </a:solidFill>
              </a:rPr>
              <a:t>Monthly commission scenarios (million soums)</a:t>
            </a:r>
          </a:p>
        </c:rich>
      </c:tx>
      <c:overlay val="0"/>
    </c:title>
    <c:autoTitleDeleted val="0"/>
    <c:plotArea>
      <c:layout/>
      <c:barChart>
        <c:barDir val="col"/>
        <c:grouping val="clustered"/>
        <c:varyColors val="1"/>
        <c:ser>
          <c:idx val="0"/>
          <c:order val="0"/>
          <c:tx>
            <c:strRef>
              <c:f>Sheet1!$B$1</c:f>
              <c:strCache>
                <c:ptCount val="1"/>
                <c:pt idx="0">
                  <c:v>Oylik komissiya, mln so‘m</c:v>
                </c:pt>
              </c:strCache>
            </c:strRef>
          </c:tx>
          <c:spPr>
            <a:solidFill>
              <a:srgbClr val="1F6FEB"/>
            </a:solidFill>
          </c:spPr>
          <c:invertIfNegative val="1"/>
          <c:dLbls>
            <c:numFmt formatCode="0" sourceLinked="0"/>
            <c:spPr>
              <a:noFill/>
              <a:ln>
                <a:noFill/>
              </a:ln>
              <a:effectLst/>
            </c:spPr>
            <c:txPr>
              <a:bodyPr/>
              <a:lstStyle/>
              <a:p>
                <a:pPr>
                  <a:defRPr sz="1100" b="1">
                    <a:solidFill>
                      <a:srgbClr val="0A1733"/>
                    </a:solidFill>
                  </a:defRPr>
                </a:pPr>
                <a:endParaRPr lang="uz-Latn-UZ"/>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400 konsult.</c:v>
                </c:pt>
                <c:pt idx="1">
                  <c:v>800 konsult.</c:v>
                </c:pt>
                <c:pt idx="2">
                  <c:v>1 600 konsult.</c:v>
                </c:pt>
              </c:strCache>
            </c:strRef>
          </c:cat>
          <c:val>
            <c:numRef>
              <c:f>Sheet1!$B$2:$B$4</c:f>
              <c:numCache>
                <c:formatCode>General</c:formatCode>
                <c:ptCount val="3"/>
                <c:pt idx="0">
                  <c:v>6</c:v>
                </c:pt>
                <c:pt idx="1">
                  <c:v>12</c:v>
                </c:pt>
                <c:pt idx="2">
                  <c:v>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781-4F5A-8E55-8ED58DDBAE9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3E9F5"/>
            </a:solidFill>
          </a:ln>
        </c:spPr>
        <c:txPr>
          <a:bodyPr/>
          <a:lstStyle/>
          <a:p>
            <a:pPr>
              <a:defRPr sz="1000">
                <a:solidFill>
                  <a:srgbClr val="5C6B87"/>
                </a:solidFill>
              </a:defRPr>
            </a:pPr>
            <a:endParaRPr lang="uz-Latn-UZ"/>
          </a:p>
        </c:txPr>
        <c:crossAx val="-2113994440"/>
        <c:crosses val="autoZero"/>
        <c:auto val="1"/>
        <c:lblAlgn val="ctr"/>
        <c:lblOffset val="100"/>
        <c:noMultiLvlLbl val="0"/>
      </c:catAx>
      <c:valAx>
        <c:axId val="-2113994440"/>
        <c:scaling>
          <c:orientation val="minMax"/>
        </c:scaling>
        <c:delete val="0"/>
        <c:axPos val="l"/>
        <c:majorGridlines>
          <c:spPr>
            <a:ln>
              <a:solidFill>
                <a:srgbClr val="E3E9F5"/>
              </a:solidFill>
            </a:ln>
          </c:spPr>
        </c:majorGridlines>
        <c:numFmt formatCode="General" sourceLinked="1"/>
        <c:majorTickMark val="out"/>
        <c:minorTickMark val="none"/>
        <c:tickLblPos val="nextTo"/>
        <c:spPr>
          <a:ln>
            <a:solidFill>
              <a:srgbClr val="E3E9F5"/>
            </a:solidFill>
          </a:ln>
        </c:spPr>
        <c:txPr>
          <a:bodyPr/>
          <a:lstStyle/>
          <a:p>
            <a:pPr>
              <a:defRPr sz="1000">
                <a:solidFill>
                  <a:srgbClr val="5C6B87"/>
                </a:solidFill>
              </a:defRPr>
            </a:pPr>
            <a:endParaRPr lang="uz-Latn-UZ"/>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9165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Our team is AXION. Today we present to you LexHub. Legal aid is available in Uzbekistan: the codes are open, there are lawyers, and state services are digitalized. The problem lies elsewhere - the average citizen does not know how to access this system. We are building this very access path. Let me show you the true scale of the problem in numbers.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number is from the UNDP's 2025 Legal Needs Survey. That is, nine out of ten people will be left alone with a legal problem. And pay attention - the main reason is not lack of knowledge, but lack of knowledge of the price and the way. At the same time, ninety percent of the population is on the Internet. So the problem is not a lack of help, but a lack of a path to it. Let me show you how we built this path.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turned the problem into one continuous flow. The user writes the situation in their own language, in their own words. Then, before going to the AI, personal data is cleaned, deadlines are calculated, and article numbers in the response are checked. And most importantly, the flow does not end with a response, it ends with an action: a petition or a lawyer. Now I will show you why this is not the same as ChatGPT.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frequently asked question: why isn't ChatGPT enough? Because in law, a wrong answer is not a wrong answer, it's a lost cause. General AI can tell you a non-existent article; we check each article number against the actual eight-digit code limit. The deadline is calculated automatically. Personal information is purged before the request goes through. This is a built-in accountability. Now we see it on the user's screen.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Please note — this is not a chat window. The answer is divided into five clear blocks: situation summary, clarifying question, steps, legal basis and risk level. And below is a mandatory warning: this is advice, not a judgment. The advantage is that even a person without legal knowledge can make a decision. Registration is also not required, which means there are no obstacles in the first step. Now I turn to the question: how does this make money?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is very simple: a citizen pays for a lawyer's time, we get a ten percent commission. This number is not on our slide — it is calculated in the database, on the server side, so it cannot be changed through the application. The columns on the right are forecasts, not facts: if a hundred lawyers provide an average of eight consultations per month, the monthly commission will be twelve million soums. And this is less than four percent of the lawyer's daily capacity. The question arises: can others repeat this?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competition and we don’t hide it. A traditional lawyer is reliable, but expensive and long. Lex.uz is official, but an ordinary person cannot read it and understand it. General AI is convenient, but no one is responsible for its response. The upper right quadrant — both convenient and legally reliable — is empty. And a beautiful interface is not enough to occupy it: commission, expert confirmation and payment rules must be forced into the database. Now I will openly tell you at what stage we are.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be honest: we have no users or revenue. The payment system is not yet connected. But we have a working MVP — more than thirty-four thousand lines of code, twenty tables, thirty-six security policies. That is, the most difficult part — legal logic and trust rules — is already built. In the next three months, we will connect the payment and load the corpus, and in the sixth month we will start the pilot. Who will do this?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five people, and each role is tied to a specific part of the product: architecture, interface, design system, unit economics, and growth. I'll be clear about one important thing — there are no licensed lawyers on the team. That's why we've put legal accuracy on the code, not on people: substance review, term calculation, mandatory notice. And in the pilot phase, certified lawyers will join as domain consultants.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will conclude. Today, nine out of a hundred citizens will reach a lawyer. Our goal is to pave the way for the remaining ninety-one. And we are not asking for funds: we need three things now - to be a winner and mentor, two or three proven lawyers for the pilot, and a test entry into the payment system. If these three are met, we will provide the first paid consultation in three months. Thank you, I am ready for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733"/>
        </a:solidFill>
        <a:effectLst/>
      </p:bgPr>
    </p:bg>
    <p:spTree>
      <p:nvGrpSpPr>
        <p:cNvPr id="1" name=""/>
        <p:cNvGrpSpPr/>
        <p:nvPr/>
      </p:nvGrpSpPr>
      <p:grpSpPr>
        <a:xfrm>
          <a:off x="0" y="0"/>
          <a:ext cx="0" cy="0"/>
          <a:chOff x="0" y="0"/>
          <a:chExt cx="0" cy="0"/>
        </a:xfrm>
      </p:grpSpPr>
      <p:sp>
        <p:nvSpPr>
          <p:cNvPr id="2" name="Rounded Rectangle 1"/>
          <p:cNvSpPr/>
          <p:nvPr/>
        </p:nvSpPr>
        <p:spPr>
          <a:xfrm>
            <a:off x="7818120" y="0"/>
            <a:ext cx="4379976" cy="6858000"/>
          </a:xfrm>
          <a:prstGeom prst="roundRect">
            <a:avLst>
              <a:gd name="adj" fmla="val 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Oval 2"/>
          <p:cNvSpPr/>
          <p:nvPr/>
        </p:nvSpPr>
        <p:spPr>
          <a:xfrm>
            <a:off x="8595360" y="1783080"/>
            <a:ext cx="2834640" cy="2834640"/>
          </a:xfrm>
          <a:prstGeom prst="ellipse">
            <a:avLst/>
          </a:prstGeom>
          <a:solidFill>
            <a:srgbClr val="FFFFFF"/>
          </a:solidFill>
          <a:ln w="19050">
            <a:solidFill>
              <a:srgbClr val="C8A26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4" name="Picture 3" descr="logo256.png"/>
          <p:cNvPicPr>
            <a:picLocks noChangeAspect="1"/>
          </p:cNvPicPr>
          <p:nvPr/>
        </p:nvPicPr>
        <p:blipFill>
          <a:blip r:embed="rId3"/>
          <a:stretch>
            <a:fillRect/>
          </a:stretch>
        </p:blipFill>
        <p:spPr>
          <a:xfrm>
            <a:off x="9281160" y="2468880"/>
            <a:ext cx="1463040" cy="1463040"/>
          </a:xfrm>
          <a:prstGeom prst="rect">
            <a:avLst/>
          </a:prstGeom>
        </p:spPr>
      </p:pic>
      <p:sp>
        <p:nvSpPr>
          <p:cNvPr id="5" name="TextBox 4"/>
          <p:cNvSpPr txBox="1"/>
          <p:nvPr/>
        </p:nvSpPr>
        <p:spPr>
          <a:xfrm>
            <a:off x="8275320" y="4956048"/>
            <a:ext cx="3474720" cy="1005840"/>
          </a:xfrm>
          <a:prstGeom prst="rect">
            <a:avLst/>
          </a:prstGeom>
          <a:noFill/>
        </p:spPr>
        <p:txBody>
          <a:bodyPr wrap="square" lIns="0" tIns="0" rIns="0" bIns="0" anchor="t">
            <a:spAutoFit/>
          </a:bodyPr>
          <a:lstStyle/>
          <a:p>
            <a:pPr algn="ctr">
              <a:spcAft>
                <a:spcPts val="400"/>
              </a:spcAft>
            </a:pPr>
            <a:r>
              <a:rPr sz="3000" b="1" i="0">
                <a:solidFill>
                  <a:srgbClr val="FFFFFF"/>
                </a:solidFill>
                <a:latin typeface="Cambria"/>
              </a:rPr>
              <a:t>LexHub</a:t>
            </a:r>
          </a:p>
          <a:p>
            <a:pPr algn="ctr"/>
            <a:r>
              <a:rPr sz="1250" b="0" i="0">
                <a:solidFill>
                  <a:srgbClr val="9FB0CE"/>
                </a:solidFill>
                <a:latin typeface="Calibri"/>
              </a:rPr>
              <a:t>Legal aid access layer</a:t>
            </a:r>
          </a:p>
        </p:txBody>
      </p:sp>
      <p:sp>
        <p:nvSpPr>
          <p:cNvPr id="6" name="TextBox 5"/>
          <p:cNvSpPr txBox="1"/>
          <p:nvPr/>
        </p:nvSpPr>
        <p:spPr>
          <a:xfrm>
            <a:off x="566928" y="658368"/>
            <a:ext cx="5486400" cy="274320"/>
          </a:xfrm>
          <a:prstGeom prst="rect">
            <a:avLst/>
          </a:prstGeom>
          <a:noFill/>
        </p:spPr>
        <p:txBody>
          <a:bodyPr wrap="square" lIns="0" tIns="0" rIns="0" bIns="0" anchor="t">
            <a:spAutoFit/>
          </a:bodyPr>
          <a:lstStyle/>
          <a:p>
            <a:pPr algn="l"/>
            <a:r>
              <a:rPr sz="1150" b="1" i="0" spc="220">
                <a:solidFill>
                  <a:srgbClr val="C8A265"/>
                </a:solidFill>
                <a:latin typeface="Calibri"/>
              </a:rPr>
              <a:t>AXION · PITCH DAY · 2026</a:t>
            </a:r>
          </a:p>
        </p:txBody>
      </p:sp>
      <p:sp>
        <p:nvSpPr>
          <p:cNvPr id="7" name="TextBox 6"/>
          <p:cNvSpPr txBox="1"/>
          <p:nvPr/>
        </p:nvSpPr>
        <p:spPr>
          <a:xfrm>
            <a:off x="566928" y="1572768"/>
            <a:ext cx="6903720" cy="2651760"/>
          </a:xfrm>
          <a:prstGeom prst="rect">
            <a:avLst/>
          </a:prstGeom>
          <a:noFill/>
        </p:spPr>
        <p:txBody>
          <a:bodyPr wrap="square" lIns="0" tIns="0" rIns="0" bIns="0" anchor="t">
            <a:spAutoFit/>
          </a:bodyPr>
          <a:lstStyle/>
          <a:p>
            <a:pPr algn="l">
              <a:lnSpc>
                <a:spcPct val="94000"/>
              </a:lnSpc>
              <a:spcAft>
                <a:spcPts val="200"/>
              </a:spcAft>
            </a:pPr>
            <a:r>
              <a:rPr sz="4300" b="1" i="0">
                <a:solidFill>
                  <a:srgbClr val="FFFFFF"/>
                </a:solidFill>
                <a:latin typeface="Cambria"/>
              </a:rPr>
              <a:t>There is legal help.</a:t>
            </a:r>
          </a:p>
          <a:p>
            <a:pPr algn="l">
              <a:lnSpc>
                <a:spcPct val="94000"/>
              </a:lnSpc>
              <a:spcAft>
                <a:spcPts val="200"/>
              </a:spcAft>
            </a:pPr>
            <a:r>
              <a:rPr sz="4300" b="1" i="0">
                <a:solidFill>
                  <a:srgbClr val="FFFFFF"/>
                </a:solidFill>
                <a:latin typeface="Cambria"/>
              </a:rPr>
              <a:t>Reaching it</a:t>
            </a:r>
          </a:p>
          <a:p>
            <a:pPr algn="l">
              <a:lnSpc>
                <a:spcPct val="94000"/>
              </a:lnSpc>
            </a:pPr>
            <a:r>
              <a:rPr sz="4300" b="1" i="0">
                <a:solidFill>
                  <a:srgbClr val="C8A265"/>
                </a:solidFill>
                <a:latin typeface="Cambria"/>
              </a:rPr>
              <a:t>no way.</a:t>
            </a:r>
          </a:p>
        </p:txBody>
      </p:sp>
      <p:sp>
        <p:nvSpPr>
          <p:cNvPr id="8" name="Isosceles Triangle 7"/>
          <p:cNvSpPr/>
          <p:nvPr/>
        </p:nvSpPr>
        <p:spPr>
          <a:xfrm rot="5400000">
            <a:off x="585216" y="449884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59536" y="4407408"/>
            <a:ext cx="6583680" cy="914400"/>
          </a:xfrm>
          <a:prstGeom prst="rect">
            <a:avLst/>
          </a:prstGeom>
          <a:noFill/>
        </p:spPr>
        <p:txBody>
          <a:bodyPr wrap="square" lIns="0" tIns="0" rIns="0" bIns="0" anchor="t">
            <a:spAutoFit/>
          </a:bodyPr>
          <a:lstStyle/>
          <a:p>
            <a:pPr algn="l">
              <a:lnSpc>
                <a:spcPct val="132000"/>
              </a:lnSpc>
            </a:pPr>
            <a:r>
              <a:rPr sz="1550" b="0" i="0">
                <a:solidFill>
                  <a:srgbClr val="D8E1F2"/>
                </a:solidFill>
                <a:latin typeface="Calibri"/>
              </a:rPr>
              <a:t>LexHub is a mobile platform that allows a citizen to go from understanding their problem to a lawyer who solves it in one flow.</a:t>
            </a:r>
          </a:p>
        </p:txBody>
      </p:sp>
      <p:sp>
        <p:nvSpPr>
          <p:cNvPr id="10" name="TextBox 9"/>
          <p:cNvSpPr txBox="1"/>
          <p:nvPr/>
        </p:nvSpPr>
        <p:spPr>
          <a:xfrm>
            <a:off x="566928" y="5468112"/>
            <a:ext cx="6766560" cy="640080"/>
          </a:xfrm>
          <a:prstGeom prst="rect">
            <a:avLst/>
          </a:prstGeom>
          <a:noFill/>
        </p:spPr>
        <p:txBody>
          <a:bodyPr wrap="square" lIns="0" tIns="0" rIns="0" bIns="0" anchor="t">
            <a:spAutoFit/>
          </a:bodyPr>
          <a:lstStyle/>
          <a:p>
            <a:pPr algn="l">
              <a:lnSpc>
                <a:spcPct val="125000"/>
              </a:lnSpc>
            </a:pPr>
            <a:r>
              <a:rPr sz="1200" b="0" i="0">
                <a:solidFill>
                  <a:srgbClr val="9FB0CE"/>
                </a:solidFill>
                <a:latin typeface="Calibri"/>
              </a:rPr>
              <a:t>AI analysis adapted to Uzbek legislation · verified lawyers · 45-minute consultation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733"/>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02 · PROBLEM</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FFFFFF"/>
                </a:solidFill>
                <a:latin typeface="Cambria"/>
              </a:rPr>
              <a:t>The law is clear. But there is no help.</a:t>
            </a:r>
          </a:p>
        </p:txBody>
      </p:sp>
      <p:sp>
        <p:nvSpPr>
          <p:cNvPr id="4" name="Isosceles Triangle 3"/>
          <p:cNvSpPr/>
          <p:nvPr/>
        </p:nvSpPr>
        <p:spPr>
          <a:xfrm rot="5400000">
            <a:off x="585216" y="1965960"/>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77824" y="1856231"/>
            <a:ext cx="5029200" cy="457200"/>
          </a:xfrm>
          <a:prstGeom prst="rect">
            <a:avLst/>
          </a:prstGeom>
          <a:noFill/>
        </p:spPr>
        <p:txBody>
          <a:bodyPr wrap="square" lIns="0" tIns="0" rIns="0" bIns="0" anchor="t">
            <a:spAutoFit/>
          </a:bodyPr>
          <a:lstStyle/>
          <a:p>
            <a:pPr algn="l"/>
            <a:r>
              <a:rPr sz="1350" b="0" i="0">
                <a:solidFill>
                  <a:srgbClr val="9FB0CE"/>
                </a:solidFill>
                <a:latin typeface="Calibri"/>
              </a:rPr>
              <a:t>From citizens facing legal problems</a:t>
            </a:r>
          </a:p>
        </p:txBody>
      </p:sp>
      <p:sp>
        <p:nvSpPr>
          <p:cNvPr id="6" name="TextBox 5"/>
          <p:cNvSpPr txBox="1"/>
          <p:nvPr/>
        </p:nvSpPr>
        <p:spPr>
          <a:xfrm>
            <a:off x="566928" y="2240280"/>
            <a:ext cx="5120640" cy="1600200"/>
          </a:xfrm>
          <a:prstGeom prst="rect">
            <a:avLst/>
          </a:prstGeom>
          <a:noFill/>
        </p:spPr>
        <p:txBody>
          <a:bodyPr wrap="square" lIns="0" tIns="0" rIns="0" bIns="0" anchor="t">
            <a:spAutoFit/>
          </a:bodyPr>
          <a:lstStyle/>
          <a:p>
            <a:pPr algn="l">
              <a:lnSpc>
                <a:spcPct val="88000"/>
              </a:lnSpc>
            </a:pPr>
            <a:r>
              <a:rPr sz="9600" b="1" i="0">
                <a:solidFill>
                  <a:srgbClr val="C8A265"/>
                </a:solidFill>
                <a:latin typeface="Cambria"/>
              </a:rPr>
              <a:t>8.6%</a:t>
            </a:r>
          </a:p>
        </p:txBody>
      </p:sp>
      <p:sp>
        <p:nvSpPr>
          <p:cNvPr id="7" name="TextBox 6"/>
          <p:cNvSpPr txBox="1"/>
          <p:nvPr/>
        </p:nvSpPr>
        <p:spPr>
          <a:xfrm>
            <a:off x="566928" y="3858768"/>
            <a:ext cx="5029200" cy="822960"/>
          </a:xfrm>
          <a:prstGeom prst="rect">
            <a:avLst/>
          </a:prstGeom>
          <a:noFill/>
        </p:spPr>
        <p:txBody>
          <a:bodyPr wrap="square" lIns="0" tIns="0" rIns="0" bIns="0" anchor="t">
            <a:spAutoFit/>
          </a:bodyPr>
          <a:lstStyle/>
          <a:p>
            <a:pPr algn="l">
              <a:lnSpc>
                <a:spcPct val="130000"/>
              </a:lnSpc>
            </a:pPr>
            <a:r>
              <a:rPr sz="1650" b="0" i="0">
                <a:solidFill>
                  <a:srgbClr val="FFFFFF"/>
                </a:solidFill>
                <a:latin typeface="Calibri"/>
              </a:rPr>
              <a:t>Only a small portion of the population reaches legal aid. The main obstacle is cost.</a:t>
            </a:r>
          </a:p>
        </p:txBody>
      </p:sp>
      <p:sp>
        <p:nvSpPr>
          <p:cNvPr id="8" name="Rounded Rectangle 7"/>
          <p:cNvSpPr/>
          <p:nvPr/>
        </p:nvSpPr>
        <p:spPr>
          <a:xfrm>
            <a:off x="566928" y="4773168"/>
            <a:ext cx="1577340"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30936" y="4768596"/>
            <a:ext cx="1449324" cy="224028"/>
          </a:xfrm>
          <a:prstGeom prst="rect">
            <a:avLst/>
          </a:prstGeom>
          <a:noFill/>
        </p:spPr>
        <p:txBody>
          <a:bodyPr wrap="square" lIns="0" tIns="0" rIns="0" bIns="0" anchor="ctr">
            <a:spAutoFit/>
          </a:bodyPr>
          <a:lstStyle/>
          <a:p>
            <a:pPr algn="ctr"/>
            <a:r>
              <a:rPr sz="800" b="1" i="0" spc="70">
                <a:solidFill>
                  <a:srgbClr val="1F6FEB"/>
                </a:solidFill>
                <a:latin typeface="Calibri"/>
              </a:rPr>
              <a:t>FACT UNDP 2025</a:t>
            </a:r>
          </a:p>
        </p:txBody>
      </p:sp>
      <p:sp>
        <p:nvSpPr>
          <p:cNvPr id="10" name="Isosceles Triangle 9"/>
          <p:cNvSpPr/>
          <p:nvPr/>
        </p:nvSpPr>
        <p:spPr>
          <a:xfrm rot="5400000">
            <a:off x="585216" y="5440680"/>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59536" y="5321808"/>
            <a:ext cx="4892040" cy="914400"/>
          </a:xfrm>
          <a:prstGeom prst="rect">
            <a:avLst/>
          </a:prstGeom>
          <a:noFill/>
        </p:spPr>
        <p:txBody>
          <a:bodyPr wrap="square" lIns="0" tIns="0" rIns="0" bIns="0" anchor="t">
            <a:spAutoFit/>
          </a:bodyPr>
          <a:lstStyle/>
          <a:p>
            <a:pPr algn="l">
              <a:lnSpc>
                <a:spcPct val="128000"/>
              </a:lnSpc>
            </a:pPr>
            <a:r>
              <a:rPr sz="1300" b="0" i="1">
                <a:solidFill>
                  <a:srgbClr val="C8A265"/>
                </a:solidFill>
                <a:latin typeface="Calibri"/>
              </a:rPr>
              <a:t>A citizen loses not money, but rights: the deadline passes, the contract is signed, and the job does not return.</a:t>
            </a:r>
          </a:p>
        </p:txBody>
      </p:sp>
      <p:sp>
        <p:nvSpPr>
          <p:cNvPr id="12" name="Rounded Rectangle 11"/>
          <p:cNvSpPr/>
          <p:nvPr/>
        </p:nvSpPr>
        <p:spPr>
          <a:xfrm>
            <a:off x="6263640" y="1847088"/>
            <a:ext cx="5358384" cy="1371600"/>
          </a:xfrm>
          <a:prstGeom prst="roundRect">
            <a:avLst>
              <a:gd name="adj" fmla="val 6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565392" y="2029968"/>
            <a:ext cx="2240280" cy="1005840"/>
          </a:xfrm>
          <a:prstGeom prst="rect">
            <a:avLst/>
          </a:prstGeom>
          <a:noFill/>
        </p:spPr>
        <p:txBody>
          <a:bodyPr wrap="square" lIns="0" tIns="0" rIns="0" bIns="0" anchor="ctr">
            <a:spAutoFit/>
          </a:bodyPr>
          <a:lstStyle/>
          <a:p>
            <a:pPr algn="l"/>
            <a:r>
              <a:rPr sz="3000" b="1" i="0">
                <a:solidFill>
                  <a:srgbClr val="FFFFFF"/>
                </a:solidFill>
                <a:latin typeface="Cambria"/>
              </a:rPr>
              <a:t>34.9%</a:t>
            </a:r>
          </a:p>
        </p:txBody>
      </p:sp>
      <p:sp>
        <p:nvSpPr>
          <p:cNvPr id="14" name="TextBox 13"/>
          <p:cNvSpPr txBox="1"/>
          <p:nvPr/>
        </p:nvSpPr>
        <p:spPr>
          <a:xfrm>
            <a:off x="8887968" y="2066543"/>
            <a:ext cx="2487168" cy="960120"/>
          </a:xfrm>
          <a:prstGeom prst="rect">
            <a:avLst/>
          </a:prstGeom>
          <a:noFill/>
        </p:spPr>
        <p:txBody>
          <a:bodyPr wrap="square" lIns="0" tIns="0" rIns="0" bIns="0" anchor="ctr">
            <a:spAutoFit/>
          </a:bodyPr>
          <a:lstStyle/>
          <a:p>
            <a:pPr algn="l">
              <a:lnSpc>
                <a:spcPct val="122000"/>
              </a:lnSpc>
            </a:pPr>
            <a:r>
              <a:rPr sz="1250" b="0" i="0">
                <a:solidFill>
                  <a:srgbClr val="C7D3E8"/>
                </a:solidFill>
                <a:latin typeface="Calibri"/>
              </a:rPr>
              <a:t>He says the problem arose "because I didn't understand the law."</a:t>
            </a:r>
          </a:p>
        </p:txBody>
      </p:sp>
      <p:sp>
        <p:nvSpPr>
          <p:cNvPr id="15" name="Rounded Rectangle 14"/>
          <p:cNvSpPr/>
          <p:nvPr/>
        </p:nvSpPr>
        <p:spPr>
          <a:xfrm>
            <a:off x="6263640" y="3374136"/>
            <a:ext cx="5358384" cy="1371600"/>
          </a:xfrm>
          <a:prstGeom prst="roundRect">
            <a:avLst>
              <a:gd name="adj" fmla="val 6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565392" y="3557016"/>
            <a:ext cx="2240280" cy="1005840"/>
          </a:xfrm>
          <a:prstGeom prst="rect">
            <a:avLst/>
          </a:prstGeom>
          <a:noFill/>
        </p:spPr>
        <p:txBody>
          <a:bodyPr wrap="square" lIns="0" tIns="0" rIns="0" bIns="0" anchor="ctr">
            <a:spAutoFit/>
          </a:bodyPr>
          <a:lstStyle/>
          <a:p>
            <a:pPr algn="l"/>
            <a:r>
              <a:rPr sz="3000" b="1" i="0">
                <a:solidFill>
                  <a:srgbClr val="FFFFFF"/>
                </a:solidFill>
                <a:latin typeface="Cambria"/>
              </a:rPr>
              <a:t>14.7%</a:t>
            </a:r>
          </a:p>
        </p:txBody>
      </p:sp>
      <p:sp>
        <p:nvSpPr>
          <p:cNvPr id="17" name="TextBox 16"/>
          <p:cNvSpPr txBox="1"/>
          <p:nvPr/>
        </p:nvSpPr>
        <p:spPr>
          <a:xfrm>
            <a:off x="8887968" y="3593591"/>
            <a:ext cx="2487168" cy="960120"/>
          </a:xfrm>
          <a:prstGeom prst="rect">
            <a:avLst/>
          </a:prstGeom>
          <a:noFill/>
        </p:spPr>
        <p:txBody>
          <a:bodyPr wrap="square" lIns="0" tIns="0" rIns="0" bIns="0" anchor="ctr">
            <a:spAutoFit/>
          </a:bodyPr>
          <a:lstStyle/>
          <a:p>
            <a:pPr algn="l">
              <a:lnSpc>
                <a:spcPct val="122000"/>
              </a:lnSpc>
            </a:pPr>
            <a:r>
              <a:rPr sz="1250" b="0" i="0">
                <a:solidFill>
                  <a:srgbClr val="C7D3E8"/>
                </a:solidFill>
                <a:latin typeface="Calibri"/>
              </a:rPr>
              <a:t>"I didn't know what to do next," he replied.</a:t>
            </a:r>
          </a:p>
        </p:txBody>
      </p:sp>
      <p:sp>
        <p:nvSpPr>
          <p:cNvPr id="18" name="Rounded Rectangle 17"/>
          <p:cNvSpPr/>
          <p:nvPr/>
        </p:nvSpPr>
        <p:spPr>
          <a:xfrm>
            <a:off x="6263640" y="4901183"/>
            <a:ext cx="5358384" cy="1371600"/>
          </a:xfrm>
          <a:prstGeom prst="roundRect">
            <a:avLst>
              <a:gd name="adj" fmla="val 6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565392" y="5084064"/>
            <a:ext cx="2240280" cy="1005840"/>
          </a:xfrm>
          <a:prstGeom prst="rect">
            <a:avLst/>
          </a:prstGeom>
          <a:noFill/>
        </p:spPr>
        <p:txBody>
          <a:bodyPr wrap="square" lIns="0" tIns="0" rIns="0" bIns="0" anchor="ctr">
            <a:spAutoFit/>
          </a:bodyPr>
          <a:lstStyle/>
          <a:p>
            <a:pPr algn="l"/>
            <a:r>
              <a:rPr sz="2700" b="1" i="0">
                <a:solidFill>
                  <a:srgbClr val="FFFFFF"/>
                </a:solidFill>
                <a:latin typeface="Cambria"/>
              </a:rPr>
              <a:t>32.7 million</a:t>
            </a:r>
          </a:p>
        </p:txBody>
      </p:sp>
      <p:sp>
        <p:nvSpPr>
          <p:cNvPr id="20" name="TextBox 19"/>
          <p:cNvSpPr txBox="1"/>
          <p:nvPr/>
        </p:nvSpPr>
        <p:spPr>
          <a:xfrm>
            <a:off x="8887968" y="5120640"/>
            <a:ext cx="2487168" cy="960120"/>
          </a:xfrm>
          <a:prstGeom prst="rect">
            <a:avLst/>
          </a:prstGeom>
          <a:noFill/>
        </p:spPr>
        <p:txBody>
          <a:bodyPr wrap="square" lIns="0" tIns="0" rIns="0" bIns="0" anchor="ctr">
            <a:spAutoFit/>
          </a:bodyPr>
          <a:lstStyle/>
          <a:p>
            <a:pPr algn="l">
              <a:lnSpc>
                <a:spcPct val="122000"/>
              </a:lnSpc>
            </a:pPr>
            <a:r>
              <a:rPr sz="1250" b="0" i="0">
                <a:solidFill>
                  <a:srgbClr val="C7D3E8"/>
                </a:solidFill>
                <a:latin typeface="Calibri"/>
              </a:rPr>
              <a:t>Internet user — 89% coverage. Channel ready.</a:t>
            </a:r>
          </a:p>
        </p:txBody>
      </p:sp>
      <p:sp>
        <p:nvSpPr>
          <p:cNvPr id="21" name="TextBox 20"/>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9FB0CE"/>
                </a:solidFill>
                <a:latin typeface="Calibri"/>
              </a:rPr>
              <a:t>Source: UNDP Uzbekistan — Legal Needs Assessment (2025-05) · DataReportal — Digital 2025 Uzbekistan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03 · SOLUTION</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One flow: from question to answer</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A citizen doesn't learn the law — he takes the next step.</a:t>
            </a:r>
          </a:p>
        </p:txBody>
      </p:sp>
      <p:sp>
        <p:nvSpPr>
          <p:cNvPr id="5" name="Rounded Rectangle 4"/>
          <p:cNvSpPr/>
          <p:nvPr/>
        </p:nvSpPr>
        <p:spPr>
          <a:xfrm>
            <a:off x="566928" y="2331720"/>
            <a:ext cx="2048256" cy="2121408"/>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04672" y="2542032"/>
            <a:ext cx="914400" cy="274320"/>
          </a:xfrm>
          <a:prstGeom prst="rect">
            <a:avLst/>
          </a:prstGeom>
          <a:noFill/>
        </p:spPr>
        <p:txBody>
          <a:bodyPr wrap="square" lIns="0" tIns="0" rIns="0" bIns="0" anchor="t">
            <a:spAutoFit/>
          </a:bodyPr>
          <a:lstStyle/>
          <a:p>
            <a:pPr algn="l"/>
            <a:r>
              <a:rPr sz="1200" b="1" i="0" spc="140">
                <a:solidFill>
                  <a:srgbClr val="1F6FEB"/>
                </a:solidFill>
                <a:latin typeface="Calibri"/>
              </a:rPr>
              <a:t>01</a:t>
            </a:r>
          </a:p>
        </p:txBody>
      </p:sp>
      <p:sp>
        <p:nvSpPr>
          <p:cNvPr id="7" name="TextBox 6"/>
          <p:cNvSpPr txBox="1"/>
          <p:nvPr/>
        </p:nvSpPr>
        <p:spPr>
          <a:xfrm>
            <a:off x="804672" y="2871216"/>
            <a:ext cx="1591056" cy="365760"/>
          </a:xfrm>
          <a:prstGeom prst="rect">
            <a:avLst/>
          </a:prstGeom>
          <a:noFill/>
        </p:spPr>
        <p:txBody>
          <a:bodyPr wrap="square" lIns="0" tIns="0" rIns="0" bIns="0" anchor="t">
            <a:spAutoFit/>
          </a:bodyPr>
          <a:lstStyle/>
          <a:p>
            <a:pPr algn="l"/>
            <a:r>
              <a:rPr sz="1650" b="1" i="0">
                <a:solidFill>
                  <a:srgbClr val="0A1733"/>
                </a:solidFill>
                <a:latin typeface="Cambria"/>
              </a:rPr>
              <a:t>Situation</a:t>
            </a:r>
          </a:p>
        </p:txBody>
      </p:sp>
      <p:sp>
        <p:nvSpPr>
          <p:cNvPr id="8" name="TextBox 7"/>
          <p:cNvSpPr txBox="1"/>
          <p:nvPr/>
        </p:nvSpPr>
        <p:spPr>
          <a:xfrm>
            <a:off x="804672" y="3346704"/>
            <a:ext cx="1591056" cy="914400"/>
          </a:xfrm>
          <a:prstGeom prst="rect">
            <a:avLst/>
          </a:prstGeom>
          <a:noFill/>
        </p:spPr>
        <p:txBody>
          <a:bodyPr wrap="square" lIns="0" tIns="0" rIns="0" bIns="0" anchor="t">
            <a:spAutoFit/>
          </a:bodyPr>
          <a:lstStyle/>
          <a:p>
            <a:pPr algn="l">
              <a:lnSpc>
                <a:spcPct val="124000"/>
              </a:lnSpc>
            </a:pPr>
            <a:r>
              <a:rPr sz="1200" b="0" i="0">
                <a:solidFill>
                  <a:srgbClr val="5C6B87"/>
                </a:solidFill>
                <a:latin typeface="Calibri"/>
              </a:rPr>
              <a:t>"Unreasonable from work"</a:t>
            </a:r>
          </a:p>
          <a:p>
            <a:pPr algn="l">
              <a:lnSpc>
                <a:spcPct val="124000"/>
              </a:lnSpc>
            </a:pPr>
            <a:r>
              <a:rPr sz="1200" b="0" i="0">
                <a:solidFill>
                  <a:srgbClr val="5C6B87"/>
                </a:solidFill>
                <a:latin typeface="Calibri"/>
              </a:rPr>
              <a:t>"I was discharged."</a:t>
            </a:r>
          </a:p>
        </p:txBody>
      </p:sp>
      <p:sp>
        <p:nvSpPr>
          <p:cNvPr id="9" name="Isosceles Triangle 8"/>
          <p:cNvSpPr/>
          <p:nvPr/>
        </p:nvSpPr>
        <p:spPr>
          <a:xfrm rot="5400000">
            <a:off x="2647188" y="331012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2798064" y="2331720"/>
            <a:ext cx="2048256" cy="2121408"/>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035808" y="2542032"/>
            <a:ext cx="914400" cy="274320"/>
          </a:xfrm>
          <a:prstGeom prst="rect">
            <a:avLst/>
          </a:prstGeom>
          <a:noFill/>
        </p:spPr>
        <p:txBody>
          <a:bodyPr wrap="square" lIns="0" tIns="0" rIns="0" bIns="0" anchor="t">
            <a:spAutoFit/>
          </a:bodyPr>
          <a:lstStyle/>
          <a:p>
            <a:pPr algn="l"/>
            <a:r>
              <a:rPr sz="1200" b="1" i="0" spc="140">
                <a:solidFill>
                  <a:srgbClr val="1F6FEB"/>
                </a:solidFill>
                <a:latin typeface="Calibri"/>
              </a:rPr>
              <a:t>02</a:t>
            </a:r>
          </a:p>
        </p:txBody>
      </p:sp>
      <p:sp>
        <p:nvSpPr>
          <p:cNvPr id="12" name="TextBox 11"/>
          <p:cNvSpPr txBox="1"/>
          <p:nvPr/>
        </p:nvSpPr>
        <p:spPr>
          <a:xfrm>
            <a:off x="3035808" y="2871216"/>
            <a:ext cx="1591056" cy="365760"/>
          </a:xfrm>
          <a:prstGeom prst="rect">
            <a:avLst/>
          </a:prstGeom>
          <a:noFill/>
        </p:spPr>
        <p:txBody>
          <a:bodyPr wrap="square" lIns="0" tIns="0" rIns="0" bIns="0" anchor="t">
            <a:spAutoFit/>
          </a:bodyPr>
          <a:lstStyle/>
          <a:p>
            <a:pPr algn="l"/>
            <a:r>
              <a:rPr sz="1650" b="1" i="0">
                <a:solidFill>
                  <a:srgbClr val="0A1733"/>
                </a:solidFill>
                <a:latin typeface="Cambria"/>
              </a:rPr>
              <a:t>Guardrail</a:t>
            </a:r>
          </a:p>
        </p:txBody>
      </p:sp>
      <p:sp>
        <p:nvSpPr>
          <p:cNvPr id="13" name="TextBox 12"/>
          <p:cNvSpPr txBox="1"/>
          <p:nvPr/>
        </p:nvSpPr>
        <p:spPr>
          <a:xfrm>
            <a:off x="3035808" y="3346704"/>
            <a:ext cx="1591056" cy="914400"/>
          </a:xfrm>
          <a:prstGeom prst="rect">
            <a:avLst/>
          </a:prstGeom>
          <a:noFill/>
        </p:spPr>
        <p:txBody>
          <a:bodyPr wrap="square" lIns="0" tIns="0" rIns="0" bIns="0" anchor="t">
            <a:spAutoFit/>
          </a:bodyPr>
          <a:lstStyle/>
          <a:p>
            <a:pPr algn="l">
              <a:lnSpc>
                <a:spcPct val="124000"/>
              </a:lnSpc>
            </a:pPr>
            <a:r>
              <a:rPr sz="1200" b="0" i="0">
                <a:solidFill>
                  <a:srgbClr val="5C6B87"/>
                </a:solidFill>
                <a:latin typeface="Calibri"/>
              </a:rPr>
              <a:t>personal information</a:t>
            </a:r>
          </a:p>
          <a:p>
            <a:pPr algn="l">
              <a:lnSpc>
                <a:spcPct val="124000"/>
              </a:lnSpc>
            </a:pPr>
            <a:r>
              <a:rPr sz="1200" b="0" i="0">
                <a:solidFill>
                  <a:srgbClr val="5C6B87"/>
                </a:solidFill>
                <a:latin typeface="Calibri"/>
              </a:rPr>
              <a:t>anonymized</a:t>
            </a:r>
          </a:p>
        </p:txBody>
      </p:sp>
      <p:sp>
        <p:nvSpPr>
          <p:cNvPr id="14" name="Isosceles Triangle 13"/>
          <p:cNvSpPr/>
          <p:nvPr/>
        </p:nvSpPr>
        <p:spPr>
          <a:xfrm rot="5400000">
            <a:off x="4878324" y="331012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5029200" y="2331720"/>
            <a:ext cx="2048256" cy="2121408"/>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266944" y="2542032"/>
            <a:ext cx="914400" cy="274320"/>
          </a:xfrm>
          <a:prstGeom prst="rect">
            <a:avLst/>
          </a:prstGeom>
          <a:noFill/>
        </p:spPr>
        <p:txBody>
          <a:bodyPr wrap="square" lIns="0" tIns="0" rIns="0" bIns="0" anchor="t">
            <a:spAutoFit/>
          </a:bodyPr>
          <a:lstStyle/>
          <a:p>
            <a:pPr algn="l"/>
            <a:r>
              <a:rPr sz="1200" b="1" i="0" spc="140">
                <a:solidFill>
                  <a:srgbClr val="1F6FEB"/>
                </a:solidFill>
                <a:latin typeface="Calibri"/>
              </a:rPr>
              <a:t>03</a:t>
            </a:r>
          </a:p>
        </p:txBody>
      </p:sp>
      <p:sp>
        <p:nvSpPr>
          <p:cNvPr id="17" name="TextBox 16"/>
          <p:cNvSpPr txBox="1"/>
          <p:nvPr/>
        </p:nvSpPr>
        <p:spPr>
          <a:xfrm>
            <a:off x="5266944" y="2871216"/>
            <a:ext cx="1591056" cy="365760"/>
          </a:xfrm>
          <a:prstGeom prst="rect">
            <a:avLst/>
          </a:prstGeom>
          <a:noFill/>
        </p:spPr>
        <p:txBody>
          <a:bodyPr wrap="square" lIns="0" tIns="0" rIns="0" bIns="0" anchor="t">
            <a:spAutoFit/>
          </a:bodyPr>
          <a:lstStyle/>
          <a:p>
            <a:pPr algn="l"/>
            <a:r>
              <a:rPr sz="1650" b="1" i="0">
                <a:solidFill>
                  <a:srgbClr val="0A1733"/>
                </a:solidFill>
                <a:latin typeface="Cambria"/>
              </a:rPr>
              <a:t>AI analysis</a:t>
            </a:r>
          </a:p>
        </p:txBody>
      </p:sp>
      <p:sp>
        <p:nvSpPr>
          <p:cNvPr id="18" name="TextBox 17"/>
          <p:cNvSpPr txBox="1"/>
          <p:nvPr/>
        </p:nvSpPr>
        <p:spPr>
          <a:xfrm>
            <a:off x="5266944" y="3346704"/>
            <a:ext cx="1591056" cy="914400"/>
          </a:xfrm>
          <a:prstGeom prst="rect">
            <a:avLst/>
          </a:prstGeom>
          <a:noFill/>
        </p:spPr>
        <p:txBody>
          <a:bodyPr wrap="square" lIns="0" tIns="0" rIns="0" bIns="0" anchor="t">
            <a:spAutoFit/>
          </a:bodyPr>
          <a:lstStyle/>
          <a:p>
            <a:pPr algn="l">
              <a:lnSpc>
                <a:spcPct val="124000"/>
              </a:lnSpc>
            </a:pPr>
            <a:r>
              <a:rPr sz="1200" b="0" i="0">
                <a:solidFill>
                  <a:srgbClr val="5C6B87"/>
                </a:solidFill>
                <a:latin typeface="Calibri"/>
              </a:rPr>
              <a:t>Term, risk and</a:t>
            </a:r>
          </a:p>
          <a:p>
            <a:pPr algn="l">
              <a:lnSpc>
                <a:spcPct val="124000"/>
              </a:lnSpc>
            </a:pPr>
            <a:r>
              <a:rPr sz="1200" b="0" i="0">
                <a:solidFill>
                  <a:srgbClr val="5C6B87"/>
                </a:solidFill>
                <a:latin typeface="Calibri"/>
              </a:rPr>
              <a:t>steps are defined</a:t>
            </a:r>
          </a:p>
        </p:txBody>
      </p:sp>
      <p:sp>
        <p:nvSpPr>
          <p:cNvPr id="19" name="Isosceles Triangle 18"/>
          <p:cNvSpPr/>
          <p:nvPr/>
        </p:nvSpPr>
        <p:spPr>
          <a:xfrm rot="5400000">
            <a:off x="7109460" y="331012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7260336" y="2331720"/>
            <a:ext cx="2048256" cy="2121408"/>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498080" y="2542032"/>
            <a:ext cx="914400" cy="274320"/>
          </a:xfrm>
          <a:prstGeom prst="rect">
            <a:avLst/>
          </a:prstGeom>
          <a:noFill/>
        </p:spPr>
        <p:txBody>
          <a:bodyPr wrap="square" lIns="0" tIns="0" rIns="0" bIns="0" anchor="t">
            <a:spAutoFit/>
          </a:bodyPr>
          <a:lstStyle/>
          <a:p>
            <a:pPr algn="l"/>
            <a:r>
              <a:rPr sz="1200" b="1" i="0" spc="140">
                <a:solidFill>
                  <a:srgbClr val="1F6FEB"/>
                </a:solidFill>
                <a:latin typeface="Calibri"/>
              </a:rPr>
              <a:t>04</a:t>
            </a:r>
          </a:p>
        </p:txBody>
      </p:sp>
      <p:sp>
        <p:nvSpPr>
          <p:cNvPr id="22" name="TextBox 21"/>
          <p:cNvSpPr txBox="1"/>
          <p:nvPr/>
        </p:nvSpPr>
        <p:spPr>
          <a:xfrm>
            <a:off x="7498080" y="2871216"/>
            <a:ext cx="1591056" cy="365760"/>
          </a:xfrm>
          <a:prstGeom prst="rect">
            <a:avLst/>
          </a:prstGeom>
          <a:noFill/>
        </p:spPr>
        <p:txBody>
          <a:bodyPr wrap="square" lIns="0" tIns="0" rIns="0" bIns="0" anchor="t">
            <a:spAutoFit/>
          </a:bodyPr>
          <a:lstStyle/>
          <a:p>
            <a:pPr algn="l"/>
            <a:r>
              <a:rPr sz="1650" b="1" i="0">
                <a:solidFill>
                  <a:srgbClr val="0A1733"/>
                </a:solidFill>
                <a:latin typeface="Cambria"/>
              </a:rPr>
              <a:t>Legal basis</a:t>
            </a:r>
          </a:p>
        </p:txBody>
      </p:sp>
      <p:sp>
        <p:nvSpPr>
          <p:cNvPr id="23" name="TextBox 22"/>
          <p:cNvSpPr txBox="1"/>
          <p:nvPr/>
        </p:nvSpPr>
        <p:spPr>
          <a:xfrm>
            <a:off x="7498080" y="3346704"/>
            <a:ext cx="1591056" cy="914400"/>
          </a:xfrm>
          <a:prstGeom prst="rect">
            <a:avLst/>
          </a:prstGeom>
          <a:noFill/>
        </p:spPr>
        <p:txBody>
          <a:bodyPr wrap="square" lIns="0" tIns="0" rIns="0" bIns="0" anchor="t">
            <a:spAutoFit/>
          </a:bodyPr>
          <a:lstStyle/>
          <a:p>
            <a:pPr algn="l">
              <a:lnSpc>
                <a:spcPct val="124000"/>
              </a:lnSpc>
            </a:pPr>
            <a:r>
              <a:rPr sz="1200" b="0" i="0">
                <a:solidFill>
                  <a:srgbClr val="5C6B87"/>
                </a:solidFill>
                <a:latin typeface="Calibri"/>
              </a:rPr>
              <a:t>Item number</a:t>
            </a:r>
          </a:p>
          <a:p>
            <a:pPr algn="l">
              <a:lnSpc>
                <a:spcPct val="124000"/>
              </a:lnSpc>
            </a:pPr>
            <a:r>
              <a:rPr sz="1200" b="0" i="0">
                <a:solidFill>
                  <a:srgbClr val="5C6B87"/>
                </a:solidFill>
                <a:latin typeface="Calibri"/>
              </a:rPr>
              <a:t>will be checked</a:t>
            </a:r>
          </a:p>
        </p:txBody>
      </p:sp>
      <p:sp>
        <p:nvSpPr>
          <p:cNvPr id="24" name="Isosceles Triangle 23"/>
          <p:cNvSpPr/>
          <p:nvPr/>
        </p:nvSpPr>
        <p:spPr>
          <a:xfrm rot="5400000">
            <a:off x="9340596" y="331012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ounded Rectangle 24"/>
          <p:cNvSpPr/>
          <p:nvPr/>
        </p:nvSpPr>
        <p:spPr>
          <a:xfrm>
            <a:off x="9491472" y="2331720"/>
            <a:ext cx="2048256" cy="2121408"/>
          </a:xfrm>
          <a:prstGeom prst="roundRect">
            <a:avLst>
              <a:gd name="adj" fmla="val 6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9729216" y="2542032"/>
            <a:ext cx="914400" cy="274320"/>
          </a:xfrm>
          <a:prstGeom prst="rect">
            <a:avLst/>
          </a:prstGeom>
          <a:noFill/>
        </p:spPr>
        <p:txBody>
          <a:bodyPr wrap="square" lIns="0" tIns="0" rIns="0" bIns="0" anchor="t">
            <a:spAutoFit/>
          </a:bodyPr>
          <a:lstStyle/>
          <a:p>
            <a:pPr algn="l"/>
            <a:r>
              <a:rPr sz="1200" b="1" i="0" spc="140">
                <a:solidFill>
                  <a:srgbClr val="C8A265"/>
                </a:solidFill>
                <a:latin typeface="Calibri"/>
              </a:rPr>
              <a:t>05</a:t>
            </a:r>
          </a:p>
        </p:txBody>
      </p:sp>
      <p:sp>
        <p:nvSpPr>
          <p:cNvPr id="27" name="TextBox 26"/>
          <p:cNvSpPr txBox="1"/>
          <p:nvPr/>
        </p:nvSpPr>
        <p:spPr>
          <a:xfrm>
            <a:off x="9729216" y="2871216"/>
            <a:ext cx="1591056" cy="365760"/>
          </a:xfrm>
          <a:prstGeom prst="rect">
            <a:avLst/>
          </a:prstGeom>
          <a:noFill/>
        </p:spPr>
        <p:txBody>
          <a:bodyPr wrap="square" lIns="0" tIns="0" rIns="0" bIns="0" anchor="t">
            <a:spAutoFit/>
          </a:bodyPr>
          <a:lstStyle/>
          <a:p>
            <a:pPr algn="l"/>
            <a:r>
              <a:rPr sz="1650" b="1" i="0">
                <a:solidFill>
                  <a:srgbClr val="FFFFFF"/>
                </a:solidFill>
                <a:latin typeface="Cambria"/>
              </a:rPr>
              <a:t>Action</a:t>
            </a:r>
          </a:p>
        </p:txBody>
      </p:sp>
      <p:sp>
        <p:nvSpPr>
          <p:cNvPr id="28" name="TextBox 27"/>
          <p:cNvSpPr txBox="1"/>
          <p:nvPr/>
        </p:nvSpPr>
        <p:spPr>
          <a:xfrm>
            <a:off x="9729216" y="3346704"/>
            <a:ext cx="1591056" cy="914400"/>
          </a:xfrm>
          <a:prstGeom prst="rect">
            <a:avLst/>
          </a:prstGeom>
          <a:noFill/>
        </p:spPr>
        <p:txBody>
          <a:bodyPr wrap="square" lIns="0" tIns="0" rIns="0" bIns="0" anchor="t">
            <a:spAutoFit/>
          </a:bodyPr>
          <a:lstStyle/>
          <a:p>
            <a:pPr algn="l">
              <a:lnSpc>
                <a:spcPct val="124000"/>
              </a:lnSpc>
            </a:pPr>
            <a:r>
              <a:rPr sz="1200" b="0" i="0">
                <a:solidFill>
                  <a:srgbClr val="C7D3E8"/>
                </a:solidFill>
                <a:latin typeface="Calibri"/>
              </a:rPr>
              <a:t>Application form or</a:t>
            </a:r>
          </a:p>
          <a:p>
            <a:pPr algn="l">
              <a:lnSpc>
                <a:spcPct val="124000"/>
              </a:lnSpc>
            </a:pPr>
            <a:r>
              <a:rPr sz="1200" b="0" i="0">
                <a:solidFill>
                  <a:srgbClr val="C7D3E8"/>
                </a:solidFill>
                <a:latin typeface="Calibri"/>
              </a:rPr>
              <a:t>45 min. lawyer</a:t>
            </a:r>
          </a:p>
        </p:txBody>
      </p:sp>
      <p:sp>
        <p:nvSpPr>
          <p:cNvPr id="29" name="Rounded Rectangle 28"/>
          <p:cNvSpPr/>
          <p:nvPr/>
        </p:nvSpPr>
        <p:spPr>
          <a:xfrm>
            <a:off x="566928" y="4828032"/>
            <a:ext cx="11055096" cy="932688"/>
          </a:xfrm>
          <a:prstGeom prst="roundRect">
            <a:avLst>
              <a:gd name="adj" fmla="val 9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Isosceles Triangle 29"/>
          <p:cNvSpPr/>
          <p:nvPr/>
        </p:nvSpPr>
        <p:spPr>
          <a:xfrm rot="5400000">
            <a:off x="877824" y="5193792"/>
            <a:ext cx="128016" cy="147218"/>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1188720" y="4974336"/>
            <a:ext cx="10241280" cy="658368"/>
          </a:xfrm>
          <a:prstGeom prst="rect">
            <a:avLst/>
          </a:prstGeom>
          <a:noFill/>
        </p:spPr>
        <p:txBody>
          <a:bodyPr wrap="square" lIns="0" tIns="0" rIns="0" bIns="0" anchor="ctr">
            <a:spAutoFit/>
          </a:bodyPr>
          <a:lstStyle/>
          <a:p>
            <a:pPr algn="l">
              <a:lnSpc>
                <a:spcPct val="116000"/>
              </a:lnSpc>
            </a:pPr>
            <a:r>
              <a:rPr sz="1700" b="1" i="0">
                <a:solidFill>
                  <a:srgbClr val="0A1733"/>
                </a:solidFill>
                <a:latin typeface="Cambria"/>
              </a:rPr>
              <a:t>Result: the citizen knows what to do, does not miss the deadline, and knows who is responsible.</a:t>
            </a:r>
          </a:p>
        </p:txBody>
      </p:sp>
      <p:sp>
        <p:nvSpPr>
          <p:cNvPr id="32" name="TextBox 31"/>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The flow actually works in the app: legal_assistant_remote_datasource.dart:67-144 · FACT — code-proven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04 · WHY DIFFERENT?</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ChatGPT guesses. LexHub checks.</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Four questions — today's solutions and how LexHub answers.</a:t>
            </a:r>
          </a:p>
        </p:txBody>
      </p:sp>
      <p:sp>
        <p:nvSpPr>
          <p:cNvPr id="5" name="TextBox 4"/>
          <p:cNvSpPr txBox="1"/>
          <p:nvPr/>
        </p:nvSpPr>
        <p:spPr>
          <a:xfrm>
            <a:off x="566928" y="2286000"/>
            <a:ext cx="3291840" cy="274320"/>
          </a:xfrm>
          <a:prstGeom prst="rect">
            <a:avLst/>
          </a:prstGeom>
          <a:noFill/>
        </p:spPr>
        <p:txBody>
          <a:bodyPr wrap="square" lIns="0" tIns="0" rIns="0" bIns="0" anchor="t">
            <a:spAutoFit/>
          </a:bodyPr>
          <a:lstStyle/>
          <a:p>
            <a:pPr algn="l"/>
            <a:r>
              <a:rPr sz="950" b="1" i="0" spc="150">
                <a:solidFill>
                  <a:srgbClr val="5C6B87"/>
                </a:solidFill>
                <a:latin typeface="Calibri"/>
              </a:rPr>
              <a:t>CITIZEN'S QUESTION</a:t>
            </a:r>
          </a:p>
        </p:txBody>
      </p:sp>
      <p:sp>
        <p:nvSpPr>
          <p:cNvPr id="6" name="TextBox 5"/>
          <p:cNvSpPr txBox="1"/>
          <p:nvPr/>
        </p:nvSpPr>
        <p:spPr>
          <a:xfrm>
            <a:off x="4242816" y="2286000"/>
            <a:ext cx="2880360" cy="274320"/>
          </a:xfrm>
          <a:prstGeom prst="rect">
            <a:avLst/>
          </a:prstGeom>
          <a:noFill/>
        </p:spPr>
        <p:txBody>
          <a:bodyPr wrap="square" lIns="0" tIns="0" rIns="0" bIns="0" anchor="t">
            <a:spAutoFit/>
          </a:bodyPr>
          <a:lstStyle/>
          <a:p>
            <a:pPr algn="l"/>
            <a:r>
              <a:rPr sz="950" b="1" i="0" spc="150">
                <a:solidFill>
                  <a:srgbClr val="5C6B87"/>
                </a:solidFill>
                <a:latin typeface="Calibri"/>
              </a:rPr>
              <a:t>TODAY'S SOLUTION</a:t>
            </a:r>
          </a:p>
        </p:txBody>
      </p:sp>
      <p:sp>
        <p:nvSpPr>
          <p:cNvPr id="7" name="TextBox 6"/>
          <p:cNvSpPr txBox="1"/>
          <p:nvPr/>
        </p:nvSpPr>
        <p:spPr>
          <a:xfrm>
            <a:off x="7626096" y="2286000"/>
            <a:ext cx="3886200" cy="274320"/>
          </a:xfrm>
          <a:prstGeom prst="rect">
            <a:avLst/>
          </a:prstGeom>
          <a:noFill/>
        </p:spPr>
        <p:txBody>
          <a:bodyPr wrap="square" lIns="0" tIns="0" rIns="0" bIns="0" anchor="t">
            <a:spAutoFit/>
          </a:bodyPr>
          <a:lstStyle/>
          <a:p>
            <a:pPr algn="l"/>
            <a:r>
              <a:rPr sz="950" b="1" i="0" spc="150">
                <a:solidFill>
                  <a:srgbClr val="1F6FEB"/>
                </a:solidFill>
                <a:latin typeface="Calibri"/>
              </a:rPr>
              <a:t>LEXHUB</a:t>
            </a:r>
          </a:p>
        </p:txBody>
      </p:sp>
      <p:sp>
        <p:nvSpPr>
          <p:cNvPr id="8" name="Rounded Rectangle 7"/>
          <p:cNvSpPr/>
          <p:nvPr/>
        </p:nvSpPr>
        <p:spPr>
          <a:xfrm>
            <a:off x="7370064" y="2651760"/>
            <a:ext cx="4251960" cy="3310128"/>
          </a:xfrm>
          <a:prstGeom prst="roundRect">
            <a:avLst>
              <a:gd name="adj" fmla="val 5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66928" y="2798064"/>
            <a:ext cx="3310128" cy="685800"/>
          </a:xfrm>
          <a:prstGeom prst="rect">
            <a:avLst/>
          </a:prstGeom>
          <a:noFill/>
        </p:spPr>
        <p:txBody>
          <a:bodyPr wrap="square" lIns="0" tIns="0" rIns="0" bIns="0" anchor="ctr">
            <a:spAutoFit/>
          </a:bodyPr>
          <a:lstStyle/>
          <a:p>
            <a:pPr algn="l">
              <a:lnSpc>
                <a:spcPct val="120000"/>
              </a:lnSpc>
            </a:pPr>
            <a:r>
              <a:rPr sz="1250" b="1" i="0">
                <a:solidFill>
                  <a:srgbClr val="0A1733"/>
                </a:solidFill>
                <a:latin typeface="Cambria"/>
              </a:rPr>
              <a:t>"Which substance?"</a:t>
            </a:r>
          </a:p>
          <a:p>
            <a:pPr algn="l">
              <a:lnSpc>
                <a:spcPct val="120000"/>
              </a:lnSpc>
            </a:pPr>
            <a:r>
              <a:rPr sz="1250" b="1" i="0">
                <a:solidFill>
                  <a:srgbClr val="0A1733"/>
                </a:solidFill>
                <a:latin typeface="Cambria"/>
              </a:rPr>
              <a:t>"Is it related to my work?"</a:t>
            </a:r>
          </a:p>
        </p:txBody>
      </p:sp>
      <p:sp>
        <p:nvSpPr>
          <p:cNvPr id="10" name="TextBox 9"/>
          <p:cNvSpPr txBox="1"/>
          <p:nvPr/>
        </p:nvSpPr>
        <p:spPr>
          <a:xfrm>
            <a:off x="4242816" y="2798064"/>
            <a:ext cx="3017520" cy="685800"/>
          </a:xfrm>
          <a:prstGeom prst="rect">
            <a:avLst/>
          </a:prstGeom>
          <a:noFill/>
        </p:spPr>
        <p:txBody>
          <a:bodyPr wrap="square" lIns="0" tIns="0" rIns="0" bIns="0" anchor="ctr">
            <a:spAutoFit/>
          </a:bodyPr>
          <a:lstStyle/>
          <a:p>
            <a:pPr algn="l">
              <a:lnSpc>
                <a:spcPct val="120000"/>
              </a:lnSpc>
            </a:pPr>
            <a:r>
              <a:rPr sz="1150" b="0" i="0">
                <a:solidFill>
                  <a:srgbClr val="5C6B87"/>
                </a:solidFill>
                <a:latin typeface="Calibri"/>
              </a:rPr>
              <a:t>General AI does not exist</a:t>
            </a:r>
          </a:p>
          <a:p>
            <a:pPr algn="l">
              <a:lnSpc>
                <a:spcPct val="120000"/>
              </a:lnSpc>
            </a:pPr>
            <a:r>
              <a:rPr sz="1150" b="0" i="0">
                <a:solidFill>
                  <a:srgbClr val="5C6B87"/>
                </a:solidFill>
                <a:latin typeface="Calibri"/>
              </a:rPr>
              <a:t>can you tell me the item number</a:t>
            </a:r>
          </a:p>
        </p:txBody>
      </p:sp>
      <p:sp>
        <p:nvSpPr>
          <p:cNvPr id="11" name="Isosceles Triangle 10"/>
          <p:cNvSpPr/>
          <p:nvPr/>
        </p:nvSpPr>
        <p:spPr>
          <a:xfrm rot="5400000">
            <a:off x="7571231" y="3054096"/>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7772400" y="2798064"/>
            <a:ext cx="3703320" cy="685800"/>
          </a:xfrm>
          <a:prstGeom prst="rect">
            <a:avLst/>
          </a:prstGeom>
          <a:noFill/>
        </p:spPr>
        <p:txBody>
          <a:bodyPr wrap="square" lIns="0" tIns="0" rIns="0" bIns="0" anchor="ctr">
            <a:spAutoFit/>
          </a:bodyPr>
          <a:lstStyle/>
          <a:p>
            <a:pPr algn="l">
              <a:lnSpc>
                <a:spcPct val="120000"/>
              </a:lnSpc>
            </a:pPr>
            <a:r>
              <a:rPr sz="1150" b="1" i="0">
                <a:solidFill>
                  <a:srgbClr val="FFFFFF"/>
                </a:solidFill>
                <a:latin typeface="Calibri"/>
              </a:rPr>
              <a:t>Each article is a real article of the 8th code.</a:t>
            </a:r>
          </a:p>
          <a:p>
            <a:pPr algn="l">
              <a:lnSpc>
                <a:spcPct val="120000"/>
              </a:lnSpc>
            </a:pPr>
            <a:r>
              <a:rPr sz="1150" b="1" i="0">
                <a:solidFill>
                  <a:srgbClr val="FFFFFF"/>
                </a:solidFill>
                <a:latin typeface="Calibri"/>
              </a:rPr>
              <a:t>checked by the limit</a:t>
            </a:r>
          </a:p>
        </p:txBody>
      </p:sp>
      <p:sp>
        <p:nvSpPr>
          <p:cNvPr id="13" name="Rectangle 12"/>
          <p:cNvSpPr/>
          <p:nvPr/>
        </p:nvSpPr>
        <p:spPr>
          <a:xfrm>
            <a:off x="566928" y="3520440"/>
            <a:ext cx="6675120" cy="7315"/>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566928" y="3584448"/>
            <a:ext cx="3310128" cy="685800"/>
          </a:xfrm>
          <a:prstGeom prst="rect">
            <a:avLst/>
          </a:prstGeom>
          <a:noFill/>
        </p:spPr>
        <p:txBody>
          <a:bodyPr wrap="square" lIns="0" tIns="0" rIns="0" bIns="0" anchor="ctr">
            <a:spAutoFit/>
          </a:bodyPr>
          <a:lstStyle/>
          <a:p>
            <a:pPr algn="l">
              <a:lnSpc>
                <a:spcPct val="120000"/>
              </a:lnSpc>
            </a:pPr>
            <a:r>
              <a:rPr sz="1250" b="1" i="0">
                <a:solidFill>
                  <a:srgbClr val="0A1733"/>
                </a:solidFill>
                <a:latin typeface="Cambria"/>
              </a:rPr>
              <a:t>"When does the deadline expire?"</a:t>
            </a:r>
          </a:p>
        </p:txBody>
      </p:sp>
      <p:sp>
        <p:nvSpPr>
          <p:cNvPr id="15" name="TextBox 14"/>
          <p:cNvSpPr txBox="1"/>
          <p:nvPr/>
        </p:nvSpPr>
        <p:spPr>
          <a:xfrm>
            <a:off x="4242816" y="3584448"/>
            <a:ext cx="3017520" cy="685800"/>
          </a:xfrm>
          <a:prstGeom prst="rect">
            <a:avLst/>
          </a:prstGeom>
          <a:noFill/>
        </p:spPr>
        <p:txBody>
          <a:bodyPr wrap="square" lIns="0" tIns="0" rIns="0" bIns="0" anchor="ctr">
            <a:spAutoFit/>
          </a:bodyPr>
          <a:lstStyle/>
          <a:p>
            <a:pPr algn="l">
              <a:lnSpc>
                <a:spcPct val="120000"/>
              </a:lnSpc>
            </a:pPr>
            <a:r>
              <a:rPr sz="1150" b="0" i="0">
                <a:solidFill>
                  <a:srgbClr val="5C6B87"/>
                </a:solidFill>
                <a:latin typeface="Calibri"/>
              </a:rPr>
              <a:t>There is a text of the law - the deadline</a:t>
            </a:r>
          </a:p>
          <a:p>
            <a:pPr algn="l">
              <a:lnSpc>
                <a:spcPct val="120000"/>
              </a:lnSpc>
            </a:pPr>
            <a:r>
              <a:rPr sz="1150" b="0" i="0">
                <a:solidFill>
                  <a:srgbClr val="5C6B87"/>
                </a:solidFill>
                <a:latin typeface="Calibri"/>
              </a:rPr>
              <a:t>uncounted</a:t>
            </a:r>
          </a:p>
        </p:txBody>
      </p:sp>
      <p:sp>
        <p:nvSpPr>
          <p:cNvPr id="16" name="Isosceles Triangle 15"/>
          <p:cNvSpPr/>
          <p:nvPr/>
        </p:nvSpPr>
        <p:spPr>
          <a:xfrm rot="5400000">
            <a:off x="7571231" y="3840480"/>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7772400" y="3584448"/>
            <a:ext cx="3703320" cy="685800"/>
          </a:xfrm>
          <a:prstGeom prst="rect">
            <a:avLst/>
          </a:prstGeom>
          <a:noFill/>
        </p:spPr>
        <p:txBody>
          <a:bodyPr wrap="square" lIns="0" tIns="0" rIns="0" bIns="0" anchor="ctr">
            <a:spAutoFit/>
          </a:bodyPr>
          <a:lstStyle/>
          <a:p>
            <a:pPr algn="l">
              <a:lnSpc>
                <a:spcPct val="120000"/>
              </a:lnSpc>
            </a:pPr>
            <a:r>
              <a:rPr sz="1150" b="1" i="0">
                <a:solidFill>
                  <a:srgbClr val="FFFFFF"/>
                </a:solidFill>
                <a:latin typeface="Calibri"/>
              </a:rPr>
              <a:t>30/10/1095 days of expiration</a:t>
            </a:r>
          </a:p>
          <a:p>
            <a:pPr algn="l">
              <a:lnSpc>
                <a:spcPct val="120000"/>
              </a:lnSpc>
            </a:pPr>
            <a:r>
              <a:rPr sz="1150" b="1" i="0">
                <a:solidFill>
                  <a:srgbClr val="FFFFFF"/>
                </a:solidFill>
                <a:latin typeface="Calibri"/>
              </a:rPr>
              <a:t>automatically exits</a:t>
            </a:r>
          </a:p>
        </p:txBody>
      </p:sp>
      <p:sp>
        <p:nvSpPr>
          <p:cNvPr id="18" name="Rectangle 17"/>
          <p:cNvSpPr/>
          <p:nvPr/>
        </p:nvSpPr>
        <p:spPr>
          <a:xfrm>
            <a:off x="566928" y="4306824"/>
            <a:ext cx="6675120" cy="7315"/>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566928" y="4370832"/>
            <a:ext cx="3310128" cy="685800"/>
          </a:xfrm>
          <a:prstGeom prst="rect">
            <a:avLst/>
          </a:prstGeom>
          <a:noFill/>
        </p:spPr>
        <p:txBody>
          <a:bodyPr wrap="square" lIns="0" tIns="0" rIns="0" bIns="0" anchor="ctr">
            <a:spAutoFit/>
          </a:bodyPr>
          <a:lstStyle/>
          <a:p>
            <a:pPr algn="l">
              <a:lnSpc>
                <a:spcPct val="120000"/>
              </a:lnSpc>
            </a:pPr>
            <a:r>
              <a:rPr sz="1250" b="1" i="0">
                <a:solidFill>
                  <a:srgbClr val="0A1733"/>
                </a:solidFill>
                <a:latin typeface="Cambria"/>
              </a:rPr>
              <a:t>"Where does my information go?"</a:t>
            </a:r>
          </a:p>
        </p:txBody>
      </p:sp>
      <p:sp>
        <p:nvSpPr>
          <p:cNvPr id="20" name="TextBox 19"/>
          <p:cNvSpPr txBox="1"/>
          <p:nvPr/>
        </p:nvSpPr>
        <p:spPr>
          <a:xfrm>
            <a:off x="4242816" y="4370832"/>
            <a:ext cx="3017520" cy="685800"/>
          </a:xfrm>
          <a:prstGeom prst="rect">
            <a:avLst/>
          </a:prstGeom>
          <a:noFill/>
        </p:spPr>
        <p:txBody>
          <a:bodyPr wrap="square" lIns="0" tIns="0" rIns="0" bIns="0" anchor="ctr">
            <a:spAutoFit/>
          </a:bodyPr>
          <a:lstStyle/>
          <a:p>
            <a:pPr algn="l">
              <a:lnSpc>
                <a:spcPct val="120000"/>
              </a:lnSpc>
            </a:pPr>
            <a:r>
              <a:rPr sz="1150" b="0" i="0">
                <a:solidFill>
                  <a:srgbClr val="5C6B87"/>
                </a:solidFill>
                <a:latin typeface="Calibri"/>
              </a:rPr>
              <a:t>Passport, phone, card</a:t>
            </a:r>
          </a:p>
          <a:p>
            <a:pPr algn="l">
              <a:lnSpc>
                <a:spcPct val="120000"/>
              </a:lnSpc>
            </a:pPr>
            <a:r>
              <a:rPr sz="1150" b="0" i="0">
                <a:solidFill>
                  <a:srgbClr val="5C6B87"/>
                </a:solidFill>
                <a:latin typeface="Calibri"/>
              </a:rPr>
              <a:t>goes straight to chat</a:t>
            </a:r>
          </a:p>
        </p:txBody>
      </p:sp>
      <p:sp>
        <p:nvSpPr>
          <p:cNvPr id="21" name="Isosceles Triangle 20"/>
          <p:cNvSpPr/>
          <p:nvPr/>
        </p:nvSpPr>
        <p:spPr>
          <a:xfrm rot="5400000">
            <a:off x="7571231" y="4626864"/>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7772400" y="4370832"/>
            <a:ext cx="3703320" cy="685800"/>
          </a:xfrm>
          <a:prstGeom prst="rect">
            <a:avLst/>
          </a:prstGeom>
          <a:noFill/>
        </p:spPr>
        <p:txBody>
          <a:bodyPr wrap="square" lIns="0" tIns="0" rIns="0" bIns="0" anchor="ctr">
            <a:spAutoFit/>
          </a:bodyPr>
          <a:lstStyle/>
          <a:p>
            <a:pPr algn="l">
              <a:lnSpc>
                <a:spcPct val="120000"/>
              </a:lnSpc>
            </a:pPr>
            <a:r>
              <a:rPr sz="1150" b="1" i="0">
                <a:solidFill>
                  <a:srgbClr val="FFFFFF"/>
                </a:solidFill>
                <a:latin typeface="Calibri"/>
              </a:rPr>
              <a:t>Before sending the request</a:t>
            </a:r>
          </a:p>
          <a:p>
            <a:pPr algn="l">
              <a:lnSpc>
                <a:spcPct val="120000"/>
              </a:lnSpc>
            </a:pPr>
            <a:r>
              <a:rPr sz="1150" b="1" i="0">
                <a:solidFill>
                  <a:srgbClr val="FFFFFF"/>
                </a:solidFill>
                <a:latin typeface="Calibri"/>
              </a:rPr>
              <a:t>anonymized</a:t>
            </a:r>
          </a:p>
        </p:txBody>
      </p:sp>
      <p:sp>
        <p:nvSpPr>
          <p:cNvPr id="23" name="Rectangle 22"/>
          <p:cNvSpPr/>
          <p:nvPr/>
        </p:nvSpPr>
        <p:spPr>
          <a:xfrm>
            <a:off x="566928" y="5093208"/>
            <a:ext cx="6675120" cy="7315"/>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566928" y="5157216"/>
            <a:ext cx="3310128" cy="685800"/>
          </a:xfrm>
          <a:prstGeom prst="rect">
            <a:avLst/>
          </a:prstGeom>
          <a:noFill/>
        </p:spPr>
        <p:txBody>
          <a:bodyPr wrap="square" lIns="0" tIns="0" rIns="0" bIns="0" anchor="ctr">
            <a:spAutoFit/>
          </a:bodyPr>
          <a:lstStyle/>
          <a:p>
            <a:pPr algn="l">
              <a:lnSpc>
                <a:spcPct val="120000"/>
              </a:lnSpc>
            </a:pPr>
            <a:r>
              <a:rPr sz="1250" b="1" i="0">
                <a:solidFill>
                  <a:srgbClr val="0A1733"/>
                </a:solidFill>
                <a:latin typeface="Cambria"/>
              </a:rPr>
              <a:t>"What do I do next?"</a:t>
            </a:r>
          </a:p>
        </p:txBody>
      </p:sp>
      <p:sp>
        <p:nvSpPr>
          <p:cNvPr id="25" name="TextBox 24"/>
          <p:cNvSpPr txBox="1"/>
          <p:nvPr/>
        </p:nvSpPr>
        <p:spPr>
          <a:xfrm>
            <a:off x="4242816" y="5157216"/>
            <a:ext cx="3017520" cy="685800"/>
          </a:xfrm>
          <a:prstGeom prst="rect">
            <a:avLst/>
          </a:prstGeom>
          <a:noFill/>
        </p:spPr>
        <p:txBody>
          <a:bodyPr wrap="square" lIns="0" tIns="0" rIns="0" bIns="0" anchor="ctr">
            <a:spAutoFit/>
          </a:bodyPr>
          <a:lstStyle/>
          <a:p>
            <a:pPr algn="l">
              <a:lnSpc>
                <a:spcPct val="120000"/>
              </a:lnSpc>
            </a:pPr>
            <a:r>
              <a:rPr sz="1150" b="0" i="0">
                <a:solidFill>
                  <a:srgbClr val="5C6B87"/>
                </a:solidFill>
                <a:latin typeface="Calibri"/>
              </a:rPr>
              <a:t>The user takes the next step.</a:t>
            </a:r>
          </a:p>
          <a:p>
            <a:pPr algn="l">
              <a:lnSpc>
                <a:spcPct val="120000"/>
              </a:lnSpc>
            </a:pPr>
            <a:r>
              <a:rPr sz="1150" b="0" i="0">
                <a:solidFill>
                  <a:srgbClr val="5C6B87"/>
                </a:solidFill>
                <a:latin typeface="Calibri"/>
              </a:rPr>
              <a:t>he must find it himself</a:t>
            </a:r>
          </a:p>
        </p:txBody>
      </p:sp>
      <p:sp>
        <p:nvSpPr>
          <p:cNvPr id="26" name="Isosceles Triangle 25"/>
          <p:cNvSpPr/>
          <p:nvPr/>
        </p:nvSpPr>
        <p:spPr>
          <a:xfrm rot="5400000">
            <a:off x="7571231" y="5413248"/>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7772400" y="5157216"/>
            <a:ext cx="3703320" cy="685800"/>
          </a:xfrm>
          <a:prstGeom prst="rect">
            <a:avLst/>
          </a:prstGeom>
          <a:noFill/>
        </p:spPr>
        <p:txBody>
          <a:bodyPr wrap="square" lIns="0" tIns="0" rIns="0" bIns="0" anchor="ctr">
            <a:spAutoFit/>
          </a:bodyPr>
          <a:lstStyle/>
          <a:p>
            <a:pPr algn="l">
              <a:lnSpc>
                <a:spcPct val="120000"/>
              </a:lnSpc>
            </a:pPr>
            <a:r>
              <a:rPr sz="1150" b="1" i="0">
                <a:solidFill>
                  <a:srgbClr val="FFFFFF"/>
                </a:solidFill>
                <a:latin typeface="Calibri"/>
              </a:rPr>
              <a:t>Application form or certified</a:t>
            </a:r>
          </a:p>
          <a:p>
            <a:pPr algn="l">
              <a:lnSpc>
                <a:spcPct val="120000"/>
              </a:lnSpc>
            </a:pPr>
            <a:r>
              <a:rPr sz="1150" b="1" i="0">
                <a:solidFill>
                  <a:srgbClr val="FFFFFF"/>
                </a:solidFill>
                <a:latin typeface="Calibri"/>
              </a:rPr>
              <a:t>lawyer slot</a:t>
            </a:r>
          </a:p>
        </p:txBody>
      </p:sp>
      <p:sp>
        <p:nvSpPr>
          <p:cNvPr id="28" name="TextBox 27"/>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FACT — all four lines of code are verified: legal_grounding_validator.dart · deadlines_guard.dart · pii_anonymizer.dart · book_consultation_page.dart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05 · PRODUCT EXPERIENCE</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Not an answer — an understandable decision</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Each AI response is returned in five blocks in the app.</a:t>
            </a:r>
          </a:p>
        </p:txBody>
      </p:sp>
      <p:sp>
        <p:nvSpPr>
          <p:cNvPr id="5" name="Rounded Rectangle 4"/>
          <p:cNvSpPr/>
          <p:nvPr/>
        </p:nvSpPr>
        <p:spPr>
          <a:xfrm>
            <a:off x="566928" y="2212848"/>
            <a:ext cx="2999232" cy="4023360"/>
          </a:xfrm>
          <a:prstGeom prst="roundRect">
            <a:avLst>
              <a:gd name="adj" fmla="val 6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86384" y="2359152"/>
            <a:ext cx="2560320" cy="228600"/>
          </a:xfrm>
          <a:prstGeom prst="rect">
            <a:avLst/>
          </a:prstGeom>
          <a:noFill/>
        </p:spPr>
        <p:txBody>
          <a:bodyPr wrap="square" lIns="0" tIns="0" rIns="0" bIns="0" anchor="t">
            <a:spAutoFit/>
          </a:bodyPr>
          <a:lstStyle/>
          <a:p>
            <a:pPr algn="l"/>
            <a:r>
              <a:rPr sz="850" b="1" i="0" spc="160">
                <a:solidFill>
                  <a:srgbClr val="C8A265"/>
                </a:solidFill>
                <a:latin typeface="Calibri"/>
              </a:rPr>
              <a:t>LEXHUB AI</a:t>
            </a:r>
          </a:p>
        </p:txBody>
      </p:sp>
      <p:sp>
        <p:nvSpPr>
          <p:cNvPr id="7" name="Rounded Rectangle 6"/>
          <p:cNvSpPr/>
          <p:nvPr/>
        </p:nvSpPr>
        <p:spPr>
          <a:xfrm>
            <a:off x="749808" y="2670048"/>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96112" y="2715768"/>
            <a:ext cx="2377440" cy="219456"/>
          </a:xfrm>
          <a:prstGeom prst="rect">
            <a:avLst/>
          </a:prstGeom>
          <a:noFill/>
        </p:spPr>
        <p:txBody>
          <a:bodyPr wrap="square" lIns="0" tIns="0" rIns="0" bIns="0" anchor="t">
            <a:spAutoFit/>
          </a:bodyPr>
          <a:lstStyle/>
          <a:p>
            <a:pPr algn="l"/>
            <a:r>
              <a:rPr sz="1050" b="1" i="0">
                <a:solidFill>
                  <a:srgbClr val="FFFFFF"/>
                </a:solidFill>
                <a:latin typeface="Calibri"/>
              </a:rPr>
              <a:t>Situation summary</a:t>
            </a:r>
          </a:p>
        </p:txBody>
      </p:sp>
      <p:sp>
        <p:nvSpPr>
          <p:cNvPr id="9" name="TextBox 8"/>
          <p:cNvSpPr txBox="1"/>
          <p:nvPr/>
        </p:nvSpPr>
        <p:spPr>
          <a:xfrm>
            <a:off x="896112" y="2926080"/>
            <a:ext cx="2377440" cy="219456"/>
          </a:xfrm>
          <a:prstGeom prst="rect">
            <a:avLst/>
          </a:prstGeom>
          <a:noFill/>
        </p:spPr>
        <p:txBody>
          <a:bodyPr wrap="square" lIns="0" tIns="0" rIns="0" bIns="0" anchor="t">
            <a:spAutoFit/>
          </a:bodyPr>
          <a:lstStyle/>
          <a:p>
            <a:pPr algn="l"/>
            <a:r>
              <a:rPr sz="900" b="0" i="0">
                <a:solidFill>
                  <a:srgbClr val="9FB0CE"/>
                </a:solidFill>
                <a:latin typeface="Calibri"/>
              </a:rPr>
              <a:t>Your situation briefly</a:t>
            </a:r>
          </a:p>
        </p:txBody>
      </p:sp>
      <p:sp>
        <p:nvSpPr>
          <p:cNvPr id="10" name="Rounded Rectangle 9"/>
          <p:cNvSpPr/>
          <p:nvPr/>
        </p:nvSpPr>
        <p:spPr>
          <a:xfrm>
            <a:off x="749808" y="3268980"/>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96112" y="3314700"/>
            <a:ext cx="2377440" cy="219456"/>
          </a:xfrm>
          <a:prstGeom prst="rect">
            <a:avLst/>
          </a:prstGeom>
          <a:noFill/>
        </p:spPr>
        <p:txBody>
          <a:bodyPr wrap="square" lIns="0" tIns="0" rIns="0" bIns="0" anchor="t">
            <a:spAutoFit/>
          </a:bodyPr>
          <a:lstStyle/>
          <a:p>
            <a:pPr algn="l"/>
            <a:r>
              <a:rPr sz="1050" b="1" i="0">
                <a:solidFill>
                  <a:srgbClr val="FFFFFF"/>
                </a:solidFill>
                <a:latin typeface="Calibri"/>
              </a:rPr>
              <a:t>Clarifying question</a:t>
            </a:r>
          </a:p>
        </p:txBody>
      </p:sp>
      <p:sp>
        <p:nvSpPr>
          <p:cNvPr id="12" name="TextBox 11"/>
          <p:cNvSpPr txBox="1"/>
          <p:nvPr/>
        </p:nvSpPr>
        <p:spPr>
          <a:xfrm>
            <a:off x="896112" y="3525012"/>
            <a:ext cx="2377440" cy="219456"/>
          </a:xfrm>
          <a:prstGeom prst="rect">
            <a:avLst/>
          </a:prstGeom>
          <a:noFill/>
        </p:spPr>
        <p:txBody>
          <a:bodyPr wrap="square" lIns="0" tIns="0" rIns="0" bIns="0" anchor="t">
            <a:spAutoFit/>
          </a:bodyPr>
          <a:lstStyle/>
          <a:p>
            <a:pPr algn="l"/>
            <a:r>
              <a:rPr sz="900" b="0" i="0">
                <a:solidFill>
                  <a:srgbClr val="9FB0CE"/>
                </a:solidFill>
                <a:latin typeface="Calibri"/>
              </a:rPr>
              <a:t>One question — for clarity</a:t>
            </a:r>
          </a:p>
        </p:txBody>
      </p:sp>
      <p:sp>
        <p:nvSpPr>
          <p:cNvPr id="13" name="Rounded Rectangle 12"/>
          <p:cNvSpPr/>
          <p:nvPr/>
        </p:nvSpPr>
        <p:spPr>
          <a:xfrm>
            <a:off x="749808" y="3867912"/>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96112" y="3913632"/>
            <a:ext cx="2377440" cy="219456"/>
          </a:xfrm>
          <a:prstGeom prst="rect">
            <a:avLst/>
          </a:prstGeom>
          <a:noFill/>
        </p:spPr>
        <p:txBody>
          <a:bodyPr wrap="square" lIns="0" tIns="0" rIns="0" bIns="0" anchor="t">
            <a:spAutoFit/>
          </a:bodyPr>
          <a:lstStyle/>
          <a:p>
            <a:pPr algn="l"/>
            <a:r>
              <a:rPr sz="1050" b="1" i="0">
                <a:solidFill>
                  <a:srgbClr val="FFFFFF"/>
                </a:solidFill>
                <a:latin typeface="Calibri"/>
              </a:rPr>
              <a:t>Steps</a:t>
            </a:r>
          </a:p>
        </p:txBody>
      </p:sp>
      <p:sp>
        <p:nvSpPr>
          <p:cNvPr id="15" name="TextBox 14"/>
          <p:cNvSpPr txBox="1"/>
          <p:nvPr/>
        </p:nvSpPr>
        <p:spPr>
          <a:xfrm>
            <a:off x="896112" y="4123944"/>
            <a:ext cx="2377440" cy="219456"/>
          </a:xfrm>
          <a:prstGeom prst="rect">
            <a:avLst/>
          </a:prstGeom>
          <a:noFill/>
        </p:spPr>
        <p:txBody>
          <a:bodyPr wrap="square" lIns="0" tIns="0" rIns="0" bIns="0" anchor="t">
            <a:spAutoFit/>
          </a:bodyPr>
          <a:lstStyle/>
          <a:p>
            <a:pPr algn="l"/>
            <a:r>
              <a:rPr sz="900" b="0" i="0">
                <a:solidFill>
                  <a:srgbClr val="9FB0CE"/>
                </a:solidFill>
                <a:latin typeface="Calibri"/>
              </a:rPr>
              <a:t>1 → 2 → 3, with a period</a:t>
            </a:r>
          </a:p>
        </p:txBody>
      </p:sp>
      <p:sp>
        <p:nvSpPr>
          <p:cNvPr id="16" name="Rounded Rectangle 15"/>
          <p:cNvSpPr/>
          <p:nvPr/>
        </p:nvSpPr>
        <p:spPr>
          <a:xfrm>
            <a:off x="749808" y="4466844"/>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96112" y="4512564"/>
            <a:ext cx="2377440" cy="219456"/>
          </a:xfrm>
          <a:prstGeom prst="rect">
            <a:avLst/>
          </a:prstGeom>
          <a:noFill/>
        </p:spPr>
        <p:txBody>
          <a:bodyPr wrap="square" lIns="0" tIns="0" rIns="0" bIns="0" anchor="t">
            <a:spAutoFit/>
          </a:bodyPr>
          <a:lstStyle/>
          <a:p>
            <a:pPr algn="l"/>
            <a:r>
              <a:rPr sz="1050" b="1" i="0">
                <a:solidFill>
                  <a:srgbClr val="FFFFFF"/>
                </a:solidFill>
                <a:latin typeface="Calibri"/>
              </a:rPr>
              <a:t>Legal basis</a:t>
            </a:r>
          </a:p>
        </p:txBody>
      </p:sp>
      <p:sp>
        <p:nvSpPr>
          <p:cNvPr id="18" name="TextBox 17"/>
          <p:cNvSpPr txBox="1"/>
          <p:nvPr/>
        </p:nvSpPr>
        <p:spPr>
          <a:xfrm>
            <a:off x="896112" y="4722876"/>
            <a:ext cx="2377440" cy="219456"/>
          </a:xfrm>
          <a:prstGeom prst="rect">
            <a:avLst/>
          </a:prstGeom>
          <a:noFill/>
        </p:spPr>
        <p:txBody>
          <a:bodyPr wrap="square" lIns="0" tIns="0" rIns="0" bIns="0" anchor="t">
            <a:spAutoFit/>
          </a:bodyPr>
          <a:lstStyle/>
          <a:p>
            <a:pPr algn="l"/>
            <a:r>
              <a:rPr sz="900" b="0" i="0">
                <a:solidFill>
                  <a:srgbClr val="9FB0CE"/>
                </a:solidFill>
                <a:latin typeface="Calibri"/>
              </a:rPr>
              <a:t>Material and source</a:t>
            </a:r>
          </a:p>
        </p:txBody>
      </p:sp>
      <p:sp>
        <p:nvSpPr>
          <p:cNvPr id="19" name="Rounded Rectangle 18"/>
          <p:cNvSpPr/>
          <p:nvPr/>
        </p:nvSpPr>
        <p:spPr>
          <a:xfrm>
            <a:off x="749808" y="5065776"/>
            <a:ext cx="2633472" cy="530352"/>
          </a:xfrm>
          <a:prstGeom prst="roundRect">
            <a:avLst>
              <a:gd name="adj" fmla="val 9000"/>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96112" y="5111496"/>
            <a:ext cx="2377440" cy="219456"/>
          </a:xfrm>
          <a:prstGeom prst="rect">
            <a:avLst/>
          </a:prstGeom>
          <a:noFill/>
        </p:spPr>
        <p:txBody>
          <a:bodyPr wrap="square" lIns="0" tIns="0" rIns="0" bIns="0" anchor="t">
            <a:spAutoFit/>
          </a:bodyPr>
          <a:lstStyle/>
          <a:p>
            <a:pPr algn="l"/>
            <a:r>
              <a:rPr sz="1050" b="1" i="0">
                <a:solidFill>
                  <a:srgbClr val="FFFFFF"/>
                </a:solidFill>
                <a:latin typeface="Calibri"/>
              </a:rPr>
              <a:t>Risk level</a:t>
            </a:r>
          </a:p>
        </p:txBody>
      </p:sp>
      <p:sp>
        <p:nvSpPr>
          <p:cNvPr id="21" name="TextBox 20"/>
          <p:cNvSpPr txBox="1"/>
          <p:nvPr/>
        </p:nvSpPr>
        <p:spPr>
          <a:xfrm>
            <a:off x="896112" y="5321808"/>
            <a:ext cx="2377440" cy="219456"/>
          </a:xfrm>
          <a:prstGeom prst="rect">
            <a:avLst/>
          </a:prstGeom>
          <a:noFill/>
        </p:spPr>
        <p:txBody>
          <a:bodyPr wrap="square" lIns="0" tIns="0" rIns="0" bIns="0" anchor="t">
            <a:spAutoFit/>
          </a:bodyPr>
          <a:lstStyle/>
          <a:p>
            <a:pPr algn="l"/>
            <a:r>
              <a:rPr sz="900" b="0" i="0">
                <a:solidFill>
                  <a:srgbClr val="9FB0CE"/>
                </a:solidFill>
                <a:latin typeface="Calibri"/>
              </a:rPr>
              <a:t>Low / Medium / High</a:t>
            </a:r>
          </a:p>
        </p:txBody>
      </p:sp>
      <p:sp>
        <p:nvSpPr>
          <p:cNvPr id="22" name="Rounded Rectangle 21"/>
          <p:cNvSpPr/>
          <p:nvPr/>
        </p:nvSpPr>
        <p:spPr>
          <a:xfrm>
            <a:off x="749808" y="5687568"/>
            <a:ext cx="2633472" cy="384048"/>
          </a:xfrm>
          <a:prstGeom prst="roundRect">
            <a:avLst>
              <a:gd name="adj" fmla="val 20000"/>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749808" y="5696712"/>
            <a:ext cx="2633472" cy="365760"/>
          </a:xfrm>
          <a:prstGeom prst="rect">
            <a:avLst/>
          </a:prstGeom>
          <a:noFill/>
        </p:spPr>
        <p:txBody>
          <a:bodyPr wrap="square" lIns="0" tIns="0" rIns="0" bIns="0" anchor="ctr">
            <a:spAutoFit/>
          </a:bodyPr>
          <a:lstStyle/>
          <a:p>
            <a:pPr algn="ctr"/>
            <a:r>
              <a:rPr sz="1050" b="1" i="0">
                <a:solidFill>
                  <a:srgbClr val="0A1733"/>
                </a:solidFill>
                <a:latin typeface="Calibri"/>
              </a:rPr>
              <a:t>Forming an application</a:t>
            </a:r>
          </a:p>
        </p:txBody>
      </p:sp>
      <p:sp>
        <p:nvSpPr>
          <p:cNvPr id="24" name="Oval 23"/>
          <p:cNvSpPr/>
          <p:nvPr/>
        </p:nvSpPr>
        <p:spPr>
          <a:xfrm>
            <a:off x="4041648" y="2267712"/>
            <a:ext cx="310896" cy="310896"/>
          </a:xfrm>
          <a:prstGeom prst="ellipse">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4041648" y="2272284"/>
            <a:ext cx="310896" cy="301752"/>
          </a:xfrm>
          <a:prstGeom prst="rect">
            <a:avLst/>
          </a:prstGeom>
          <a:noFill/>
        </p:spPr>
        <p:txBody>
          <a:bodyPr wrap="square" lIns="0" tIns="0" rIns="0" bIns="0" anchor="ctr">
            <a:spAutoFit/>
          </a:bodyPr>
          <a:lstStyle/>
          <a:p>
            <a:pPr algn="ctr"/>
            <a:r>
              <a:rPr sz="1100" b="1" i="0">
                <a:solidFill>
                  <a:srgbClr val="1F6FEB"/>
                </a:solidFill>
                <a:latin typeface="Calibri"/>
              </a:rPr>
              <a:t>1</a:t>
            </a:r>
          </a:p>
        </p:txBody>
      </p:sp>
      <p:sp>
        <p:nvSpPr>
          <p:cNvPr id="26" name="TextBox 25"/>
          <p:cNvSpPr txBox="1"/>
          <p:nvPr/>
        </p:nvSpPr>
        <p:spPr>
          <a:xfrm>
            <a:off x="4526280" y="2231136"/>
            <a:ext cx="6949440" cy="329184"/>
          </a:xfrm>
          <a:prstGeom prst="rect">
            <a:avLst/>
          </a:prstGeom>
          <a:noFill/>
        </p:spPr>
        <p:txBody>
          <a:bodyPr wrap="square" lIns="0" tIns="0" rIns="0" bIns="0" anchor="t">
            <a:spAutoFit/>
          </a:bodyPr>
          <a:lstStyle/>
          <a:p>
            <a:pPr algn="l"/>
            <a:r>
              <a:rPr sz="1700" b="1" i="0">
                <a:solidFill>
                  <a:srgbClr val="0A1733"/>
                </a:solidFill>
                <a:latin typeface="Cambria"/>
              </a:rPr>
              <a:t>Citizen</a:t>
            </a:r>
          </a:p>
        </p:txBody>
      </p:sp>
      <p:sp>
        <p:nvSpPr>
          <p:cNvPr id="27" name="TextBox 26"/>
          <p:cNvSpPr txBox="1"/>
          <p:nvPr/>
        </p:nvSpPr>
        <p:spPr>
          <a:xfrm>
            <a:off x="4526280" y="2578608"/>
            <a:ext cx="6903720" cy="457200"/>
          </a:xfrm>
          <a:prstGeom prst="rect">
            <a:avLst/>
          </a:prstGeom>
          <a:noFill/>
        </p:spPr>
        <p:txBody>
          <a:bodyPr wrap="square" lIns="0" tIns="0" rIns="0" bIns="0" anchor="t">
            <a:spAutoFit/>
          </a:bodyPr>
          <a:lstStyle/>
          <a:p>
            <a:pPr algn="l">
              <a:lnSpc>
                <a:spcPct val="124000"/>
              </a:lnSpc>
            </a:pPr>
            <a:r>
              <a:rPr sz="1300" b="0" i="0">
                <a:solidFill>
                  <a:srgbClr val="5C6B87"/>
                </a:solidFill>
                <a:latin typeface="Calibri"/>
              </a:rPr>
              <a:t>Write the problem in your own language — see it even without registering</a:t>
            </a:r>
          </a:p>
        </p:txBody>
      </p:sp>
      <p:sp>
        <p:nvSpPr>
          <p:cNvPr id="28" name="Oval 27"/>
          <p:cNvSpPr/>
          <p:nvPr/>
        </p:nvSpPr>
        <p:spPr>
          <a:xfrm>
            <a:off x="4041648" y="3127248"/>
            <a:ext cx="310896" cy="310896"/>
          </a:xfrm>
          <a:prstGeom prst="ellipse">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4041648" y="3131820"/>
            <a:ext cx="310896" cy="301752"/>
          </a:xfrm>
          <a:prstGeom prst="rect">
            <a:avLst/>
          </a:prstGeom>
          <a:noFill/>
        </p:spPr>
        <p:txBody>
          <a:bodyPr wrap="square" lIns="0" tIns="0" rIns="0" bIns="0" anchor="ctr">
            <a:spAutoFit/>
          </a:bodyPr>
          <a:lstStyle/>
          <a:p>
            <a:pPr algn="ctr"/>
            <a:r>
              <a:rPr sz="1100" b="1" i="0">
                <a:solidFill>
                  <a:srgbClr val="1F6FEB"/>
                </a:solidFill>
                <a:latin typeface="Calibri"/>
              </a:rPr>
              <a:t>2</a:t>
            </a:r>
          </a:p>
        </p:txBody>
      </p:sp>
      <p:sp>
        <p:nvSpPr>
          <p:cNvPr id="30" name="TextBox 29"/>
          <p:cNvSpPr txBox="1"/>
          <p:nvPr/>
        </p:nvSpPr>
        <p:spPr>
          <a:xfrm>
            <a:off x="4526280" y="3090672"/>
            <a:ext cx="6949440" cy="329184"/>
          </a:xfrm>
          <a:prstGeom prst="rect">
            <a:avLst/>
          </a:prstGeom>
          <a:noFill/>
        </p:spPr>
        <p:txBody>
          <a:bodyPr wrap="square" lIns="0" tIns="0" rIns="0" bIns="0" anchor="t">
            <a:spAutoFit/>
          </a:bodyPr>
          <a:lstStyle/>
          <a:p>
            <a:pPr algn="l"/>
            <a:r>
              <a:rPr sz="1700" b="1" i="0">
                <a:solidFill>
                  <a:srgbClr val="0A1733"/>
                </a:solidFill>
                <a:latin typeface="Cambria"/>
              </a:rPr>
              <a:t>Application</a:t>
            </a:r>
          </a:p>
        </p:txBody>
      </p:sp>
      <p:sp>
        <p:nvSpPr>
          <p:cNvPr id="31" name="TextBox 30"/>
          <p:cNvSpPr txBox="1"/>
          <p:nvPr/>
        </p:nvSpPr>
        <p:spPr>
          <a:xfrm>
            <a:off x="4526280" y="3438144"/>
            <a:ext cx="6903720" cy="457200"/>
          </a:xfrm>
          <a:prstGeom prst="rect">
            <a:avLst/>
          </a:prstGeom>
          <a:noFill/>
        </p:spPr>
        <p:txBody>
          <a:bodyPr wrap="square" lIns="0" tIns="0" rIns="0" bIns="0" anchor="t">
            <a:spAutoFit/>
          </a:bodyPr>
          <a:lstStyle/>
          <a:p>
            <a:pPr algn="l">
              <a:lnSpc>
                <a:spcPct val="124000"/>
              </a:lnSpc>
            </a:pPr>
            <a:r>
              <a:rPr sz="1300" b="0" i="0">
                <a:solidFill>
                  <a:srgbClr val="5C6B87"/>
                </a:solidFill>
                <a:latin typeface="Calibri"/>
              </a:rPr>
              <a:t>5-block answer + mandatory warning: this is advice, not a judgment</a:t>
            </a:r>
          </a:p>
        </p:txBody>
      </p:sp>
      <p:sp>
        <p:nvSpPr>
          <p:cNvPr id="32" name="Oval 31"/>
          <p:cNvSpPr/>
          <p:nvPr/>
        </p:nvSpPr>
        <p:spPr>
          <a:xfrm>
            <a:off x="4041648" y="3986784"/>
            <a:ext cx="310896" cy="310896"/>
          </a:xfrm>
          <a:prstGeom prst="ellipse">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4041648" y="3991356"/>
            <a:ext cx="310896" cy="301752"/>
          </a:xfrm>
          <a:prstGeom prst="rect">
            <a:avLst/>
          </a:prstGeom>
          <a:noFill/>
        </p:spPr>
        <p:txBody>
          <a:bodyPr wrap="square" lIns="0" tIns="0" rIns="0" bIns="0" anchor="ctr">
            <a:spAutoFit/>
          </a:bodyPr>
          <a:lstStyle/>
          <a:p>
            <a:pPr algn="ctr"/>
            <a:r>
              <a:rPr sz="1100" b="1" i="0">
                <a:solidFill>
                  <a:srgbClr val="1F6FEB"/>
                </a:solidFill>
                <a:latin typeface="Calibri"/>
              </a:rPr>
              <a:t>3</a:t>
            </a:r>
          </a:p>
        </p:txBody>
      </p:sp>
      <p:sp>
        <p:nvSpPr>
          <p:cNvPr id="34" name="TextBox 33"/>
          <p:cNvSpPr txBox="1"/>
          <p:nvPr/>
        </p:nvSpPr>
        <p:spPr>
          <a:xfrm>
            <a:off x="4526280" y="3950208"/>
            <a:ext cx="6949440" cy="329184"/>
          </a:xfrm>
          <a:prstGeom prst="rect">
            <a:avLst/>
          </a:prstGeom>
          <a:noFill/>
        </p:spPr>
        <p:txBody>
          <a:bodyPr wrap="square" lIns="0" tIns="0" rIns="0" bIns="0" anchor="t">
            <a:spAutoFit/>
          </a:bodyPr>
          <a:lstStyle/>
          <a:p>
            <a:pPr algn="l"/>
            <a:r>
              <a:rPr sz="1700" b="1" i="0">
                <a:solidFill>
                  <a:srgbClr val="0A1733"/>
                </a:solidFill>
                <a:latin typeface="Cambria"/>
              </a:rPr>
              <a:t>Community</a:t>
            </a:r>
          </a:p>
        </p:txBody>
      </p:sp>
      <p:sp>
        <p:nvSpPr>
          <p:cNvPr id="35" name="TextBox 34"/>
          <p:cNvSpPr txBox="1"/>
          <p:nvPr/>
        </p:nvSpPr>
        <p:spPr>
          <a:xfrm>
            <a:off x="4526280" y="4297680"/>
            <a:ext cx="6903720" cy="457200"/>
          </a:xfrm>
          <a:prstGeom prst="rect">
            <a:avLst/>
          </a:prstGeom>
          <a:noFill/>
        </p:spPr>
        <p:txBody>
          <a:bodyPr wrap="square" lIns="0" tIns="0" rIns="0" bIns="0" anchor="t">
            <a:spAutoFit/>
          </a:bodyPr>
          <a:lstStyle/>
          <a:p>
            <a:pPr algn="l">
              <a:lnSpc>
                <a:spcPct val="124000"/>
              </a:lnSpc>
            </a:pPr>
            <a:r>
              <a:rPr sz="1300" b="0" i="0">
                <a:solidFill>
                  <a:srgbClr val="5C6B87"/>
                </a:solidFill>
                <a:latin typeface="Calibri"/>
              </a:rPr>
              <a:t>The question can be asked anonymously; the lawyer who answers will be verified on the server side</a:t>
            </a:r>
          </a:p>
        </p:txBody>
      </p:sp>
      <p:sp>
        <p:nvSpPr>
          <p:cNvPr id="36" name="Oval 35"/>
          <p:cNvSpPr/>
          <p:nvPr/>
        </p:nvSpPr>
        <p:spPr>
          <a:xfrm>
            <a:off x="4041648" y="4846320"/>
            <a:ext cx="310896" cy="310896"/>
          </a:xfrm>
          <a:prstGeom prst="ellipse">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4041648" y="4850892"/>
            <a:ext cx="310896" cy="301752"/>
          </a:xfrm>
          <a:prstGeom prst="rect">
            <a:avLst/>
          </a:prstGeom>
          <a:noFill/>
        </p:spPr>
        <p:txBody>
          <a:bodyPr wrap="square" lIns="0" tIns="0" rIns="0" bIns="0" anchor="ctr">
            <a:spAutoFit/>
          </a:bodyPr>
          <a:lstStyle/>
          <a:p>
            <a:pPr algn="ctr"/>
            <a:r>
              <a:rPr sz="1100" b="1" i="0">
                <a:solidFill>
                  <a:srgbClr val="1F6FEB"/>
                </a:solidFill>
                <a:latin typeface="Calibri"/>
              </a:rPr>
              <a:t>4</a:t>
            </a:r>
          </a:p>
        </p:txBody>
      </p:sp>
      <p:sp>
        <p:nvSpPr>
          <p:cNvPr id="38" name="TextBox 37"/>
          <p:cNvSpPr txBox="1"/>
          <p:nvPr/>
        </p:nvSpPr>
        <p:spPr>
          <a:xfrm>
            <a:off x="4526280" y="4809744"/>
            <a:ext cx="6949440" cy="329184"/>
          </a:xfrm>
          <a:prstGeom prst="rect">
            <a:avLst/>
          </a:prstGeom>
          <a:noFill/>
        </p:spPr>
        <p:txBody>
          <a:bodyPr wrap="square" lIns="0" tIns="0" rIns="0" bIns="0" anchor="t">
            <a:spAutoFit/>
          </a:bodyPr>
          <a:lstStyle/>
          <a:p>
            <a:pPr algn="l"/>
            <a:r>
              <a:rPr sz="1700" b="1" i="0">
                <a:solidFill>
                  <a:srgbClr val="0A1733"/>
                </a:solidFill>
                <a:latin typeface="Cambria"/>
              </a:rPr>
              <a:t>Lawyer</a:t>
            </a:r>
          </a:p>
        </p:txBody>
      </p:sp>
      <p:sp>
        <p:nvSpPr>
          <p:cNvPr id="39" name="TextBox 38"/>
          <p:cNvSpPr txBox="1"/>
          <p:nvPr/>
        </p:nvSpPr>
        <p:spPr>
          <a:xfrm>
            <a:off x="4526280" y="5157216"/>
            <a:ext cx="6903720" cy="457200"/>
          </a:xfrm>
          <a:prstGeom prst="rect">
            <a:avLst/>
          </a:prstGeom>
          <a:noFill/>
        </p:spPr>
        <p:txBody>
          <a:bodyPr wrap="square" lIns="0" tIns="0" rIns="0" bIns="0" anchor="t">
            <a:spAutoFit/>
          </a:bodyPr>
          <a:lstStyle/>
          <a:p>
            <a:pPr algn="l">
              <a:lnSpc>
                <a:spcPct val="124000"/>
              </a:lnSpc>
            </a:pPr>
            <a:r>
              <a:rPr sz="1300" b="0" i="0">
                <a:solidFill>
                  <a:srgbClr val="5C6B87"/>
                </a:solidFill>
                <a:latin typeface="Calibri"/>
              </a:rPr>
              <a:t>A 45-minute slot can be booked — online, by phone or in the office.</a:t>
            </a:r>
          </a:p>
        </p:txBody>
      </p:sp>
      <p:sp>
        <p:nvSpPr>
          <p:cNvPr id="40" name="Rounded Rectangle 39"/>
          <p:cNvSpPr/>
          <p:nvPr/>
        </p:nvSpPr>
        <p:spPr>
          <a:xfrm>
            <a:off x="4041648" y="5687568"/>
            <a:ext cx="7571231" cy="530352"/>
          </a:xfrm>
          <a:prstGeom prst="roundRect">
            <a:avLst>
              <a:gd name="adj" fmla="val 9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4279392" y="5705856"/>
            <a:ext cx="7223760" cy="493776"/>
          </a:xfrm>
          <a:prstGeom prst="rect">
            <a:avLst/>
          </a:prstGeom>
          <a:noFill/>
        </p:spPr>
        <p:txBody>
          <a:bodyPr wrap="square" lIns="0" tIns="0" rIns="0" bIns="0" anchor="ctr">
            <a:spAutoFit/>
          </a:bodyPr>
          <a:lstStyle/>
          <a:p>
            <a:pPr algn="l">
              <a:lnSpc>
                <a:spcPct val="120000"/>
              </a:lnSpc>
            </a:pPr>
            <a:r>
              <a:rPr sz="1200" b="1" i="0">
                <a:solidFill>
                  <a:srgbClr val="0A1733"/>
                </a:solidFill>
                <a:latin typeface="Calibri"/>
              </a:rPr>
              <a:t>Guest mode: can be viewed without registering — the obstacle in the first step has been removed.</a:t>
            </a:r>
          </a:p>
        </p:txBody>
      </p:sp>
      <p:sp>
        <p:nvSpPr>
          <p:cNvPr id="42" name="TextBox 41"/>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The image on the left is a schematic. The actual response structure in the Blocks app: legal_assistant_page.dart:387-413 · FACT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06 · MARKET AND BUSINESS MODEL</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Who pays? Citizen. We get 10%.</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No subscription, no credit — just a completed consultation.</a:t>
            </a:r>
          </a:p>
        </p:txBody>
      </p:sp>
      <p:sp>
        <p:nvSpPr>
          <p:cNvPr id="5" name="Rounded Rectangle 4"/>
          <p:cNvSpPr/>
          <p:nvPr/>
        </p:nvSpPr>
        <p:spPr>
          <a:xfrm>
            <a:off x="566928" y="2286000"/>
            <a:ext cx="3703320" cy="731520"/>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68096" y="2286000"/>
            <a:ext cx="1371600" cy="731520"/>
          </a:xfrm>
          <a:prstGeom prst="rect">
            <a:avLst/>
          </a:prstGeom>
          <a:noFill/>
        </p:spPr>
        <p:txBody>
          <a:bodyPr wrap="square" lIns="0" tIns="0" rIns="0" bIns="0" anchor="ctr">
            <a:spAutoFit/>
          </a:bodyPr>
          <a:lstStyle/>
          <a:p>
            <a:pPr algn="l"/>
            <a:r>
              <a:rPr sz="2100" b="1" i="0">
                <a:solidFill>
                  <a:srgbClr val="0A1733"/>
                </a:solidFill>
                <a:latin typeface="Cambria"/>
              </a:rPr>
              <a:t>32.7 million</a:t>
            </a:r>
          </a:p>
        </p:txBody>
      </p:sp>
      <p:sp>
        <p:nvSpPr>
          <p:cNvPr id="7" name="TextBox 6"/>
          <p:cNvSpPr txBox="1"/>
          <p:nvPr/>
        </p:nvSpPr>
        <p:spPr>
          <a:xfrm>
            <a:off x="2194560" y="2340864"/>
            <a:ext cx="1874519" cy="457200"/>
          </a:xfrm>
          <a:prstGeom prst="rect">
            <a:avLst/>
          </a:prstGeom>
          <a:noFill/>
        </p:spPr>
        <p:txBody>
          <a:bodyPr wrap="square" lIns="0" tIns="0" rIns="0" bIns="0" anchor="ctr">
            <a:spAutoFit/>
          </a:bodyPr>
          <a:lstStyle/>
          <a:p>
            <a:pPr algn="l">
              <a:lnSpc>
                <a:spcPct val="116000"/>
              </a:lnSpc>
            </a:pPr>
            <a:r>
              <a:rPr sz="1050" b="0" i="0">
                <a:solidFill>
                  <a:srgbClr val="5C6B87"/>
                </a:solidFill>
                <a:latin typeface="Calibri"/>
              </a:rPr>
              <a:t>Internet-connected population</a:t>
            </a:r>
          </a:p>
        </p:txBody>
      </p:sp>
      <p:sp>
        <p:nvSpPr>
          <p:cNvPr id="8" name="Rectangle 7"/>
          <p:cNvSpPr/>
          <p:nvPr/>
        </p:nvSpPr>
        <p:spPr>
          <a:xfrm>
            <a:off x="2194560" y="2834640"/>
            <a:ext cx="1874519" cy="41148"/>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2194560" y="2834640"/>
            <a:ext cx="1874519"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566928" y="3145536"/>
            <a:ext cx="3703320" cy="731520"/>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68096" y="3145536"/>
            <a:ext cx="1371600" cy="731520"/>
          </a:xfrm>
          <a:prstGeom prst="rect">
            <a:avLst/>
          </a:prstGeom>
          <a:noFill/>
        </p:spPr>
        <p:txBody>
          <a:bodyPr wrap="square" lIns="0" tIns="0" rIns="0" bIns="0" anchor="ctr">
            <a:spAutoFit/>
          </a:bodyPr>
          <a:lstStyle/>
          <a:p>
            <a:pPr algn="l"/>
            <a:r>
              <a:rPr sz="2100" b="1" i="0">
                <a:solidFill>
                  <a:srgbClr val="0A1733"/>
                </a:solidFill>
                <a:latin typeface="Cambria"/>
              </a:rPr>
              <a:t>8.6%</a:t>
            </a:r>
          </a:p>
        </p:txBody>
      </p:sp>
      <p:sp>
        <p:nvSpPr>
          <p:cNvPr id="12" name="TextBox 11"/>
          <p:cNvSpPr txBox="1"/>
          <p:nvPr/>
        </p:nvSpPr>
        <p:spPr>
          <a:xfrm>
            <a:off x="2194560" y="3200400"/>
            <a:ext cx="1874519" cy="457200"/>
          </a:xfrm>
          <a:prstGeom prst="rect">
            <a:avLst/>
          </a:prstGeom>
          <a:noFill/>
        </p:spPr>
        <p:txBody>
          <a:bodyPr wrap="square" lIns="0" tIns="0" rIns="0" bIns="0" anchor="ctr">
            <a:spAutoFit/>
          </a:bodyPr>
          <a:lstStyle/>
          <a:p>
            <a:pPr algn="l">
              <a:lnSpc>
                <a:spcPct val="116000"/>
              </a:lnSpc>
            </a:pPr>
            <a:r>
              <a:rPr sz="1050" b="0" i="0">
                <a:solidFill>
                  <a:srgbClr val="5C6B87"/>
                </a:solidFill>
                <a:latin typeface="Calibri"/>
              </a:rPr>
              <a:t>He will reach the lawyer today.</a:t>
            </a:r>
          </a:p>
        </p:txBody>
      </p:sp>
      <p:sp>
        <p:nvSpPr>
          <p:cNvPr id="13" name="Rectangle 12"/>
          <p:cNvSpPr/>
          <p:nvPr/>
        </p:nvSpPr>
        <p:spPr>
          <a:xfrm>
            <a:off x="2194560" y="3694176"/>
            <a:ext cx="1874519" cy="41148"/>
          </a:xfrm>
          <a:prstGeom prst="rect">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2194560" y="3694176"/>
            <a:ext cx="16120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566928" y="4005072"/>
            <a:ext cx="3703320" cy="731520"/>
          </a:xfrm>
          <a:prstGeom prst="roundRect">
            <a:avLst>
              <a:gd name="adj" fmla="val 7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68096" y="4005072"/>
            <a:ext cx="1371600" cy="731520"/>
          </a:xfrm>
          <a:prstGeom prst="rect">
            <a:avLst/>
          </a:prstGeom>
          <a:noFill/>
        </p:spPr>
        <p:txBody>
          <a:bodyPr wrap="square" lIns="0" tIns="0" rIns="0" bIns="0" anchor="ctr">
            <a:spAutoFit/>
          </a:bodyPr>
          <a:lstStyle/>
          <a:p>
            <a:pPr algn="l"/>
            <a:r>
              <a:rPr sz="2100" b="1" i="0">
                <a:solidFill>
                  <a:srgbClr val="FFFFFF"/>
                </a:solidFill>
                <a:latin typeface="Cambria"/>
              </a:rPr>
              <a:t>~91%</a:t>
            </a:r>
          </a:p>
        </p:txBody>
      </p:sp>
      <p:sp>
        <p:nvSpPr>
          <p:cNvPr id="17" name="TextBox 16"/>
          <p:cNvSpPr txBox="1"/>
          <p:nvPr/>
        </p:nvSpPr>
        <p:spPr>
          <a:xfrm>
            <a:off x="2194560" y="4059935"/>
            <a:ext cx="1874519" cy="457200"/>
          </a:xfrm>
          <a:prstGeom prst="rect">
            <a:avLst/>
          </a:prstGeom>
          <a:noFill/>
        </p:spPr>
        <p:txBody>
          <a:bodyPr wrap="square" lIns="0" tIns="0" rIns="0" bIns="0" anchor="ctr">
            <a:spAutoFit/>
          </a:bodyPr>
          <a:lstStyle/>
          <a:p>
            <a:pPr algn="l">
              <a:lnSpc>
                <a:spcPct val="116000"/>
              </a:lnSpc>
            </a:pPr>
            <a:r>
              <a:rPr sz="1050" b="0" i="0">
                <a:solidFill>
                  <a:srgbClr val="C7D3E8"/>
                </a:solidFill>
                <a:latin typeface="Calibri"/>
              </a:rPr>
              <a:t>Out of service scope</a:t>
            </a:r>
          </a:p>
        </p:txBody>
      </p:sp>
      <p:sp>
        <p:nvSpPr>
          <p:cNvPr id="18" name="Rectangle 17"/>
          <p:cNvSpPr/>
          <p:nvPr/>
        </p:nvSpPr>
        <p:spPr>
          <a:xfrm>
            <a:off x="2194560" y="4553712"/>
            <a:ext cx="1874519" cy="41148"/>
          </a:xfrm>
          <a:prstGeom prst="rect">
            <a:avLst/>
          </a:prstGeom>
          <a:solidFill>
            <a:srgbClr val="1B3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2194560" y="4553712"/>
            <a:ext cx="1713311" cy="41148"/>
          </a:xfrm>
          <a:prstGeom prst="rect">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566928" y="4882896"/>
            <a:ext cx="3131820"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30936" y="4878324"/>
            <a:ext cx="3003804" cy="224028"/>
          </a:xfrm>
          <a:prstGeom prst="rect">
            <a:avLst/>
          </a:prstGeom>
          <a:noFill/>
        </p:spPr>
        <p:txBody>
          <a:bodyPr wrap="square" lIns="0" tIns="0" rIns="0" bIns="0" anchor="ctr">
            <a:spAutoFit/>
          </a:bodyPr>
          <a:lstStyle/>
          <a:p>
            <a:pPr algn="ctr"/>
            <a:r>
              <a:rPr sz="800" b="1" i="0" spc="70">
                <a:solidFill>
                  <a:srgbClr val="1F6FEB"/>
                </a:solidFill>
                <a:latin typeface="Calibri"/>
              </a:rPr>
              <a:t>FACT DataReportal 2025 · UNDP 2025</a:t>
            </a:r>
          </a:p>
        </p:txBody>
      </p:sp>
      <p:sp>
        <p:nvSpPr>
          <p:cNvPr id="22" name="Rounded Rectangle 21"/>
          <p:cNvSpPr/>
          <p:nvPr/>
        </p:nvSpPr>
        <p:spPr>
          <a:xfrm>
            <a:off x="566928" y="5212080"/>
            <a:ext cx="3209544" cy="214884"/>
          </a:xfrm>
          <a:prstGeom prst="roundRect">
            <a:avLst>
              <a:gd name="adj" fmla="val 50000"/>
            </a:avLst>
          </a:prstGeom>
          <a:noFill/>
          <a:ln w="9525">
            <a:solidFill>
              <a:srgbClr val="C8A26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30936" y="5207508"/>
            <a:ext cx="3081528" cy="224028"/>
          </a:xfrm>
          <a:prstGeom prst="rect">
            <a:avLst/>
          </a:prstGeom>
          <a:noFill/>
        </p:spPr>
        <p:txBody>
          <a:bodyPr wrap="square" lIns="0" tIns="0" rIns="0" bIns="0" anchor="ctr">
            <a:spAutoFit/>
          </a:bodyPr>
          <a:lstStyle/>
          <a:p>
            <a:pPr algn="ctr"/>
            <a:r>
              <a:rPr sz="800" b="1" i="0" spc="70">
                <a:solidFill>
                  <a:srgbClr val="C8A265"/>
                </a:solidFill>
                <a:latin typeface="Calibri"/>
              </a:rPr>
              <a:t>ESTIMATE ~91% — obtained from 100−8.6</a:t>
            </a:r>
          </a:p>
        </p:txBody>
      </p:sp>
      <p:sp>
        <p:nvSpPr>
          <p:cNvPr id="24" name="TextBox 23"/>
          <p:cNvSpPr txBox="1"/>
          <p:nvPr/>
        </p:nvSpPr>
        <p:spPr>
          <a:xfrm>
            <a:off x="4572000" y="2212848"/>
            <a:ext cx="3108960" cy="274320"/>
          </a:xfrm>
          <a:prstGeom prst="rect">
            <a:avLst/>
          </a:prstGeom>
          <a:noFill/>
        </p:spPr>
        <p:txBody>
          <a:bodyPr wrap="square" lIns="0" tIns="0" rIns="0" bIns="0" anchor="t">
            <a:spAutoFit/>
          </a:bodyPr>
          <a:lstStyle/>
          <a:p>
            <a:pPr algn="l"/>
            <a:r>
              <a:rPr sz="950" b="1" i="0" spc="150">
                <a:solidFill>
                  <a:srgbClr val="5C6B87"/>
                </a:solidFill>
                <a:latin typeface="Calibri"/>
              </a:rPr>
              <a:t>ONE CONSULTATION</a:t>
            </a:r>
          </a:p>
        </p:txBody>
      </p:sp>
      <p:sp>
        <p:nvSpPr>
          <p:cNvPr id="25" name="TextBox 24"/>
          <p:cNvSpPr txBox="1"/>
          <p:nvPr/>
        </p:nvSpPr>
        <p:spPr>
          <a:xfrm>
            <a:off x="4572000" y="2505456"/>
            <a:ext cx="3200400" cy="502920"/>
          </a:xfrm>
          <a:prstGeom prst="rect">
            <a:avLst/>
          </a:prstGeom>
          <a:noFill/>
        </p:spPr>
        <p:txBody>
          <a:bodyPr wrap="square" lIns="0" tIns="0" rIns="0" bIns="0" anchor="t">
            <a:spAutoFit/>
          </a:bodyPr>
          <a:lstStyle/>
          <a:p>
            <a:pPr algn="l"/>
            <a:r>
              <a:rPr sz="2700" b="1" i="0">
                <a:solidFill>
                  <a:srgbClr val="0A1733"/>
                </a:solidFill>
                <a:latin typeface="Cambria"/>
              </a:rPr>
              <a:t>150,000 soums</a:t>
            </a:r>
          </a:p>
        </p:txBody>
      </p:sp>
      <p:sp>
        <p:nvSpPr>
          <p:cNvPr id="26" name="TextBox 25"/>
          <p:cNvSpPr txBox="1"/>
          <p:nvPr/>
        </p:nvSpPr>
        <p:spPr>
          <a:xfrm>
            <a:off x="4572000" y="3035808"/>
            <a:ext cx="3200400" cy="256032"/>
          </a:xfrm>
          <a:prstGeom prst="rect">
            <a:avLst/>
          </a:prstGeom>
          <a:noFill/>
        </p:spPr>
        <p:txBody>
          <a:bodyPr wrap="square" lIns="0" tIns="0" rIns="0" bIns="0" anchor="t">
            <a:spAutoFit/>
          </a:bodyPr>
          <a:lstStyle/>
          <a:p>
            <a:pPr algn="l"/>
            <a:r>
              <a:rPr sz="1100" b="0" i="0">
                <a:solidFill>
                  <a:srgbClr val="5C6B87"/>
                </a:solidFill>
                <a:latin typeface="Calibri"/>
              </a:rPr>
              <a:t>45 minutes · default price</a:t>
            </a:r>
          </a:p>
        </p:txBody>
      </p:sp>
      <p:sp>
        <p:nvSpPr>
          <p:cNvPr id="27" name="Rectangle 26"/>
          <p:cNvSpPr/>
          <p:nvPr/>
        </p:nvSpPr>
        <p:spPr>
          <a:xfrm>
            <a:off x="4572000" y="3493008"/>
            <a:ext cx="2518257" cy="310896"/>
          </a:xfrm>
          <a:prstGeom prst="rect">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7090257" y="3493008"/>
            <a:ext cx="279806" cy="310896"/>
          </a:xfrm>
          <a:prstGeom prst="rect">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4572000" y="3913632"/>
            <a:ext cx="3200400" cy="822960"/>
          </a:xfrm>
          <a:prstGeom prst="rect">
            <a:avLst/>
          </a:prstGeom>
          <a:noFill/>
        </p:spPr>
        <p:txBody>
          <a:bodyPr wrap="square" lIns="0" tIns="0" rIns="0" bIns="0" anchor="t">
            <a:spAutoFit/>
          </a:bodyPr>
          <a:lstStyle/>
          <a:p>
            <a:pPr algn="l">
              <a:spcAft>
                <a:spcPts val="300"/>
              </a:spcAft>
            </a:pPr>
            <a:r>
              <a:rPr sz="1250" b="1" i="0">
                <a:solidFill>
                  <a:srgbClr val="0A1733"/>
                </a:solidFill>
                <a:latin typeface="Calibri"/>
              </a:rPr>
              <a:t>135,000 soums — to a lawyer</a:t>
            </a:r>
          </a:p>
          <a:p>
            <a:pPr algn="l"/>
            <a:r>
              <a:rPr sz="1250" b="1" i="0">
                <a:solidFill>
                  <a:srgbClr val="C8A265"/>
                </a:solidFill>
                <a:latin typeface="Calibri"/>
              </a:rPr>
              <a:t>15,000 soums — LexHub (10%)</a:t>
            </a:r>
          </a:p>
        </p:txBody>
      </p:sp>
      <p:sp>
        <p:nvSpPr>
          <p:cNvPr id="30" name="TextBox 29"/>
          <p:cNvSpPr txBox="1"/>
          <p:nvPr/>
        </p:nvSpPr>
        <p:spPr>
          <a:xfrm>
            <a:off x="4572000" y="4718304"/>
            <a:ext cx="3108960" cy="1097280"/>
          </a:xfrm>
          <a:prstGeom prst="rect">
            <a:avLst/>
          </a:prstGeom>
          <a:noFill/>
        </p:spPr>
        <p:txBody>
          <a:bodyPr wrap="square" lIns="0" tIns="0" rIns="0" bIns="0" anchor="t">
            <a:spAutoFit/>
          </a:bodyPr>
          <a:lstStyle/>
          <a:p>
            <a:pPr algn="l">
              <a:lnSpc>
                <a:spcPct val="124000"/>
              </a:lnSpc>
            </a:pPr>
            <a:r>
              <a:rPr sz="1100" b="0" i="0">
                <a:solidFill>
                  <a:srgbClr val="5C6B87"/>
                </a:solidFill>
                <a:latin typeface="Calibri"/>
              </a:rPr>
              <a:t>The commission is calculated on the server side — the client application cannot affect this number.</a:t>
            </a:r>
          </a:p>
        </p:txBody>
      </p:sp>
      <p:sp>
        <p:nvSpPr>
          <p:cNvPr id="31" name="Rounded Rectangle 30"/>
          <p:cNvSpPr/>
          <p:nvPr/>
        </p:nvSpPr>
        <p:spPr>
          <a:xfrm>
            <a:off x="4572000" y="5779008"/>
            <a:ext cx="2510028"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4636008" y="5774436"/>
            <a:ext cx="2382012" cy="224028"/>
          </a:xfrm>
          <a:prstGeom prst="rect">
            <a:avLst/>
          </a:prstGeom>
          <a:noFill/>
        </p:spPr>
        <p:txBody>
          <a:bodyPr wrap="square" lIns="0" tIns="0" rIns="0" bIns="0" anchor="ctr">
            <a:spAutoFit/>
          </a:bodyPr>
          <a:lstStyle/>
          <a:p>
            <a:pPr algn="ctr"/>
            <a:r>
              <a:rPr sz="800" b="1" i="0" spc="70">
                <a:solidFill>
                  <a:srgbClr val="1F6FEB"/>
                </a:solidFill>
                <a:latin typeface="Calibri"/>
              </a:rPr>
              <a:t>FACT schema.sql:1329, 1573</a:t>
            </a:r>
          </a:p>
        </p:txBody>
      </p:sp>
      <p:graphicFrame>
        <p:nvGraphicFramePr>
          <p:cNvPr id="33" name="Chart 32"/>
          <p:cNvGraphicFramePr>
            <a:graphicFrameLocks noGrp="1"/>
          </p:cNvGraphicFramePr>
          <p:nvPr/>
        </p:nvGraphicFramePr>
        <p:xfrm>
          <a:off x="7973568" y="2212848"/>
          <a:ext cx="36576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34" name="Rounded Rectangle 33"/>
          <p:cNvSpPr/>
          <p:nvPr/>
        </p:nvSpPr>
        <p:spPr>
          <a:xfrm>
            <a:off x="7882127" y="5541264"/>
            <a:ext cx="3675888" cy="214884"/>
          </a:xfrm>
          <a:prstGeom prst="roundRect">
            <a:avLst>
              <a:gd name="adj" fmla="val 50000"/>
            </a:avLst>
          </a:prstGeom>
          <a:noFill/>
          <a:ln w="9525">
            <a:solidFill>
              <a:srgbClr val="5C6B8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7946136" y="5536692"/>
            <a:ext cx="3547872" cy="224028"/>
          </a:xfrm>
          <a:prstGeom prst="rect">
            <a:avLst/>
          </a:prstGeom>
          <a:noFill/>
        </p:spPr>
        <p:txBody>
          <a:bodyPr wrap="square" lIns="0" tIns="0" rIns="0" bIns="0" anchor="ctr">
            <a:spAutoFit/>
          </a:bodyPr>
          <a:lstStyle/>
          <a:p>
            <a:pPr algn="ctr"/>
            <a:r>
              <a:rPr sz="800" b="1" i="0" spc="70">
                <a:solidFill>
                  <a:srgbClr val="5C6B87"/>
                </a:solidFill>
                <a:latin typeface="Calibri"/>
              </a:rPr>
              <a:t>PROJECTION 100 lawyers × 4–16 consultants/month</a:t>
            </a:r>
          </a:p>
        </p:txBody>
      </p:sp>
      <p:sp>
        <p:nvSpPr>
          <p:cNvPr id="36" name="TextBox 35"/>
          <p:cNvSpPr txBox="1"/>
          <p:nvPr/>
        </p:nvSpPr>
        <p:spPr>
          <a:xfrm>
            <a:off x="7973568" y="5870448"/>
            <a:ext cx="3657600" cy="457200"/>
          </a:xfrm>
          <a:prstGeom prst="rect">
            <a:avLst/>
          </a:prstGeom>
          <a:noFill/>
        </p:spPr>
        <p:txBody>
          <a:bodyPr wrap="square" lIns="0" tIns="0" rIns="0" bIns="0" anchor="t">
            <a:spAutoFit/>
          </a:bodyPr>
          <a:lstStyle/>
          <a:p>
            <a:pPr algn="l">
              <a:lnSpc>
                <a:spcPct val="120000"/>
              </a:lnSpc>
            </a:pPr>
            <a:r>
              <a:rPr sz="1000" b="0" i="0">
                <a:solidFill>
                  <a:srgbClr val="5C6B87"/>
                </a:solidFill>
                <a:latin typeface="Calibri"/>
              </a:rPr>
              <a:t>No capacity limit: one lawyer has 12 slots per day (09:00–18:00 / 45 min.).</a:t>
            </a:r>
          </a:p>
        </p:txBody>
      </p:sp>
      <p:sp>
        <p:nvSpPr>
          <p:cNvPr id="37" name="TextBox 36"/>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FACT — price, commission, and slot length in the code: schema.sql:1311, 1326, 1571-1574 · PROJECTION — scenario, not commitment.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733"/>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07 · COMPETITION AND PROTECTION</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FFFFFF"/>
                </a:solidFill>
                <a:latin typeface="Cambria"/>
              </a:rPr>
              <a:t>There is competition. There is also an empty quadrant.</a:t>
            </a:r>
          </a:p>
        </p:txBody>
      </p:sp>
      <p:sp>
        <p:nvSpPr>
          <p:cNvPr id="4" name="Rectangle 3"/>
          <p:cNvSpPr/>
          <p:nvPr/>
        </p:nvSpPr>
        <p:spPr>
          <a:xfrm>
            <a:off x="566928" y="2157984"/>
            <a:ext cx="5074920" cy="3529584"/>
          </a:xfrm>
          <a:prstGeom prst="rect">
            <a:avLst/>
          </a:prstGeom>
          <a:solidFill>
            <a:srgbClr val="1324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4"/>
          <p:cNvSpPr/>
          <p:nvPr/>
        </p:nvSpPr>
        <p:spPr>
          <a:xfrm>
            <a:off x="3104388" y="2157984"/>
            <a:ext cx="5486" cy="3529584"/>
          </a:xfrm>
          <a:prstGeom prst="rect">
            <a:avLst/>
          </a:prstGeom>
          <a:solidFill>
            <a:srgbClr val="1B3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566928" y="3922776"/>
            <a:ext cx="5074920" cy="5486"/>
          </a:xfrm>
          <a:prstGeom prst="rect">
            <a:avLst/>
          </a:prstGeom>
          <a:solidFill>
            <a:srgbClr val="1B3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3104388" y="2157984"/>
            <a:ext cx="2537460" cy="1764792"/>
          </a:xfrm>
          <a:prstGeom prst="rect">
            <a:avLst/>
          </a:prstGeom>
          <a:solidFill>
            <a:srgbClr val="1F6FEB">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66928" y="5760720"/>
            <a:ext cx="5074920" cy="274320"/>
          </a:xfrm>
          <a:prstGeom prst="rect">
            <a:avLst/>
          </a:prstGeom>
          <a:noFill/>
        </p:spPr>
        <p:txBody>
          <a:bodyPr wrap="square" lIns="0" tIns="0" rIns="0" bIns="0" anchor="t">
            <a:spAutoFit/>
          </a:bodyPr>
          <a:lstStyle/>
          <a:p>
            <a:pPr algn="ctr"/>
            <a:r>
              <a:rPr sz="1000" b="1" i="0">
                <a:solidFill>
                  <a:srgbClr val="9FB0CE"/>
                </a:solidFill>
                <a:latin typeface="Calibri"/>
              </a:rPr>
              <a:t>Ease of access →</a:t>
            </a:r>
          </a:p>
        </p:txBody>
      </p:sp>
      <p:sp>
        <p:nvSpPr>
          <p:cNvPr id="9" name="TextBox 8"/>
          <p:cNvSpPr txBox="1"/>
          <p:nvPr/>
        </p:nvSpPr>
        <p:spPr>
          <a:xfrm>
            <a:off x="566928" y="1828800"/>
            <a:ext cx="5074920" cy="274320"/>
          </a:xfrm>
          <a:prstGeom prst="rect">
            <a:avLst/>
          </a:prstGeom>
          <a:noFill/>
        </p:spPr>
        <p:txBody>
          <a:bodyPr wrap="square" lIns="0" tIns="0" rIns="0" bIns="0" anchor="t">
            <a:spAutoFit/>
          </a:bodyPr>
          <a:lstStyle/>
          <a:p>
            <a:pPr algn="l"/>
            <a:r>
              <a:rPr sz="1000" b="1" i="0">
                <a:solidFill>
                  <a:srgbClr val="9FB0CE"/>
                </a:solidFill>
                <a:latin typeface="Calibri"/>
              </a:rPr>
              <a:t>↑ Legal certainty</a:t>
            </a:r>
          </a:p>
        </p:txBody>
      </p:sp>
      <p:sp>
        <p:nvSpPr>
          <p:cNvPr id="10" name="Oval 9"/>
          <p:cNvSpPr/>
          <p:nvPr/>
        </p:nvSpPr>
        <p:spPr>
          <a:xfrm>
            <a:off x="1231696" y="2606405"/>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396288" y="2524109"/>
            <a:ext cx="2286000" cy="256032"/>
          </a:xfrm>
          <a:prstGeom prst="rect">
            <a:avLst/>
          </a:prstGeom>
          <a:noFill/>
        </p:spPr>
        <p:txBody>
          <a:bodyPr wrap="square" lIns="0" tIns="0" rIns="0" bIns="0" anchor="ctr">
            <a:spAutoFit/>
          </a:bodyPr>
          <a:lstStyle/>
          <a:p>
            <a:pPr algn="l"/>
            <a:r>
              <a:rPr sz="1050" b="0" i="0">
                <a:solidFill>
                  <a:srgbClr val="C7D3E8"/>
                </a:solidFill>
                <a:latin typeface="Calibri"/>
              </a:rPr>
              <a:t>Traditional lawyer</a:t>
            </a:r>
          </a:p>
        </p:txBody>
      </p:sp>
      <p:sp>
        <p:nvSpPr>
          <p:cNvPr id="12" name="Oval 11"/>
          <p:cNvSpPr/>
          <p:nvPr/>
        </p:nvSpPr>
        <p:spPr>
          <a:xfrm>
            <a:off x="2043684" y="3453505"/>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208275" y="3371209"/>
            <a:ext cx="2286000" cy="256032"/>
          </a:xfrm>
          <a:prstGeom prst="rect">
            <a:avLst/>
          </a:prstGeom>
          <a:noFill/>
        </p:spPr>
        <p:txBody>
          <a:bodyPr wrap="square" lIns="0" tIns="0" rIns="0" bIns="0" anchor="ctr">
            <a:spAutoFit/>
          </a:bodyPr>
          <a:lstStyle/>
          <a:p>
            <a:pPr algn="l"/>
            <a:r>
              <a:rPr sz="1050" b="0" i="0">
                <a:solidFill>
                  <a:srgbClr val="C7D3E8"/>
                </a:solidFill>
                <a:latin typeface="Calibri"/>
              </a:rPr>
              <a:t>Lex.uz — official database</a:t>
            </a:r>
          </a:p>
        </p:txBody>
      </p:sp>
      <p:sp>
        <p:nvSpPr>
          <p:cNvPr id="14" name="Oval 13"/>
          <p:cNvSpPr/>
          <p:nvPr/>
        </p:nvSpPr>
        <p:spPr>
          <a:xfrm>
            <a:off x="2754172" y="4441789"/>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2918764" y="4359493"/>
            <a:ext cx="2286000" cy="256032"/>
          </a:xfrm>
          <a:prstGeom prst="rect">
            <a:avLst/>
          </a:prstGeom>
          <a:noFill/>
        </p:spPr>
        <p:txBody>
          <a:bodyPr wrap="square" lIns="0" tIns="0" rIns="0" bIns="0" anchor="ctr">
            <a:spAutoFit/>
          </a:bodyPr>
          <a:lstStyle/>
          <a:p>
            <a:pPr algn="l"/>
            <a:r>
              <a:rPr sz="1050" b="0" i="0">
                <a:solidFill>
                  <a:srgbClr val="C7D3E8"/>
                </a:solidFill>
                <a:latin typeface="Calibri"/>
              </a:rPr>
              <a:t>Free help channels</a:t>
            </a:r>
          </a:p>
        </p:txBody>
      </p:sp>
      <p:sp>
        <p:nvSpPr>
          <p:cNvPr id="16" name="Oval 15"/>
          <p:cNvSpPr/>
          <p:nvPr/>
        </p:nvSpPr>
        <p:spPr>
          <a:xfrm>
            <a:off x="4784140" y="5077114"/>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2424988" y="4994818"/>
            <a:ext cx="2286000" cy="256032"/>
          </a:xfrm>
          <a:prstGeom prst="rect">
            <a:avLst/>
          </a:prstGeom>
          <a:noFill/>
        </p:spPr>
        <p:txBody>
          <a:bodyPr wrap="square" lIns="0" tIns="0" rIns="0" bIns="0" anchor="ctr">
            <a:spAutoFit/>
          </a:bodyPr>
          <a:lstStyle/>
          <a:p>
            <a:pPr algn="r"/>
            <a:r>
              <a:rPr sz="1050" b="0" i="0">
                <a:solidFill>
                  <a:srgbClr val="C7D3E8"/>
                </a:solidFill>
                <a:latin typeface="Calibri"/>
              </a:rPr>
              <a:t>General AI (ChatGPT)</a:t>
            </a:r>
          </a:p>
        </p:txBody>
      </p:sp>
      <p:sp>
        <p:nvSpPr>
          <p:cNvPr id="18" name="Oval 17"/>
          <p:cNvSpPr/>
          <p:nvPr/>
        </p:nvSpPr>
        <p:spPr>
          <a:xfrm>
            <a:off x="3972153" y="5465368"/>
            <a:ext cx="91440" cy="91440"/>
          </a:xfrm>
          <a:prstGeom prst="ellipse">
            <a:avLst/>
          </a:prstGeom>
          <a:solidFill>
            <a:srgbClr val="9FB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1613001" y="5383072"/>
            <a:ext cx="2286000" cy="256032"/>
          </a:xfrm>
          <a:prstGeom prst="rect">
            <a:avLst/>
          </a:prstGeom>
          <a:noFill/>
        </p:spPr>
        <p:txBody>
          <a:bodyPr wrap="square" lIns="0" tIns="0" rIns="0" bIns="0" anchor="ctr">
            <a:spAutoFit/>
          </a:bodyPr>
          <a:lstStyle/>
          <a:p>
            <a:pPr algn="r"/>
            <a:r>
              <a:rPr sz="1050" b="0" i="0">
                <a:solidFill>
                  <a:srgbClr val="C7D3E8"/>
                </a:solidFill>
                <a:latin typeface="Calibri"/>
              </a:rPr>
              <a:t>Telegram / acquaintance</a:t>
            </a:r>
          </a:p>
        </p:txBody>
      </p:sp>
      <p:sp>
        <p:nvSpPr>
          <p:cNvPr id="20" name="Oval 19"/>
          <p:cNvSpPr/>
          <p:nvPr/>
        </p:nvSpPr>
        <p:spPr>
          <a:xfrm>
            <a:off x="4539996" y="2706441"/>
            <a:ext cx="173736" cy="173736"/>
          </a:xfrm>
          <a:prstGeom prst="ellips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2221992" y="2665293"/>
            <a:ext cx="2286000" cy="256032"/>
          </a:xfrm>
          <a:prstGeom prst="rect">
            <a:avLst/>
          </a:prstGeom>
          <a:noFill/>
        </p:spPr>
        <p:txBody>
          <a:bodyPr wrap="square" lIns="0" tIns="0" rIns="0" bIns="0" anchor="ctr">
            <a:spAutoFit/>
          </a:bodyPr>
          <a:lstStyle/>
          <a:p>
            <a:pPr algn="r"/>
            <a:r>
              <a:rPr sz="1050" b="1" i="0">
                <a:solidFill>
                  <a:srgbClr val="FFFFFF"/>
                </a:solidFill>
                <a:latin typeface="Calibri"/>
              </a:rPr>
              <a:t>LexHub</a:t>
            </a:r>
          </a:p>
        </p:txBody>
      </p:sp>
      <p:sp>
        <p:nvSpPr>
          <p:cNvPr id="22" name="TextBox 21"/>
          <p:cNvSpPr txBox="1"/>
          <p:nvPr/>
        </p:nvSpPr>
        <p:spPr>
          <a:xfrm>
            <a:off x="6400800" y="2121408"/>
            <a:ext cx="5212080" cy="274320"/>
          </a:xfrm>
          <a:prstGeom prst="rect">
            <a:avLst/>
          </a:prstGeom>
          <a:noFill/>
        </p:spPr>
        <p:txBody>
          <a:bodyPr wrap="square" lIns="0" tIns="0" rIns="0" bIns="0" anchor="t">
            <a:spAutoFit/>
          </a:bodyPr>
          <a:lstStyle/>
          <a:p>
            <a:pPr algn="l"/>
            <a:r>
              <a:rPr sz="950" b="1" i="0" spc="150">
                <a:solidFill>
                  <a:srgbClr val="C8A265"/>
                </a:solidFill>
                <a:latin typeface="Calibri"/>
              </a:rPr>
              <a:t>WHY CAN'T IT BE EASILY REMOVED?</a:t>
            </a:r>
          </a:p>
        </p:txBody>
      </p:sp>
      <p:sp>
        <p:nvSpPr>
          <p:cNvPr id="23" name="Isosceles Triangle 22"/>
          <p:cNvSpPr/>
          <p:nvPr/>
        </p:nvSpPr>
        <p:spPr>
          <a:xfrm rot="5400000">
            <a:off x="6400800" y="2560320"/>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638544" y="2468880"/>
            <a:ext cx="4937760" cy="274320"/>
          </a:xfrm>
          <a:prstGeom prst="rect">
            <a:avLst/>
          </a:prstGeom>
          <a:noFill/>
        </p:spPr>
        <p:txBody>
          <a:bodyPr wrap="square" lIns="0" tIns="0" rIns="0" bIns="0" anchor="t">
            <a:spAutoFit/>
          </a:bodyPr>
          <a:lstStyle/>
          <a:p>
            <a:pPr algn="l"/>
            <a:r>
              <a:rPr sz="1350" b="1" i="0">
                <a:solidFill>
                  <a:srgbClr val="FFFFFF"/>
                </a:solidFill>
                <a:latin typeface="Cambria"/>
              </a:rPr>
              <a:t>Legal guardrail — at the code level</a:t>
            </a:r>
          </a:p>
        </p:txBody>
      </p:sp>
      <p:sp>
        <p:nvSpPr>
          <p:cNvPr id="25" name="TextBox 24"/>
          <p:cNvSpPr txBox="1"/>
          <p:nvPr/>
        </p:nvSpPr>
        <p:spPr>
          <a:xfrm>
            <a:off x="6638544" y="2779776"/>
            <a:ext cx="4956048" cy="566928"/>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Item limits, term calculations, PII cleanup, and risk assessment are built into the product. They cannot be added on top of the chatbot.</a:t>
            </a:r>
          </a:p>
        </p:txBody>
      </p:sp>
      <p:sp>
        <p:nvSpPr>
          <p:cNvPr id="26" name="Isosceles Triangle 25"/>
          <p:cNvSpPr/>
          <p:nvPr/>
        </p:nvSpPr>
        <p:spPr>
          <a:xfrm rot="5400000">
            <a:off x="6400800" y="3529584"/>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6638544" y="3438144"/>
            <a:ext cx="4937760" cy="274320"/>
          </a:xfrm>
          <a:prstGeom prst="rect">
            <a:avLst/>
          </a:prstGeom>
          <a:noFill/>
        </p:spPr>
        <p:txBody>
          <a:bodyPr wrap="square" lIns="0" tIns="0" rIns="0" bIns="0" anchor="t">
            <a:spAutoFit/>
          </a:bodyPr>
          <a:lstStyle/>
          <a:p>
            <a:pPr algn="l"/>
            <a:r>
              <a:rPr sz="1350" b="1" i="0">
                <a:solidFill>
                  <a:srgbClr val="FFFFFF"/>
                </a:solidFill>
                <a:latin typeface="Cambria"/>
              </a:rPr>
              <a:t>Trust is enforced on the server side</a:t>
            </a:r>
          </a:p>
        </p:txBody>
      </p:sp>
      <p:sp>
        <p:nvSpPr>
          <p:cNvPr id="28" name="TextBox 27"/>
          <p:cNvSpPr txBox="1"/>
          <p:nvPr/>
        </p:nvSpPr>
        <p:spPr>
          <a:xfrm>
            <a:off x="6638544" y="3749040"/>
            <a:ext cx="4956048" cy="566928"/>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Direct writing to consultation and payment is prohibited with RLS; commission, idempotence, and audit log are in the database.</a:t>
            </a:r>
          </a:p>
        </p:txBody>
      </p:sp>
      <p:sp>
        <p:nvSpPr>
          <p:cNvPr id="29" name="Isosceles Triangle 28"/>
          <p:cNvSpPr/>
          <p:nvPr/>
        </p:nvSpPr>
        <p:spPr>
          <a:xfrm rot="5400000">
            <a:off x="6400800" y="4498848"/>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6638544" y="4407408"/>
            <a:ext cx="4937760" cy="274320"/>
          </a:xfrm>
          <a:prstGeom prst="rect">
            <a:avLst/>
          </a:prstGeom>
          <a:noFill/>
        </p:spPr>
        <p:txBody>
          <a:bodyPr wrap="square" lIns="0" tIns="0" rIns="0" bIns="0" anchor="t">
            <a:spAutoFit/>
          </a:bodyPr>
          <a:lstStyle/>
          <a:p>
            <a:pPr algn="l"/>
            <a:r>
              <a:rPr sz="1350" b="1" i="0">
                <a:solidFill>
                  <a:srgbClr val="FFFFFF"/>
                </a:solidFill>
                <a:latin typeface="Cambria"/>
              </a:rPr>
              <a:t>Certified lawyer — not from the client</a:t>
            </a:r>
          </a:p>
        </p:txBody>
      </p:sp>
      <p:sp>
        <p:nvSpPr>
          <p:cNvPr id="31" name="TextBox 30"/>
          <p:cNvSpPr txBox="1"/>
          <p:nvPr/>
        </p:nvSpPr>
        <p:spPr>
          <a:xfrm>
            <a:off x="6638544" y="4718304"/>
            <a:ext cx="4956048" cy="566928"/>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The expert badge is issued via a trigger, the license number is unique. You can't say "I'm a lawyer" from the app.</a:t>
            </a:r>
          </a:p>
        </p:txBody>
      </p:sp>
      <p:sp>
        <p:nvSpPr>
          <p:cNvPr id="32" name="Isosceles Triangle 31"/>
          <p:cNvSpPr/>
          <p:nvPr/>
        </p:nvSpPr>
        <p:spPr>
          <a:xfrm rot="5400000">
            <a:off x="6400800" y="5468112"/>
            <a:ext cx="100584" cy="115671"/>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6638544" y="5376672"/>
            <a:ext cx="4937760" cy="274320"/>
          </a:xfrm>
          <a:prstGeom prst="rect">
            <a:avLst/>
          </a:prstGeom>
          <a:noFill/>
        </p:spPr>
        <p:txBody>
          <a:bodyPr wrap="square" lIns="0" tIns="0" rIns="0" bIns="0" anchor="t">
            <a:spAutoFit/>
          </a:bodyPr>
          <a:lstStyle/>
          <a:p>
            <a:pPr algn="l"/>
            <a:r>
              <a:rPr sz="1350" b="1" i="0">
                <a:solidFill>
                  <a:srgbClr val="FFFFFF"/>
                </a:solidFill>
                <a:latin typeface="Cambria"/>
              </a:rPr>
              <a:t>Localization and community turnover</a:t>
            </a:r>
          </a:p>
        </p:txBody>
      </p:sp>
      <p:sp>
        <p:nvSpPr>
          <p:cNvPr id="34" name="TextBox 33"/>
          <p:cNvSpPr txBox="1"/>
          <p:nvPr/>
        </p:nvSpPr>
        <p:spPr>
          <a:xfrm>
            <a:off x="6638544" y="5687568"/>
            <a:ext cx="4956048" cy="566928"/>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Question-and-answer corpus in Uzbek, bilingual, direct links to government services.</a:t>
            </a:r>
          </a:p>
        </p:txBody>
      </p:sp>
      <p:sp>
        <p:nvSpPr>
          <p:cNvPr id="35" name="TextBox 34"/>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9FB0CE"/>
                </a:solidFill>
                <a:latin typeface="Calibri"/>
              </a:rPr>
              <a:t>Location map — our estimate (ESTIMATE). Moats are FACT-verified: schema.sql:1453-1473, 1384, 1401 · trg_enforce_expert_answer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08 · STATUS AND PLAN</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There is no traction. The MVP is built.</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Let's be clear: 0 users, 0 revenue, payment rails not connected.</a:t>
            </a:r>
          </a:p>
        </p:txBody>
      </p:sp>
      <p:sp>
        <p:nvSpPr>
          <p:cNvPr id="5" name="Rounded Rectangle 4"/>
          <p:cNvSpPr/>
          <p:nvPr/>
        </p:nvSpPr>
        <p:spPr>
          <a:xfrm>
            <a:off x="566928" y="2249424"/>
            <a:ext cx="2670048" cy="969264"/>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04672" y="2340864"/>
            <a:ext cx="2286000" cy="457200"/>
          </a:xfrm>
          <a:prstGeom prst="rect">
            <a:avLst/>
          </a:prstGeom>
          <a:noFill/>
        </p:spPr>
        <p:txBody>
          <a:bodyPr wrap="square" lIns="0" tIns="0" rIns="0" bIns="0" anchor="t">
            <a:spAutoFit/>
          </a:bodyPr>
          <a:lstStyle/>
          <a:p>
            <a:pPr algn="l"/>
            <a:r>
              <a:rPr sz="2400" b="1" i="0">
                <a:solidFill>
                  <a:srgbClr val="0A1733"/>
                </a:solidFill>
                <a:latin typeface="Cambria"/>
              </a:rPr>
              <a:t>34,489</a:t>
            </a:r>
          </a:p>
        </p:txBody>
      </p:sp>
      <p:sp>
        <p:nvSpPr>
          <p:cNvPr id="7" name="TextBox 6"/>
          <p:cNvSpPr txBox="1"/>
          <p:nvPr/>
        </p:nvSpPr>
        <p:spPr>
          <a:xfrm>
            <a:off x="804672" y="2798064"/>
            <a:ext cx="2286000" cy="329184"/>
          </a:xfrm>
          <a:prstGeom prst="rect">
            <a:avLst/>
          </a:prstGeom>
          <a:noFill/>
        </p:spPr>
        <p:txBody>
          <a:bodyPr wrap="square" lIns="0" tIns="0" rIns="0" bIns="0" anchor="t">
            <a:spAutoFit/>
          </a:bodyPr>
          <a:lstStyle/>
          <a:p>
            <a:pPr algn="l"/>
            <a:r>
              <a:rPr sz="1050" b="0" i="0">
                <a:solidFill>
                  <a:srgbClr val="5C6B87"/>
                </a:solidFill>
                <a:latin typeface="Calibri"/>
              </a:rPr>
              <a:t>line Dart code, 230 files</a:t>
            </a:r>
          </a:p>
        </p:txBody>
      </p:sp>
      <p:sp>
        <p:nvSpPr>
          <p:cNvPr id="8" name="Rounded Rectangle 7"/>
          <p:cNvSpPr/>
          <p:nvPr/>
        </p:nvSpPr>
        <p:spPr>
          <a:xfrm>
            <a:off x="3364992" y="2249424"/>
            <a:ext cx="2670048" cy="969264"/>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3602736" y="2340864"/>
            <a:ext cx="2286000" cy="457200"/>
          </a:xfrm>
          <a:prstGeom prst="rect">
            <a:avLst/>
          </a:prstGeom>
          <a:noFill/>
        </p:spPr>
        <p:txBody>
          <a:bodyPr wrap="square" lIns="0" tIns="0" rIns="0" bIns="0" anchor="t">
            <a:spAutoFit/>
          </a:bodyPr>
          <a:lstStyle/>
          <a:p>
            <a:pPr algn="l"/>
            <a:r>
              <a:rPr sz="2400" b="1" i="0">
                <a:solidFill>
                  <a:srgbClr val="0A1733"/>
                </a:solidFill>
                <a:latin typeface="Cambria"/>
              </a:rPr>
              <a:t>20 / 36</a:t>
            </a:r>
          </a:p>
        </p:txBody>
      </p:sp>
      <p:sp>
        <p:nvSpPr>
          <p:cNvPr id="10" name="TextBox 9"/>
          <p:cNvSpPr txBox="1"/>
          <p:nvPr/>
        </p:nvSpPr>
        <p:spPr>
          <a:xfrm>
            <a:off x="3602736" y="2798064"/>
            <a:ext cx="2286000" cy="329184"/>
          </a:xfrm>
          <a:prstGeom prst="rect">
            <a:avLst/>
          </a:prstGeom>
          <a:noFill/>
        </p:spPr>
        <p:txBody>
          <a:bodyPr wrap="square" lIns="0" tIns="0" rIns="0" bIns="0" anchor="t">
            <a:spAutoFit/>
          </a:bodyPr>
          <a:lstStyle/>
          <a:p>
            <a:pPr algn="l"/>
            <a:r>
              <a:rPr sz="1050" b="0" i="0">
                <a:solidFill>
                  <a:srgbClr val="5C6B87"/>
                </a:solidFill>
                <a:latin typeface="Calibri"/>
              </a:rPr>
              <a:t>table / RLS policy</a:t>
            </a:r>
          </a:p>
        </p:txBody>
      </p:sp>
      <p:sp>
        <p:nvSpPr>
          <p:cNvPr id="11" name="Rounded Rectangle 10"/>
          <p:cNvSpPr/>
          <p:nvPr/>
        </p:nvSpPr>
        <p:spPr>
          <a:xfrm>
            <a:off x="6163056" y="2249424"/>
            <a:ext cx="2670048" cy="969264"/>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400800" y="2340864"/>
            <a:ext cx="2286000" cy="457200"/>
          </a:xfrm>
          <a:prstGeom prst="rect">
            <a:avLst/>
          </a:prstGeom>
          <a:noFill/>
        </p:spPr>
        <p:txBody>
          <a:bodyPr wrap="square" lIns="0" tIns="0" rIns="0" bIns="0" anchor="t">
            <a:spAutoFit/>
          </a:bodyPr>
          <a:lstStyle/>
          <a:p>
            <a:pPr algn="l"/>
            <a:r>
              <a:rPr sz="2400" b="1" i="0">
                <a:solidFill>
                  <a:srgbClr val="0A1733"/>
                </a:solidFill>
                <a:latin typeface="Cambria"/>
              </a:rPr>
              <a:t>14</a:t>
            </a:r>
          </a:p>
        </p:txBody>
      </p:sp>
      <p:sp>
        <p:nvSpPr>
          <p:cNvPr id="13" name="TextBox 12"/>
          <p:cNvSpPr txBox="1"/>
          <p:nvPr/>
        </p:nvSpPr>
        <p:spPr>
          <a:xfrm>
            <a:off x="6400800" y="2798064"/>
            <a:ext cx="2286000" cy="329184"/>
          </a:xfrm>
          <a:prstGeom prst="rect">
            <a:avLst/>
          </a:prstGeom>
          <a:noFill/>
        </p:spPr>
        <p:txBody>
          <a:bodyPr wrap="square" lIns="0" tIns="0" rIns="0" bIns="0" anchor="t">
            <a:spAutoFit/>
          </a:bodyPr>
          <a:lstStyle/>
          <a:p>
            <a:pPr algn="l"/>
            <a:r>
              <a:rPr sz="1050" b="0" i="0">
                <a:solidFill>
                  <a:srgbClr val="5C6B87"/>
                </a:solidFill>
                <a:latin typeface="Calibri"/>
              </a:rPr>
              <a:t>product module</a:t>
            </a:r>
          </a:p>
        </p:txBody>
      </p:sp>
      <p:sp>
        <p:nvSpPr>
          <p:cNvPr id="14" name="Rounded Rectangle 13"/>
          <p:cNvSpPr/>
          <p:nvPr/>
        </p:nvSpPr>
        <p:spPr>
          <a:xfrm>
            <a:off x="8961120" y="2249424"/>
            <a:ext cx="2670048" cy="969264"/>
          </a:xfrm>
          <a:prstGeom prst="roundRect">
            <a:avLst>
              <a:gd name="adj" fmla="val 7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198864" y="2340864"/>
            <a:ext cx="2286000" cy="457200"/>
          </a:xfrm>
          <a:prstGeom prst="rect">
            <a:avLst/>
          </a:prstGeom>
          <a:noFill/>
        </p:spPr>
        <p:txBody>
          <a:bodyPr wrap="square" lIns="0" tIns="0" rIns="0" bIns="0" anchor="t">
            <a:spAutoFit/>
          </a:bodyPr>
          <a:lstStyle/>
          <a:p>
            <a:pPr algn="l"/>
            <a:r>
              <a:rPr sz="2400" b="1" i="0">
                <a:solidFill>
                  <a:srgbClr val="0A1733"/>
                </a:solidFill>
                <a:latin typeface="Cambria"/>
              </a:rPr>
              <a:t>267 × 2</a:t>
            </a:r>
          </a:p>
        </p:txBody>
      </p:sp>
      <p:sp>
        <p:nvSpPr>
          <p:cNvPr id="16" name="TextBox 15"/>
          <p:cNvSpPr txBox="1"/>
          <p:nvPr/>
        </p:nvSpPr>
        <p:spPr>
          <a:xfrm>
            <a:off x="9198864" y="2798064"/>
            <a:ext cx="2286000" cy="329184"/>
          </a:xfrm>
          <a:prstGeom prst="rect">
            <a:avLst/>
          </a:prstGeom>
          <a:noFill/>
        </p:spPr>
        <p:txBody>
          <a:bodyPr wrap="square" lIns="0" tIns="0" rIns="0" bIns="0" anchor="t">
            <a:spAutoFit/>
          </a:bodyPr>
          <a:lstStyle/>
          <a:p>
            <a:pPr algn="l"/>
            <a:r>
              <a:rPr sz="1050" b="0" i="0">
                <a:solidFill>
                  <a:srgbClr val="5C6B87"/>
                </a:solidFill>
                <a:latin typeface="Calibri"/>
              </a:rPr>
              <a:t>localization key, uz + en</a:t>
            </a:r>
          </a:p>
        </p:txBody>
      </p:sp>
      <p:sp>
        <p:nvSpPr>
          <p:cNvPr id="17" name="Rounded Rectangle 16"/>
          <p:cNvSpPr/>
          <p:nvPr/>
        </p:nvSpPr>
        <p:spPr>
          <a:xfrm>
            <a:off x="566928" y="3310128"/>
            <a:ext cx="3675888"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30936" y="3305556"/>
            <a:ext cx="3547872" cy="224028"/>
          </a:xfrm>
          <a:prstGeom prst="rect">
            <a:avLst/>
          </a:prstGeom>
          <a:noFill/>
        </p:spPr>
        <p:txBody>
          <a:bodyPr wrap="square" lIns="0" tIns="0" rIns="0" bIns="0" anchor="ctr">
            <a:spAutoFit/>
          </a:bodyPr>
          <a:lstStyle/>
          <a:p>
            <a:pPr algn="ctr"/>
            <a:r>
              <a:rPr sz="800" b="1" i="0" spc="70">
                <a:solidFill>
                  <a:srgbClr val="1F6FEB"/>
                </a:solidFill>
                <a:latin typeface="Calibri"/>
              </a:rPr>
              <a:t>Confirmed with FACT repo — 2026-08-22</a:t>
            </a:r>
          </a:p>
        </p:txBody>
      </p:sp>
      <p:sp>
        <p:nvSpPr>
          <p:cNvPr id="19" name="Rounded Rectangle 18"/>
          <p:cNvSpPr/>
          <p:nvPr/>
        </p:nvSpPr>
        <p:spPr>
          <a:xfrm>
            <a:off x="566928" y="3913632"/>
            <a:ext cx="2670048" cy="2139696"/>
          </a:xfrm>
          <a:prstGeom prst="roundRect">
            <a:avLst>
              <a:gd name="adj" fmla="val 6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04672" y="4096512"/>
            <a:ext cx="2194560" cy="256032"/>
          </a:xfrm>
          <a:prstGeom prst="rect">
            <a:avLst/>
          </a:prstGeom>
          <a:noFill/>
        </p:spPr>
        <p:txBody>
          <a:bodyPr wrap="square" lIns="0" tIns="0" rIns="0" bIns="0" anchor="t">
            <a:spAutoFit/>
          </a:bodyPr>
          <a:lstStyle/>
          <a:p>
            <a:pPr algn="l"/>
            <a:r>
              <a:rPr sz="1050" b="1" i="0" spc="160">
                <a:solidFill>
                  <a:srgbClr val="C8A265"/>
                </a:solidFill>
                <a:latin typeface="Calibri"/>
              </a:rPr>
              <a:t>NOW</a:t>
            </a:r>
          </a:p>
        </p:txBody>
      </p:sp>
      <p:sp>
        <p:nvSpPr>
          <p:cNvPr id="21" name="TextBox 20"/>
          <p:cNvSpPr txBox="1"/>
          <p:nvPr/>
        </p:nvSpPr>
        <p:spPr>
          <a:xfrm>
            <a:off x="804672" y="4407408"/>
            <a:ext cx="2240280" cy="310896"/>
          </a:xfrm>
          <a:prstGeom prst="rect">
            <a:avLst/>
          </a:prstGeom>
          <a:noFill/>
        </p:spPr>
        <p:txBody>
          <a:bodyPr wrap="square" lIns="0" tIns="0" rIns="0" bIns="0" anchor="t">
            <a:spAutoFit/>
          </a:bodyPr>
          <a:lstStyle/>
          <a:p>
            <a:pPr algn="l"/>
            <a:r>
              <a:rPr sz="1550" b="1" i="0">
                <a:solidFill>
                  <a:srgbClr val="FFFFFF"/>
                </a:solidFill>
                <a:latin typeface="Cambria"/>
              </a:rPr>
              <a:t>MVP works</a:t>
            </a:r>
          </a:p>
        </p:txBody>
      </p:sp>
      <p:sp>
        <p:nvSpPr>
          <p:cNvPr id="22" name="TextBox 21"/>
          <p:cNvSpPr txBox="1"/>
          <p:nvPr/>
        </p:nvSpPr>
        <p:spPr>
          <a:xfrm>
            <a:off x="804672" y="4791456"/>
            <a:ext cx="2212848" cy="1097280"/>
          </a:xfrm>
          <a:prstGeom prst="rect">
            <a:avLst/>
          </a:prstGeom>
          <a:noFill/>
        </p:spPr>
        <p:txBody>
          <a:bodyPr wrap="square" lIns="0" tIns="0" rIns="0" bIns="0" anchor="t">
            <a:spAutoFit/>
          </a:bodyPr>
          <a:lstStyle/>
          <a:p>
            <a:pPr algn="l">
              <a:lnSpc>
                <a:spcPct val="124000"/>
              </a:lnSpc>
            </a:pPr>
            <a:r>
              <a:rPr sz="1100" b="0" i="0">
                <a:solidFill>
                  <a:srgbClr val="C7D3E8"/>
                </a:solidFill>
                <a:latin typeface="Calibri"/>
              </a:rPr>
              <a:t>Community Q&amp;A, AI analysis, government services guide, and consultation booking flow are ready.</a:t>
            </a:r>
          </a:p>
        </p:txBody>
      </p:sp>
      <p:sp>
        <p:nvSpPr>
          <p:cNvPr id="23" name="Isosceles Triangle 22"/>
          <p:cNvSpPr/>
          <p:nvPr/>
        </p:nvSpPr>
        <p:spPr>
          <a:xfrm rot="5400000">
            <a:off x="3305556" y="4882896"/>
            <a:ext cx="109728" cy="126187"/>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ounded Rectangle 23"/>
          <p:cNvSpPr/>
          <p:nvPr/>
        </p:nvSpPr>
        <p:spPr>
          <a:xfrm>
            <a:off x="3364992" y="3913632"/>
            <a:ext cx="2670048" cy="213969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3602736" y="4096512"/>
            <a:ext cx="2194560" cy="256032"/>
          </a:xfrm>
          <a:prstGeom prst="rect">
            <a:avLst/>
          </a:prstGeom>
          <a:noFill/>
        </p:spPr>
        <p:txBody>
          <a:bodyPr wrap="square" lIns="0" tIns="0" rIns="0" bIns="0" anchor="t">
            <a:spAutoFit/>
          </a:bodyPr>
          <a:lstStyle/>
          <a:p>
            <a:pPr algn="l"/>
            <a:r>
              <a:rPr sz="1050" b="1" i="0" spc="160">
                <a:solidFill>
                  <a:srgbClr val="1F6FEB"/>
                </a:solidFill>
                <a:latin typeface="Calibri"/>
              </a:rPr>
              <a:t>3 MONTHS</a:t>
            </a:r>
          </a:p>
        </p:txBody>
      </p:sp>
      <p:sp>
        <p:nvSpPr>
          <p:cNvPr id="26" name="TextBox 25"/>
          <p:cNvSpPr txBox="1"/>
          <p:nvPr/>
        </p:nvSpPr>
        <p:spPr>
          <a:xfrm>
            <a:off x="3602736" y="4407408"/>
            <a:ext cx="2240280" cy="310896"/>
          </a:xfrm>
          <a:prstGeom prst="rect">
            <a:avLst/>
          </a:prstGeom>
          <a:noFill/>
        </p:spPr>
        <p:txBody>
          <a:bodyPr wrap="square" lIns="0" tIns="0" rIns="0" bIns="0" anchor="t">
            <a:spAutoFit/>
          </a:bodyPr>
          <a:lstStyle/>
          <a:p>
            <a:pPr algn="l"/>
            <a:r>
              <a:rPr sz="1550" b="1" i="0">
                <a:solidFill>
                  <a:srgbClr val="0A1733"/>
                </a:solidFill>
                <a:latin typeface="Cambria"/>
              </a:rPr>
              <a:t>Payment and housing</a:t>
            </a:r>
          </a:p>
        </p:txBody>
      </p:sp>
      <p:sp>
        <p:nvSpPr>
          <p:cNvPr id="27" name="TextBox 26"/>
          <p:cNvSpPr txBox="1"/>
          <p:nvPr/>
        </p:nvSpPr>
        <p:spPr>
          <a:xfrm>
            <a:off x="3602736" y="4791456"/>
            <a:ext cx="2212848" cy="1097280"/>
          </a:xfrm>
          <a:prstGeom prst="rect">
            <a:avLst/>
          </a:prstGeom>
          <a:noFill/>
        </p:spPr>
        <p:txBody>
          <a:bodyPr wrap="square" lIns="0" tIns="0" rIns="0" bIns="0" anchor="t">
            <a:spAutoFit/>
          </a:bodyPr>
          <a:lstStyle/>
          <a:p>
            <a:pPr algn="l">
              <a:lnSpc>
                <a:spcPct val="124000"/>
              </a:lnSpc>
            </a:pPr>
            <a:r>
              <a:rPr sz="1100" b="0" i="0">
                <a:solidFill>
                  <a:srgbClr val="5C6B87"/>
                </a:solidFill>
                <a:latin typeface="Calibri"/>
              </a:rPr>
              <a:t>Payme or Click integration, payout execution, cloud legal corpus, and real vector search.</a:t>
            </a:r>
          </a:p>
        </p:txBody>
      </p:sp>
      <p:sp>
        <p:nvSpPr>
          <p:cNvPr id="28" name="Isosceles Triangle 27"/>
          <p:cNvSpPr/>
          <p:nvPr/>
        </p:nvSpPr>
        <p:spPr>
          <a:xfrm rot="5400000">
            <a:off x="6103620" y="4882896"/>
            <a:ext cx="109728" cy="126187"/>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ounded Rectangle 28"/>
          <p:cNvSpPr/>
          <p:nvPr/>
        </p:nvSpPr>
        <p:spPr>
          <a:xfrm>
            <a:off x="6163056" y="3913632"/>
            <a:ext cx="2670048" cy="213969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6400800" y="4096512"/>
            <a:ext cx="2194560" cy="256032"/>
          </a:xfrm>
          <a:prstGeom prst="rect">
            <a:avLst/>
          </a:prstGeom>
          <a:noFill/>
        </p:spPr>
        <p:txBody>
          <a:bodyPr wrap="square" lIns="0" tIns="0" rIns="0" bIns="0" anchor="t">
            <a:spAutoFit/>
          </a:bodyPr>
          <a:lstStyle/>
          <a:p>
            <a:pPr algn="l"/>
            <a:r>
              <a:rPr sz="1050" b="1" i="0" spc="160">
                <a:solidFill>
                  <a:srgbClr val="1F6FEB"/>
                </a:solidFill>
                <a:latin typeface="Calibri"/>
              </a:rPr>
              <a:t>6 MONTHS</a:t>
            </a:r>
          </a:p>
        </p:txBody>
      </p:sp>
      <p:sp>
        <p:nvSpPr>
          <p:cNvPr id="31" name="TextBox 30"/>
          <p:cNvSpPr txBox="1"/>
          <p:nvPr/>
        </p:nvSpPr>
        <p:spPr>
          <a:xfrm>
            <a:off x="6400800" y="4407408"/>
            <a:ext cx="2240280" cy="310896"/>
          </a:xfrm>
          <a:prstGeom prst="rect">
            <a:avLst/>
          </a:prstGeom>
          <a:noFill/>
        </p:spPr>
        <p:txBody>
          <a:bodyPr wrap="square" lIns="0" tIns="0" rIns="0" bIns="0" anchor="t">
            <a:spAutoFit/>
          </a:bodyPr>
          <a:lstStyle/>
          <a:p>
            <a:pPr algn="l"/>
            <a:r>
              <a:rPr sz="1550" b="1" i="0">
                <a:solidFill>
                  <a:srgbClr val="0A1733"/>
                </a:solidFill>
                <a:latin typeface="Cambria"/>
              </a:rPr>
              <a:t>Pilot</a:t>
            </a:r>
          </a:p>
        </p:txBody>
      </p:sp>
      <p:sp>
        <p:nvSpPr>
          <p:cNvPr id="32" name="TextBox 31"/>
          <p:cNvSpPr txBox="1"/>
          <p:nvPr/>
        </p:nvSpPr>
        <p:spPr>
          <a:xfrm>
            <a:off x="6400800" y="4791456"/>
            <a:ext cx="2212848" cy="1097280"/>
          </a:xfrm>
          <a:prstGeom prst="rect">
            <a:avLst/>
          </a:prstGeom>
          <a:noFill/>
        </p:spPr>
        <p:txBody>
          <a:bodyPr wrap="square" lIns="0" tIns="0" rIns="0" bIns="0" anchor="t">
            <a:spAutoFit/>
          </a:bodyPr>
          <a:lstStyle/>
          <a:p>
            <a:pPr algn="l">
              <a:lnSpc>
                <a:spcPct val="124000"/>
              </a:lnSpc>
            </a:pPr>
            <a:r>
              <a:rPr sz="1100" b="0" i="0">
                <a:solidFill>
                  <a:srgbClr val="5C6B87"/>
                </a:solidFill>
                <a:latin typeface="Calibri"/>
              </a:rPr>
              <a:t>20–30 verified lawyers, first-time paid consultations, rating and review system.</a:t>
            </a:r>
          </a:p>
        </p:txBody>
      </p:sp>
      <p:sp>
        <p:nvSpPr>
          <p:cNvPr id="33" name="Isosceles Triangle 32"/>
          <p:cNvSpPr/>
          <p:nvPr/>
        </p:nvSpPr>
        <p:spPr>
          <a:xfrm rot="5400000">
            <a:off x="8901684" y="4882896"/>
            <a:ext cx="109728" cy="126187"/>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Rounded Rectangle 33"/>
          <p:cNvSpPr/>
          <p:nvPr/>
        </p:nvSpPr>
        <p:spPr>
          <a:xfrm>
            <a:off x="8961120" y="3913632"/>
            <a:ext cx="2670048" cy="213969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9198864" y="4096512"/>
            <a:ext cx="2194560" cy="256032"/>
          </a:xfrm>
          <a:prstGeom prst="rect">
            <a:avLst/>
          </a:prstGeom>
          <a:noFill/>
        </p:spPr>
        <p:txBody>
          <a:bodyPr wrap="square" lIns="0" tIns="0" rIns="0" bIns="0" anchor="t">
            <a:spAutoFit/>
          </a:bodyPr>
          <a:lstStyle/>
          <a:p>
            <a:pPr algn="l"/>
            <a:r>
              <a:rPr sz="1050" b="1" i="0" spc="160">
                <a:solidFill>
                  <a:srgbClr val="1F6FEB"/>
                </a:solidFill>
                <a:latin typeface="Calibri"/>
              </a:rPr>
              <a:t>12 MONTHS</a:t>
            </a:r>
          </a:p>
        </p:txBody>
      </p:sp>
      <p:sp>
        <p:nvSpPr>
          <p:cNvPr id="36" name="TextBox 35"/>
          <p:cNvSpPr txBox="1"/>
          <p:nvPr/>
        </p:nvSpPr>
        <p:spPr>
          <a:xfrm>
            <a:off x="9198864" y="4407408"/>
            <a:ext cx="2240280" cy="310896"/>
          </a:xfrm>
          <a:prstGeom prst="rect">
            <a:avLst/>
          </a:prstGeom>
          <a:noFill/>
        </p:spPr>
        <p:txBody>
          <a:bodyPr wrap="square" lIns="0" tIns="0" rIns="0" bIns="0" anchor="t">
            <a:spAutoFit/>
          </a:bodyPr>
          <a:lstStyle/>
          <a:p>
            <a:pPr algn="l"/>
            <a:r>
              <a:rPr sz="1550" b="1" i="0">
                <a:solidFill>
                  <a:srgbClr val="0A1733"/>
                </a:solidFill>
                <a:latin typeface="Cambria"/>
              </a:rPr>
              <a:t>B2B2C</a:t>
            </a:r>
          </a:p>
        </p:txBody>
      </p:sp>
      <p:sp>
        <p:nvSpPr>
          <p:cNvPr id="37" name="TextBox 36"/>
          <p:cNvSpPr txBox="1"/>
          <p:nvPr/>
        </p:nvSpPr>
        <p:spPr>
          <a:xfrm>
            <a:off x="9198864" y="4791456"/>
            <a:ext cx="2212848" cy="1097280"/>
          </a:xfrm>
          <a:prstGeom prst="rect">
            <a:avLst/>
          </a:prstGeom>
          <a:noFill/>
        </p:spPr>
        <p:txBody>
          <a:bodyPr wrap="square" lIns="0" tIns="0" rIns="0" bIns="0" anchor="t">
            <a:spAutoFit/>
          </a:bodyPr>
          <a:lstStyle/>
          <a:p>
            <a:pPr algn="l">
              <a:lnSpc>
                <a:spcPct val="124000"/>
              </a:lnSpc>
            </a:pPr>
            <a:r>
              <a:rPr sz="1100" b="0" i="0">
                <a:solidFill>
                  <a:srgbClr val="5C6B87"/>
                </a:solidFill>
                <a:latin typeface="Calibri"/>
              </a:rPr>
              <a:t>Legal support channel for banking, insurance and HR; document automation.</a:t>
            </a:r>
          </a:p>
        </p:txBody>
      </p:sp>
      <p:sp>
        <p:nvSpPr>
          <p:cNvPr id="38" name="TextBox 37"/>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5C6B87"/>
                </a:solidFill>
                <a:latin typeface="Calibri"/>
              </a:rPr>
              <a:t>NOW — FACT. 3 / 6 / 12 months indicators — PROJECTION and plan, not fact. Vector infrastructure (pgvector + HNSW) ready, body not loaded yet.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09 · TEAM</a:t>
            </a:r>
          </a:p>
        </p:txBody>
      </p:sp>
      <p:sp>
        <p:nvSpPr>
          <p:cNvPr id="3" name="TextBox 2"/>
          <p:cNvSpPr txBox="1"/>
          <p:nvPr/>
        </p:nvSpPr>
        <p:spPr>
          <a:xfrm>
            <a:off x="566928" y="841248"/>
            <a:ext cx="10058400" cy="777240"/>
          </a:xfrm>
          <a:prstGeom prst="rect">
            <a:avLst/>
          </a:prstGeom>
          <a:noFill/>
        </p:spPr>
        <p:txBody>
          <a:bodyPr wrap="square" lIns="0" tIns="0" rIns="0" bIns="0" anchor="t">
            <a:spAutoFit/>
          </a:bodyPr>
          <a:lstStyle/>
          <a:p>
            <a:pPr algn="l">
              <a:lnSpc>
                <a:spcPct val="95000"/>
              </a:lnSpc>
            </a:pPr>
            <a:r>
              <a:rPr sz="3800" b="1" i="0">
                <a:solidFill>
                  <a:srgbClr val="0A1733"/>
                </a:solidFill>
                <a:latin typeface="Cambria"/>
              </a:rPr>
              <a:t>AXION — the team that built the product</a:t>
            </a:r>
          </a:p>
        </p:txBody>
      </p:sp>
      <p:sp>
        <p:nvSpPr>
          <p:cNvPr id="4" name="TextBox 3"/>
          <p:cNvSpPr txBox="1"/>
          <p:nvPr/>
        </p:nvSpPr>
        <p:spPr>
          <a:xfrm>
            <a:off x="566928" y="1554480"/>
            <a:ext cx="10058400" cy="365760"/>
          </a:xfrm>
          <a:prstGeom prst="rect">
            <a:avLst/>
          </a:prstGeom>
          <a:noFill/>
        </p:spPr>
        <p:txBody>
          <a:bodyPr wrap="square" lIns="0" tIns="0" rIns="0" bIns="0" anchor="t">
            <a:spAutoFit/>
          </a:bodyPr>
          <a:lstStyle/>
          <a:p>
            <a:pPr algn="l">
              <a:lnSpc>
                <a:spcPct val="110000"/>
              </a:lnSpc>
            </a:pPr>
            <a:r>
              <a:rPr sz="1550" b="0" i="0">
                <a:solidFill>
                  <a:srgbClr val="5C6B87"/>
                </a:solidFill>
                <a:latin typeface="Calibri"/>
              </a:rPr>
              <a:t>Each role is tied to a specific need at LexHub.</a:t>
            </a:r>
          </a:p>
        </p:txBody>
      </p:sp>
      <p:sp>
        <p:nvSpPr>
          <p:cNvPr id="5" name="Rounded Rectangle 4"/>
          <p:cNvSpPr/>
          <p:nvPr/>
        </p:nvSpPr>
        <p:spPr>
          <a:xfrm>
            <a:off x="566928"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786384" y="3310128"/>
            <a:ext cx="1691640" cy="210763"/>
          </a:xfrm>
          <a:prstGeom prst="rect">
            <a:avLst/>
          </a:prstGeom>
          <a:noFill/>
        </p:spPr>
        <p:txBody>
          <a:bodyPr wrap="square" lIns="0" tIns="0" rIns="0" bIns="0" anchor="t">
            <a:spAutoFit/>
          </a:bodyPr>
          <a:lstStyle/>
          <a:p>
            <a:pPr algn="l">
              <a:lnSpc>
                <a:spcPct val="110000"/>
              </a:lnSpc>
            </a:pPr>
            <a:r>
              <a:rPr lang="en-US" sz="1350" b="1" dirty="0" err="1">
                <a:solidFill>
                  <a:srgbClr val="0A1733"/>
                </a:solidFill>
                <a:latin typeface="Cambria"/>
              </a:rPr>
              <a:t>U</a:t>
            </a:r>
            <a:r>
              <a:rPr sz="1350" b="1" i="0" dirty="0" err="1">
                <a:solidFill>
                  <a:srgbClr val="0A1733"/>
                </a:solidFill>
                <a:latin typeface="Cambria"/>
              </a:rPr>
              <a:t>ktam</a:t>
            </a:r>
            <a:r>
              <a:rPr sz="1350" b="1" i="0" dirty="0">
                <a:solidFill>
                  <a:srgbClr val="0A1733"/>
                </a:solidFill>
                <a:latin typeface="Cambria"/>
              </a:rPr>
              <a:t> Pirimov</a:t>
            </a:r>
          </a:p>
        </p:txBody>
      </p:sp>
      <p:sp>
        <p:nvSpPr>
          <p:cNvPr id="9" name="TextBox 8"/>
          <p:cNvSpPr txBox="1"/>
          <p:nvPr/>
        </p:nvSpPr>
        <p:spPr>
          <a:xfrm>
            <a:off x="786384" y="3877056"/>
            <a:ext cx="1691640" cy="365760"/>
          </a:xfrm>
          <a:prstGeom prst="rect">
            <a:avLst/>
          </a:prstGeom>
          <a:noFill/>
        </p:spPr>
        <p:txBody>
          <a:bodyPr wrap="square" lIns="0" tIns="0" rIns="0" bIns="0" anchor="t">
            <a:spAutoFit/>
          </a:bodyPr>
          <a:lstStyle/>
          <a:p>
            <a:pPr algn="l">
              <a:lnSpc>
                <a:spcPct val="115000"/>
              </a:lnSpc>
            </a:pPr>
            <a:r>
              <a:rPr sz="1000" b="1" i="0">
                <a:solidFill>
                  <a:srgbClr val="1F6FEB"/>
                </a:solidFill>
                <a:latin typeface="Calibri"/>
              </a:rPr>
              <a:t>Product Manager / Full-Stack</a:t>
            </a:r>
          </a:p>
        </p:txBody>
      </p:sp>
      <p:sp>
        <p:nvSpPr>
          <p:cNvPr id="10" name="TextBox 9"/>
          <p:cNvSpPr txBox="1"/>
          <p:nvPr/>
        </p:nvSpPr>
        <p:spPr>
          <a:xfrm>
            <a:off x="786384" y="4297680"/>
            <a:ext cx="1691640" cy="595419"/>
          </a:xfrm>
          <a:prstGeom prst="rect">
            <a:avLst/>
          </a:prstGeom>
          <a:noFill/>
        </p:spPr>
        <p:txBody>
          <a:bodyPr wrap="square" lIns="0" tIns="0" rIns="0" bIns="0" anchor="t">
            <a:spAutoFit/>
          </a:bodyPr>
          <a:lstStyle/>
          <a:p>
            <a:pPr algn="l">
              <a:lnSpc>
                <a:spcPct val="126000"/>
              </a:lnSpc>
            </a:pPr>
            <a:r>
              <a:rPr lang="en" sz="1050" b="0" i="0" dirty="0">
                <a:solidFill>
                  <a:srgbClr val="5C6B87"/>
                </a:solidFill>
                <a:latin typeface="Calibri"/>
              </a:rPr>
              <a:t>Product vision, Flutter, Supabase, architecture, AI integration</a:t>
            </a:r>
            <a:endParaRPr sz="1050" b="0" i="0" dirty="0">
              <a:solidFill>
                <a:srgbClr val="5C6B87"/>
              </a:solidFill>
              <a:latin typeface="Calibri"/>
            </a:endParaRPr>
          </a:p>
        </p:txBody>
      </p:sp>
      <p:sp>
        <p:nvSpPr>
          <p:cNvPr id="11" name="Rounded Rectangle 10"/>
          <p:cNvSpPr/>
          <p:nvPr/>
        </p:nvSpPr>
        <p:spPr>
          <a:xfrm>
            <a:off x="2807208"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Oval 11"/>
          <p:cNvSpPr/>
          <p:nvPr/>
        </p:nvSpPr>
        <p:spPr>
          <a:xfrm>
            <a:off x="3026664" y="2505456"/>
            <a:ext cx="658368" cy="658368"/>
          </a:xfrm>
          <a:prstGeom prst="ellipse">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3026664" y="2514600"/>
            <a:ext cx="658368" cy="640080"/>
          </a:xfrm>
          <a:prstGeom prst="rect">
            <a:avLst/>
          </a:prstGeom>
          <a:noFill/>
        </p:spPr>
        <p:txBody>
          <a:bodyPr wrap="square" lIns="0" tIns="0" rIns="0" bIns="0" anchor="ctr">
            <a:spAutoFit/>
          </a:bodyPr>
          <a:lstStyle/>
          <a:p>
            <a:pPr algn="ctr"/>
            <a:r>
              <a:rPr sz="1500" b="1" i="0">
                <a:solidFill>
                  <a:srgbClr val="C8A265"/>
                </a:solidFill>
                <a:latin typeface="Cambria"/>
              </a:rPr>
              <a:t>AA</a:t>
            </a:r>
          </a:p>
        </p:txBody>
      </p:sp>
      <p:sp>
        <p:nvSpPr>
          <p:cNvPr id="14" name="TextBox 13"/>
          <p:cNvSpPr txBox="1"/>
          <p:nvPr/>
        </p:nvSpPr>
        <p:spPr>
          <a:xfrm>
            <a:off x="3026664" y="3310128"/>
            <a:ext cx="1691640" cy="210763"/>
          </a:xfrm>
          <a:prstGeom prst="rect">
            <a:avLst/>
          </a:prstGeom>
          <a:noFill/>
        </p:spPr>
        <p:txBody>
          <a:bodyPr wrap="square" lIns="0" tIns="0" rIns="0" bIns="0" anchor="t">
            <a:spAutoFit/>
          </a:bodyPr>
          <a:lstStyle/>
          <a:p>
            <a:pPr algn="l">
              <a:lnSpc>
                <a:spcPct val="110000"/>
              </a:lnSpc>
            </a:pPr>
            <a:r>
              <a:rPr lang="en" sz="1350" b="1" dirty="0">
                <a:solidFill>
                  <a:srgbClr val="0A1733"/>
                </a:solidFill>
                <a:latin typeface="Cambria"/>
              </a:rPr>
              <a:t>Mukhtarov Sarvar</a:t>
            </a:r>
            <a:endParaRPr sz="1350" b="1" i="0" dirty="0">
              <a:solidFill>
                <a:srgbClr val="0A1733"/>
              </a:solidFill>
              <a:latin typeface="Cambria"/>
            </a:endParaRPr>
          </a:p>
        </p:txBody>
      </p:sp>
      <p:sp>
        <p:nvSpPr>
          <p:cNvPr id="15" name="TextBox 14"/>
          <p:cNvSpPr txBox="1"/>
          <p:nvPr/>
        </p:nvSpPr>
        <p:spPr>
          <a:xfrm>
            <a:off x="3026664" y="3877056"/>
            <a:ext cx="1691640" cy="166584"/>
          </a:xfrm>
          <a:prstGeom prst="rect">
            <a:avLst/>
          </a:prstGeom>
          <a:noFill/>
        </p:spPr>
        <p:txBody>
          <a:bodyPr wrap="square" lIns="0" tIns="0" rIns="0" bIns="0" anchor="t">
            <a:spAutoFit/>
          </a:bodyPr>
          <a:lstStyle/>
          <a:p>
            <a:pPr algn="l">
              <a:lnSpc>
                <a:spcPct val="115000"/>
              </a:lnSpc>
            </a:pPr>
            <a:r>
              <a:rPr lang="en" sz="1000" b="1" i="0" dirty="0">
                <a:solidFill>
                  <a:srgbClr val="1F6FEB"/>
                </a:solidFill>
                <a:latin typeface="Calibri"/>
              </a:rPr>
              <a:t>Backend Engineer</a:t>
            </a:r>
            <a:endParaRPr sz="1000" b="1" i="0" dirty="0">
              <a:solidFill>
                <a:srgbClr val="1F6FEB"/>
              </a:solidFill>
              <a:latin typeface="Calibri"/>
            </a:endParaRPr>
          </a:p>
        </p:txBody>
      </p:sp>
      <p:sp>
        <p:nvSpPr>
          <p:cNvPr id="16" name="TextBox 15"/>
          <p:cNvSpPr txBox="1"/>
          <p:nvPr/>
        </p:nvSpPr>
        <p:spPr>
          <a:xfrm>
            <a:off x="3026664" y="4297680"/>
            <a:ext cx="1691640" cy="595419"/>
          </a:xfrm>
          <a:prstGeom prst="rect">
            <a:avLst/>
          </a:prstGeom>
          <a:noFill/>
        </p:spPr>
        <p:txBody>
          <a:bodyPr wrap="square" lIns="0" tIns="0" rIns="0" bIns="0" anchor="t">
            <a:spAutoFit/>
          </a:bodyPr>
          <a:lstStyle/>
          <a:p>
            <a:pPr algn="l">
              <a:lnSpc>
                <a:spcPct val="126000"/>
              </a:lnSpc>
            </a:pPr>
            <a:r>
              <a:rPr lang="en" sz="1050" b="0" i="0" dirty="0">
                <a:solidFill>
                  <a:srgbClr val="5C6B87"/>
                </a:solidFill>
                <a:latin typeface="Calibri"/>
              </a:rPr>
              <a:t>Backend architecture, API, database, security, business logic</a:t>
            </a:r>
            <a:endParaRPr sz="1050" b="0" i="0" dirty="0">
              <a:solidFill>
                <a:srgbClr val="5C6B87"/>
              </a:solidFill>
              <a:latin typeface="Calibri"/>
            </a:endParaRPr>
          </a:p>
        </p:txBody>
      </p:sp>
      <p:sp>
        <p:nvSpPr>
          <p:cNvPr id="17" name="Rounded Rectangle 16"/>
          <p:cNvSpPr/>
          <p:nvPr/>
        </p:nvSpPr>
        <p:spPr>
          <a:xfrm>
            <a:off x="5010912"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Oval 17"/>
          <p:cNvSpPr/>
          <p:nvPr/>
        </p:nvSpPr>
        <p:spPr>
          <a:xfrm>
            <a:off x="5673852" y="2505456"/>
            <a:ext cx="658368" cy="658368"/>
          </a:xfrm>
          <a:prstGeom prst="ellipse">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5673852" y="2706338"/>
            <a:ext cx="658368" cy="230832"/>
          </a:xfrm>
          <a:prstGeom prst="rect">
            <a:avLst/>
          </a:prstGeom>
          <a:noFill/>
        </p:spPr>
        <p:txBody>
          <a:bodyPr wrap="square" lIns="0" tIns="0" rIns="0" bIns="0" anchor="ctr">
            <a:spAutoFit/>
          </a:bodyPr>
          <a:lstStyle/>
          <a:p>
            <a:pPr algn="ctr"/>
            <a:r>
              <a:rPr lang="en" sz="1500" b="1" dirty="0">
                <a:solidFill>
                  <a:srgbClr val="C8A265"/>
                </a:solidFill>
                <a:latin typeface="Cambria"/>
              </a:rPr>
              <a:t>IK</a:t>
            </a:r>
            <a:endParaRPr sz="1500" b="1" i="0" dirty="0">
              <a:solidFill>
                <a:srgbClr val="C8A265"/>
              </a:solidFill>
              <a:latin typeface="Cambria"/>
            </a:endParaRPr>
          </a:p>
        </p:txBody>
      </p:sp>
      <p:sp>
        <p:nvSpPr>
          <p:cNvPr id="20" name="TextBox 19"/>
          <p:cNvSpPr txBox="1"/>
          <p:nvPr/>
        </p:nvSpPr>
        <p:spPr>
          <a:xfrm>
            <a:off x="5266944" y="3310128"/>
            <a:ext cx="1691640" cy="210763"/>
          </a:xfrm>
          <a:prstGeom prst="rect">
            <a:avLst/>
          </a:prstGeom>
          <a:noFill/>
        </p:spPr>
        <p:txBody>
          <a:bodyPr wrap="square" lIns="0" tIns="0" rIns="0" bIns="0" anchor="t">
            <a:spAutoFit/>
          </a:bodyPr>
          <a:lstStyle/>
          <a:p>
            <a:pPr algn="l">
              <a:lnSpc>
                <a:spcPct val="110000"/>
              </a:lnSpc>
            </a:pPr>
            <a:r>
              <a:rPr lang="en" sz="1350" b="1" dirty="0">
                <a:solidFill>
                  <a:srgbClr val="0A1733"/>
                </a:solidFill>
                <a:latin typeface="Cambria"/>
              </a:rPr>
              <a:t>Islamov Kamoliddin</a:t>
            </a:r>
            <a:endParaRPr sz="1350" b="1" i="0" dirty="0">
              <a:solidFill>
                <a:srgbClr val="0A1733"/>
              </a:solidFill>
              <a:latin typeface="Cambria"/>
            </a:endParaRPr>
          </a:p>
        </p:txBody>
      </p:sp>
      <p:sp>
        <p:nvSpPr>
          <p:cNvPr id="21" name="TextBox 20"/>
          <p:cNvSpPr txBox="1"/>
          <p:nvPr/>
        </p:nvSpPr>
        <p:spPr>
          <a:xfrm>
            <a:off x="5266944" y="3877056"/>
            <a:ext cx="1691640" cy="365760"/>
          </a:xfrm>
          <a:prstGeom prst="rect">
            <a:avLst/>
          </a:prstGeom>
          <a:noFill/>
        </p:spPr>
        <p:txBody>
          <a:bodyPr wrap="square" lIns="0" tIns="0" rIns="0" bIns="0" anchor="t">
            <a:spAutoFit/>
          </a:bodyPr>
          <a:lstStyle/>
          <a:p>
            <a:pPr algn="l">
              <a:lnSpc>
                <a:spcPct val="115000"/>
              </a:lnSpc>
            </a:pPr>
            <a:r>
              <a:rPr sz="1000" b="1" i="0">
                <a:solidFill>
                  <a:srgbClr val="1F6FEB"/>
                </a:solidFill>
                <a:latin typeface="Calibri"/>
              </a:rPr>
              <a:t>Designer / UI-UX</a:t>
            </a:r>
          </a:p>
        </p:txBody>
      </p:sp>
      <p:sp>
        <p:nvSpPr>
          <p:cNvPr id="22" name="TextBox 21"/>
          <p:cNvSpPr txBox="1"/>
          <p:nvPr/>
        </p:nvSpPr>
        <p:spPr>
          <a:xfrm>
            <a:off x="5266944" y="4297680"/>
            <a:ext cx="1691640" cy="841248"/>
          </a:xfrm>
          <a:prstGeom prst="rect">
            <a:avLst/>
          </a:prstGeom>
          <a:noFill/>
        </p:spPr>
        <p:txBody>
          <a:bodyPr wrap="square" lIns="0" tIns="0" rIns="0" bIns="0" anchor="t">
            <a:spAutoFit/>
          </a:bodyPr>
          <a:lstStyle/>
          <a:p>
            <a:pPr algn="l">
              <a:lnSpc>
                <a:spcPct val="126000"/>
              </a:lnSpc>
            </a:pPr>
            <a:r>
              <a:rPr sz="1050" b="0" i="0" dirty="0">
                <a:solidFill>
                  <a:srgbClr val="5C6B87"/>
                </a:solidFill>
                <a:latin typeface="Calibri"/>
              </a:rPr>
              <a:t>Design system, </a:t>
            </a:r>
            <a:r>
              <a:rPr sz="1050" b="0" i="0" dirty="0" err="1">
                <a:solidFill>
                  <a:srgbClr val="5C6B87"/>
                </a:solidFill>
                <a:latin typeface="Calibri"/>
              </a:rPr>
              <a:t>two</a:t>
            </a:r>
            <a:r>
              <a:rPr sz="1050" b="0" i="0" dirty="0">
                <a:solidFill>
                  <a:srgbClr val="5C6B87"/>
                </a:solidFill>
                <a:latin typeface="Calibri"/>
              </a:rPr>
              <a:t> </a:t>
            </a:r>
            <a:r>
              <a:rPr sz="1050" b="0" i="0" dirty="0" err="1">
                <a:solidFill>
                  <a:srgbClr val="5C6B87"/>
                </a:solidFill>
                <a:latin typeface="Calibri"/>
              </a:rPr>
              <a:t>lingual</a:t>
            </a:r>
            <a:r>
              <a:rPr sz="1050" b="0" i="0" dirty="0">
                <a:solidFill>
                  <a:srgbClr val="5C6B87"/>
                </a:solidFill>
                <a:latin typeface="Calibri"/>
              </a:rPr>
              <a:t> </a:t>
            </a:r>
            <a:r>
              <a:rPr sz="1050" b="0" i="0" dirty="0" err="1">
                <a:solidFill>
                  <a:srgbClr val="5C6B87"/>
                </a:solidFill>
                <a:latin typeface="Calibri"/>
              </a:rPr>
              <a:t>interface</a:t>
            </a:r>
            <a:r>
              <a:rPr sz="1050" b="0" i="0" dirty="0">
                <a:solidFill>
                  <a:srgbClr val="5C6B87"/>
                </a:solidFill>
                <a:latin typeface="Calibri"/>
              </a:rPr>
              <a:t> </a:t>
            </a:r>
            <a:r>
              <a:rPr sz="1050" b="0" i="0" dirty="0" err="1">
                <a:solidFill>
                  <a:srgbClr val="5C6B87"/>
                </a:solidFill>
                <a:latin typeface="Calibri"/>
              </a:rPr>
              <a:t>and</a:t>
            </a:r>
            <a:r>
              <a:rPr sz="1050" b="0" i="0" dirty="0">
                <a:solidFill>
                  <a:srgbClr val="5C6B87"/>
                </a:solidFill>
                <a:latin typeface="Calibri"/>
              </a:rPr>
              <a:t> </a:t>
            </a:r>
            <a:r>
              <a:rPr sz="1050" b="0" i="0" dirty="0" err="1">
                <a:solidFill>
                  <a:srgbClr val="5C6B87"/>
                </a:solidFill>
                <a:latin typeface="Calibri"/>
              </a:rPr>
              <a:t>readability</a:t>
            </a:r>
            <a:r>
              <a:rPr sz="1050" b="0" i="0" dirty="0">
                <a:solidFill>
                  <a:srgbClr val="5C6B87"/>
                </a:solidFill>
                <a:latin typeface="Calibri"/>
              </a:rPr>
              <a:t> </a:t>
            </a:r>
            <a:r>
              <a:rPr sz="1050" b="0" i="0" dirty="0" err="1">
                <a:solidFill>
                  <a:srgbClr val="5C6B87"/>
                </a:solidFill>
                <a:latin typeface="Calibri"/>
              </a:rPr>
              <a:t>easy</a:t>
            </a:r>
            <a:r>
              <a:rPr sz="1050" b="0" i="0" dirty="0">
                <a:solidFill>
                  <a:srgbClr val="5C6B87"/>
                </a:solidFill>
                <a:latin typeface="Calibri"/>
              </a:rPr>
              <a:t> </a:t>
            </a:r>
            <a:r>
              <a:rPr sz="1050" b="0" i="0" dirty="0" err="1">
                <a:solidFill>
                  <a:srgbClr val="5C6B87"/>
                </a:solidFill>
                <a:latin typeface="Calibri"/>
              </a:rPr>
              <a:t>typography </a:t>
            </a:r>
            <a:r>
              <a:rPr sz="1050" b="0" i="0" dirty="0">
                <a:solidFill>
                  <a:srgbClr val="5C6B87"/>
                </a:solidFill>
                <a:latin typeface="Calibri"/>
              </a:rPr>
              <a:t>.</a:t>
            </a:r>
          </a:p>
        </p:txBody>
      </p:sp>
      <p:sp>
        <p:nvSpPr>
          <p:cNvPr id="23" name="Rounded Rectangle 22"/>
          <p:cNvSpPr/>
          <p:nvPr/>
        </p:nvSpPr>
        <p:spPr>
          <a:xfrm>
            <a:off x="7287768"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Oval 23"/>
          <p:cNvSpPr/>
          <p:nvPr/>
        </p:nvSpPr>
        <p:spPr>
          <a:xfrm>
            <a:off x="7854696" y="2505456"/>
            <a:ext cx="658368" cy="658368"/>
          </a:xfrm>
          <a:prstGeom prst="ellipse">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7836408" y="2713536"/>
            <a:ext cx="658368" cy="230832"/>
          </a:xfrm>
          <a:prstGeom prst="rect">
            <a:avLst/>
          </a:prstGeom>
          <a:noFill/>
        </p:spPr>
        <p:txBody>
          <a:bodyPr wrap="square" lIns="0" tIns="0" rIns="0" bIns="0" anchor="ctr">
            <a:spAutoFit/>
          </a:bodyPr>
          <a:lstStyle/>
          <a:p>
            <a:pPr algn="ctr"/>
            <a:r>
              <a:rPr lang="en" sz="1500" b="1" i="0" dirty="0">
                <a:solidFill>
                  <a:srgbClr val="C8A265"/>
                </a:solidFill>
                <a:latin typeface="Cambria"/>
              </a:rPr>
              <a:t>RA</a:t>
            </a:r>
            <a:endParaRPr sz="1500" b="1" i="0" dirty="0">
              <a:solidFill>
                <a:srgbClr val="C8A265"/>
              </a:solidFill>
              <a:latin typeface="Cambria"/>
            </a:endParaRPr>
          </a:p>
        </p:txBody>
      </p:sp>
      <p:sp>
        <p:nvSpPr>
          <p:cNvPr id="26" name="TextBox 25"/>
          <p:cNvSpPr txBox="1"/>
          <p:nvPr/>
        </p:nvSpPr>
        <p:spPr>
          <a:xfrm>
            <a:off x="7507224" y="3310128"/>
            <a:ext cx="1691640" cy="439287"/>
          </a:xfrm>
          <a:prstGeom prst="rect">
            <a:avLst/>
          </a:prstGeom>
          <a:noFill/>
        </p:spPr>
        <p:txBody>
          <a:bodyPr wrap="square" lIns="0" tIns="0" rIns="0" bIns="0" anchor="t">
            <a:spAutoFit/>
          </a:bodyPr>
          <a:lstStyle/>
          <a:p>
            <a:pPr algn="ctr">
              <a:lnSpc>
                <a:spcPct val="110000"/>
              </a:lnSpc>
            </a:pPr>
            <a:r>
              <a:rPr lang="en" sz="1350" b="1" dirty="0" err="1">
                <a:solidFill>
                  <a:srgbClr val="0A1733"/>
                </a:solidFill>
                <a:latin typeface="Cambria"/>
              </a:rPr>
              <a:t>Rakhmatullayev </a:t>
            </a:r>
            <a:r>
              <a:rPr lang="en" sz="1350" b="1" dirty="0">
                <a:solidFill>
                  <a:srgbClr val="0A1733"/>
                </a:solidFill>
                <a:latin typeface="Cambria"/>
              </a:rPr>
              <a:t>Abdulla</a:t>
            </a:r>
            <a:endParaRPr sz="1350" b="1" i="0" dirty="0">
              <a:solidFill>
                <a:srgbClr val="0A1733"/>
              </a:solidFill>
              <a:latin typeface="Cambria"/>
            </a:endParaRPr>
          </a:p>
        </p:txBody>
      </p:sp>
      <p:sp>
        <p:nvSpPr>
          <p:cNvPr id="27" name="TextBox 26"/>
          <p:cNvSpPr txBox="1"/>
          <p:nvPr/>
        </p:nvSpPr>
        <p:spPr>
          <a:xfrm>
            <a:off x="7507224" y="3877056"/>
            <a:ext cx="1691640" cy="166584"/>
          </a:xfrm>
          <a:prstGeom prst="rect">
            <a:avLst/>
          </a:prstGeom>
          <a:noFill/>
        </p:spPr>
        <p:txBody>
          <a:bodyPr wrap="square" lIns="0" tIns="0" rIns="0" bIns="0" anchor="t">
            <a:spAutoFit/>
          </a:bodyPr>
          <a:lstStyle/>
          <a:p>
            <a:pPr algn="l">
              <a:lnSpc>
                <a:spcPct val="115000"/>
              </a:lnSpc>
            </a:pPr>
            <a:r>
              <a:rPr lang="en" sz="1000" b="1" i="0" dirty="0">
                <a:solidFill>
                  <a:srgbClr val="1F6FEB"/>
                </a:solidFill>
                <a:latin typeface="Calibri"/>
              </a:rPr>
              <a:t>Business &amp; Growth Analyst</a:t>
            </a:r>
            <a:endParaRPr sz="1000" b="1" i="0" dirty="0">
              <a:solidFill>
                <a:srgbClr val="1F6FEB"/>
              </a:solidFill>
              <a:latin typeface="Calibri"/>
            </a:endParaRPr>
          </a:p>
        </p:txBody>
      </p:sp>
      <p:sp>
        <p:nvSpPr>
          <p:cNvPr id="28" name="TextBox 27"/>
          <p:cNvSpPr txBox="1"/>
          <p:nvPr/>
        </p:nvSpPr>
        <p:spPr>
          <a:xfrm>
            <a:off x="7507224" y="4297680"/>
            <a:ext cx="1691640" cy="595419"/>
          </a:xfrm>
          <a:prstGeom prst="rect">
            <a:avLst/>
          </a:prstGeom>
          <a:noFill/>
        </p:spPr>
        <p:txBody>
          <a:bodyPr wrap="square" lIns="0" tIns="0" rIns="0" bIns="0" anchor="t">
            <a:spAutoFit/>
          </a:bodyPr>
          <a:lstStyle/>
          <a:p>
            <a:pPr algn="l">
              <a:lnSpc>
                <a:spcPct val="126000"/>
              </a:lnSpc>
            </a:pPr>
            <a:r>
              <a:rPr lang="en" sz="1050" b="0" i="0" dirty="0" err="1">
                <a:solidFill>
                  <a:srgbClr val="5C6B87"/>
                </a:solidFill>
                <a:latin typeface="Calibri"/>
              </a:rPr>
              <a:t>Monetization </a:t>
            </a:r>
            <a:r>
              <a:rPr lang="en" sz="1050" b="0" i="0" dirty="0">
                <a:solidFill>
                  <a:srgbClr val="5C6B87"/>
                </a:solidFill>
                <a:latin typeface="Calibri"/>
              </a:rPr>
              <a:t>, unit economics, lawyer onboarding, partnerships, market strategy</a:t>
            </a:r>
            <a:endParaRPr sz="1050" b="0" i="0" dirty="0">
              <a:solidFill>
                <a:srgbClr val="5C6B87"/>
              </a:solidFill>
              <a:latin typeface="Calibri"/>
            </a:endParaRPr>
          </a:p>
        </p:txBody>
      </p:sp>
      <p:sp>
        <p:nvSpPr>
          <p:cNvPr id="29" name="Rounded Rectangle 28"/>
          <p:cNvSpPr/>
          <p:nvPr/>
        </p:nvSpPr>
        <p:spPr>
          <a:xfrm>
            <a:off x="9528048" y="2286000"/>
            <a:ext cx="2112264" cy="2962656"/>
          </a:xfrm>
          <a:prstGeom prst="roundRect">
            <a:avLst>
              <a:gd name="adj" fmla="val 6000"/>
            </a:avLst>
          </a:prstGeom>
          <a:solidFill>
            <a:srgbClr val="F1F4FA"/>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10076688" y="2496312"/>
            <a:ext cx="658368" cy="658368"/>
          </a:xfrm>
          <a:prstGeom prst="ellipse">
            <a:avLst/>
          </a:prstGeom>
          <a:solidFill>
            <a:srgbClr val="0A17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31" name="TextBox 30"/>
          <p:cNvSpPr txBox="1"/>
          <p:nvPr/>
        </p:nvSpPr>
        <p:spPr>
          <a:xfrm>
            <a:off x="10076688" y="2719224"/>
            <a:ext cx="658368" cy="230832"/>
          </a:xfrm>
          <a:prstGeom prst="rect">
            <a:avLst/>
          </a:prstGeom>
          <a:noFill/>
        </p:spPr>
        <p:txBody>
          <a:bodyPr wrap="square" lIns="0" tIns="0" rIns="0" bIns="0" anchor="ctr">
            <a:spAutoFit/>
          </a:bodyPr>
          <a:lstStyle/>
          <a:p>
            <a:pPr algn="ctr"/>
            <a:r>
              <a:rPr lang="en" sz="1500" b="1" dirty="0">
                <a:solidFill>
                  <a:srgbClr val="C8A265"/>
                </a:solidFill>
                <a:latin typeface="Cambria"/>
              </a:rPr>
              <a:t>AE</a:t>
            </a:r>
            <a:endParaRPr sz="1500" b="1" i="0" dirty="0">
              <a:solidFill>
                <a:srgbClr val="C8A265"/>
              </a:solidFill>
              <a:latin typeface="Cambria"/>
            </a:endParaRPr>
          </a:p>
        </p:txBody>
      </p:sp>
      <p:sp>
        <p:nvSpPr>
          <p:cNvPr id="32" name="TextBox 31"/>
          <p:cNvSpPr txBox="1"/>
          <p:nvPr/>
        </p:nvSpPr>
        <p:spPr>
          <a:xfrm>
            <a:off x="9747504" y="3310128"/>
            <a:ext cx="1691640" cy="210763"/>
          </a:xfrm>
          <a:prstGeom prst="rect">
            <a:avLst/>
          </a:prstGeom>
          <a:noFill/>
        </p:spPr>
        <p:txBody>
          <a:bodyPr wrap="square" lIns="0" tIns="0" rIns="0" bIns="0" anchor="t">
            <a:spAutoFit/>
          </a:bodyPr>
          <a:lstStyle/>
          <a:p>
            <a:pPr algn="l">
              <a:lnSpc>
                <a:spcPct val="110000"/>
              </a:lnSpc>
            </a:pPr>
            <a:r>
              <a:rPr lang="en" sz="1350" b="1" dirty="0">
                <a:solidFill>
                  <a:srgbClr val="0A1733"/>
                </a:solidFill>
                <a:latin typeface="Cambria"/>
              </a:rPr>
              <a:t>Aliqulova Ezoza</a:t>
            </a:r>
            <a:endParaRPr sz="1350" b="1" i="0" dirty="0">
              <a:solidFill>
                <a:srgbClr val="0A1733"/>
              </a:solidFill>
              <a:latin typeface="Cambria"/>
            </a:endParaRPr>
          </a:p>
        </p:txBody>
      </p:sp>
      <p:sp>
        <p:nvSpPr>
          <p:cNvPr id="33" name="TextBox 32"/>
          <p:cNvSpPr txBox="1"/>
          <p:nvPr/>
        </p:nvSpPr>
        <p:spPr>
          <a:xfrm>
            <a:off x="9747504" y="3877056"/>
            <a:ext cx="1691640" cy="365760"/>
          </a:xfrm>
          <a:prstGeom prst="rect">
            <a:avLst/>
          </a:prstGeom>
          <a:noFill/>
        </p:spPr>
        <p:txBody>
          <a:bodyPr wrap="square" lIns="0" tIns="0" rIns="0" bIns="0" anchor="t">
            <a:spAutoFit/>
          </a:bodyPr>
          <a:lstStyle/>
          <a:p>
            <a:pPr algn="l">
              <a:lnSpc>
                <a:spcPct val="115000"/>
              </a:lnSpc>
            </a:pPr>
            <a:r>
              <a:rPr sz="1000" b="1" i="0" dirty="0">
                <a:solidFill>
                  <a:srgbClr val="1F6FEB"/>
                </a:solidFill>
                <a:latin typeface="Calibri"/>
              </a:rPr>
              <a:t>Pitcher / Growth</a:t>
            </a:r>
          </a:p>
        </p:txBody>
      </p:sp>
      <p:sp>
        <p:nvSpPr>
          <p:cNvPr id="34" name="TextBox 33"/>
          <p:cNvSpPr txBox="1"/>
          <p:nvPr/>
        </p:nvSpPr>
        <p:spPr>
          <a:xfrm>
            <a:off x="9747504" y="4297680"/>
            <a:ext cx="1691640" cy="595419"/>
          </a:xfrm>
          <a:prstGeom prst="rect">
            <a:avLst/>
          </a:prstGeom>
          <a:noFill/>
        </p:spPr>
        <p:txBody>
          <a:bodyPr wrap="square" lIns="0" tIns="0" rIns="0" bIns="0" anchor="t">
            <a:spAutoFit/>
          </a:bodyPr>
          <a:lstStyle/>
          <a:p>
            <a:pPr algn="l">
              <a:lnSpc>
                <a:spcPct val="126000"/>
              </a:lnSpc>
            </a:pPr>
            <a:r>
              <a:rPr lang="en" sz="1050" b="0" i="0" dirty="0">
                <a:solidFill>
                  <a:srgbClr val="5C6B87"/>
                </a:solidFill>
                <a:latin typeface="Calibri"/>
              </a:rPr>
              <a:t>Legal content, legal terminology, understanding user needs, legal workflow</a:t>
            </a:r>
            <a:endParaRPr sz="1050" b="0" i="0" dirty="0">
              <a:solidFill>
                <a:srgbClr val="5C6B87"/>
              </a:solidFill>
              <a:latin typeface="Calibri"/>
            </a:endParaRPr>
          </a:p>
        </p:txBody>
      </p:sp>
      <p:sp>
        <p:nvSpPr>
          <p:cNvPr id="35" name="Rounded Rectangle 34"/>
          <p:cNvSpPr/>
          <p:nvPr/>
        </p:nvSpPr>
        <p:spPr>
          <a:xfrm>
            <a:off x="566928" y="5449824"/>
            <a:ext cx="11055096" cy="786384"/>
          </a:xfrm>
          <a:prstGeom prst="roundRect">
            <a:avLst>
              <a:gd name="adj" fmla="val 7000"/>
            </a:avLst>
          </a:prstGeom>
          <a:solidFill>
            <a:srgbClr val="0A1733"/>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Isosceles Triangle 35"/>
          <p:cNvSpPr/>
          <p:nvPr/>
        </p:nvSpPr>
        <p:spPr>
          <a:xfrm rot="5400000">
            <a:off x="859536" y="5779008"/>
            <a:ext cx="118872" cy="136702"/>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1170432" y="5522976"/>
            <a:ext cx="10241280" cy="640080"/>
          </a:xfrm>
          <a:prstGeom prst="rect">
            <a:avLst/>
          </a:prstGeom>
          <a:noFill/>
        </p:spPr>
        <p:txBody>
          <a:bodyPr wrap="square" lIns="0" tIns="0" rIns="0" bIns="0" anchor="ctr">
            <a:spAutoFit/>
          </a:bodyPr>
          <a:lstStyle/>
          <a:p>
            <a:pPr algn="l">
              <a:lnSpc>
                <a:spcPct val="124000"/>
              </a:lnSpc>
            </a:pPr>
            <a:r>
              <a:rPr sz="1250" b="0" i="0">
                <a:solidFill>
                  <a:srgbClr val="FFFFFF"/>
                </a:solidFill>
                <a:latin typeface="Calibri"/>
              </a:rPr>
              <a:t>Open gap: There are no licensed lawyers on the team. Therefore, legal correctness is built into the code; in the pilot, 2–3 certified lawyers will be domain consultants.</a:t>
            </a:r>
          </a:p>
        </p:txBody>
      </p:sp>
      <p:sp>
        <p:nvSpPr>
          <p:cNvPr id="38" name="TextBox 37"/>
          <p:cNvSpPr txBox="1"/>
          <p:nvPr/>
        </p:nvSpPr>
        <p:spPr>
          <a:xfrm>
            <a:off x="566928" y="6382512"/>
            <a:ext cx="11064240" cy="147284"/>
          </a:xfrm>
          <a:prstGeom prst="rect">
            <a:avLst/>
          </a:prstGeom>
          <a:noFill/>
        </p:spPr>
        <p:txBody>
          <a:bodyPr wrap="square" lIns="0" tIns="0" rIns="0" bIns="0" anchor="t">
            <a:spAutoFit/>
          </a:bodyPr>
          <a:lstStyle/>
          <a:p>
            <a:pPr algn="l">
              <a:lnSpc>
                <a:spcPct val="105000"/>
              </a:lnSpc>
            </a:pPr>
            <a:r>
              <a:rPr sz="950" b="0" i="0" dirty="0" err="1">
                <a:solidFill>
                  <a:srgbClr val="5C6B87"/>
                </a:solidFill>
                <a:latin typeface="Calibri"/>
              </a:rPr>
              <a:t>Roles</a:t>
            </a:r>
            <a:r>
              <a:rPr sz="950" b="0" i="0" dirty="0">
                <a:solidFill>
                  <a:srgbClr val="5C6B87"/>
                </a:solidFill>
                <a:latin typeface="Calibri"/>
              </a:rPr>
              <a:t> </a:t>
            </a:r>
            <a:r>
              <a:rPr sz="950" b="0" i="0" dirty="0" err="1">
                <a:solidFill>
                  <a:srgbClr val="5C6B87"/>
                </a:solidFill>
                <a:latin typeface="Calibri"/>
              </a:rPr>
              <a:t>and</a:t>
            </a:r>
            <a:r>
              <a:rPr sz="950" b="0" i="0" dirty="0">
                <a:solidFill>
                  <a:srgbClr val="5C6B87"/>
                </a:solidFill>
                <a:latin typeface="Calibri"/>
              </a:rPr>
              <a:t> </a:t>
            </a:r>
            <a:r>
              <a:rPr sz="950" b="0" i="0" dirty="0" err="1">
                <a:solidFill>
                  <a:srgbClr val="5C6B87"/>
                </a:solidFill>
                <a:latin typeface="Calibri"/>
              </a:rPr>
              <a:t>experience </a:t>
            </a:r>
            <a:r>
              <a:rPr sz="950" b="0" i="0" dirty="0">
                <a:solidFill>
                  <a:srgbClr val="5C6B87"/>
                </a:solidFill>
                <a:latin typeface="Calibri"/>
              </a:rPr>
              <a:t>— </a:t>
            </a:r>
            <a:r>
              <a:rPr sz="950" b="0" i="0" dirty="0" err="1">
                <a:solidFill>
                  <a:srgbClr val="5C6B87"/>
                </a:solidFill>
                <a:latin typeface="Calibri"/>
              </a:rPr>
              <a:t>team</a:t>
            </a:r>
            <a:r>
              <a:rPr sz="950" b="0" i="0" dirty="0">
                <a:solidFill>
                  <a:srgbClr val="5C6B87"/>
                </a:solidFill>
                <a:latin typeface="Calibri"/>
              </a:rPr>
              <a:t> </a:t>
            </a:r>
            <a:r>
              <a:rPr sz="950" b="0" i="0" dirty="0" err="1">
                <a:solidFill>
                  <a:srgbClr val="5C6B87"/>
                </a:solidFill>
                <a:latin typeface="Calibri"/>
              </a:rPr>
              <a:t>by</a:t>
            </a:r>
            <a:r>
              <a:rPr sz="950" b="0" i="0" dirty="0">
                <a:solidFill>
                  <a:srgbClr val="5C6B87"/>
                </a:solidFill>
                <a:latin typeface="Calibri"/>
              </a:rPr>
              <a:t> </a:t>
            </a:r>
            <a:r>
              <a:rPr sz="950" b="0" i="0" dirty="0" err="1">
                <a:solidFill>
                  <a:srgbClr val="5C6B87"/>
                </a:solidFill>
                <a:latin typeface="Calibri"/>
              </a:rPr>
              <a:t>given</a:t>
            </a:r>
            <a:r>
              <a:rPr sz="950" b="0" i="0" dirty="0">
                <a:solidFill>
                  <a:srgbClr val="5C6B87"/>
                </a:solidFill>
                <a:latin typeface="Calibri"/>
              </a:rPr>
              <a:t> </a:t>
            </a:r>
            <a:r>
              <a:rPr sz="950" b="0" i="0" dirty="0" err="1">
                <a:solidFill>
                  <a:srgbClr val="5C6B87"/>
                </a:solidFill>
                <a:latin typeface="Calibri"/>
              </a:rPr>
              <a:t>information </a:t>
            </a:r>
            <a:r>
              <a:rPr sz="950" b="0" i="0" dirty="0">
                <a:solidFill>
                  <a:srgbClr val="5C6B87"/>
                </a:solidFill>
                <a:latin typeface="Calibri"/>
              </a:rPr>
              <a:t>.</a:t>
            </a:r>
          </a:p>
        </p:txBody>
      </p:sp>
      <p:pic>
        <p:nvPicPr>
          <p:cNvPr id="40" name="Рисунок 39">
            <a:extLst>
              <a:ext uri="{FF2B5EF4-FFF2-40B4-BE49-F238E27FC236}">
                <a16:creationId xmlns:a16="http://schemas.microsoft.com/office/drawing/2014/main" id="{894A39C0-242C-1B33-B788-782EACB8453C}"/>
              </a:ext>
            </a:extLst>
          </p:cNvPr>
          <p:cNvPicPr>
            <a:picLocks noChangeAspect="1"/>
          </p:cNvPicPr>
          <p:nvPr/>
        </p:nvPicPr>
        <p:blipFill>
          <a:blip r:embed="rId3"/>
          <a:stretch>
            <a:fillRect/>
          </a:stretch>
        </p:blipFill>
        <p:spPr>
          <a:xfrm>
            <a:off x="904919" y="2261922"/>
            <a:ext cx="1091409" cy="1091409"/>
          </a:xfrm>
          <a:prstGeom prst="ellipse">
            <a:avLst/>
          </a:prstGeom>
        </p:spPr>
      </p:pic>
      <p:pic>
        <p:nvPicPr>
          <p:cNvPr id="42" name="Рисунок 41">
            <a:extLst>
              <a:ext uri="{FF2B5EF4-FFF2-40B4-BE49-F238E27FC236}">
                <a16:creationId xmlns:a16="http://schemas.microsoft.com/office/drawing/2014/main" id="{76B0C4D7-B3CA-5F86-7586-FA6B7EFF6A60}"/>
              </a:ext>
            </a:extLst>
          </p:cNvPr>
          <p:cNvPicPr>
            <a:picLocks noChangeAspect="1"/>
          </p:cNvPicPr>
          <p:nvPr/>
        </p:nvPicPr>
        <p:blipFill>
          <a:blip r:embed="rId4"/>
          <a:stretch>
            <a:fillRect/>
          </a:stretch>
        </p:blipFill>
        <p:spPr>
          <a:xfrm>
            <a:off x="2993136" y="2212848"/>
            <a:ext cx="1114100" cy="1122540"/>
          </a:xfrm>
          <a:prstGeom prst="flowChartConnector">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733"/>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5486400" cy="274320"/>
          </a:xfrm>
          <a:prstGeom prst="rect">
            <a:avLst/>
          </a:prstGeom>
          <a:noFill/>
        </p:spPr>
        <p:txBody>
          <a:bodyPr wrap="square" lIns="0" tIns="0" rIns="0" bIns="0" anchor="t">
            <a:spAutoFit/>
          </a:bodyPr>
          <a:lstStyle/>
          <a:p>
            <a:pPr algn="l"/>
            <a:r>
              <a:rPr sz="1150" b="1" i="0" spc="190">
                <a:solidFill>
                  <a:srgbClr val="C8A265"/>
                </a:solidFill>
                <a:latin typeface="Calibri"/>
              </a:rPr>
              <a:t>10 · NEXT STEP</a:t>
            </a:r>
          </a:p>
        </p:txBody>
      </p:sp>
      <p:sp>
        <p:nvSpPr>
          <p:cNvPr id="3" name="TextBox 2"/>
          <p:cNvSpPr txBox="1"/>
          <p:nvPr/>
        </p:nvSpPr>
        <p:spPr>
          <a:xfrm>
            <a:off x="566928" y="1417320"/>
            <a:ext cx="6949440" cy="2651760"/>
          </a:xfrm>
          <a:prstGeom prst="rect">
            <a:avLst/>
          </a:prstGeom>
          <a:noFill/>
        </p:spPr>
        <p:txBody>
          <a:bodyPr wrap="square" lIns="0" tIns="0" rIns="0" bIns="0" anchor="t">
            <a:spAutoFit/>
          </a:bodyPr>
          <a:lstStyle/>
          <a:p>
            <a:pPr algn="l">
              <a:spcAft>
                <a:spcPts val="600"/>
              </a:spcAft>
            </a:pPr>
            <a:r>
              <a:rPr sz="2600" b="0" i="0">
                <a:solidFill>
                  <a:srgbClr val="9FB0CE"/>
                </a:solidFill>
                <a:latin typeface="Cambria"/>
              </a:rPr>
              <a:t>Today, out of every 100 citizens</a:t>
            </a:r>
          </a:p>
          <a:p>
            <a:pPr algn="l">
              <a:lnSpc>
                <a:spcPct val="98000"/>
              </a:lnSpc>
              <a:spcAft>
                <a:spcPts val="1000"/>
              </a:spcAft>
            </a:pPr>
            <a:r>
              <a:rPr sz="3800" b="1" i="0">
                <a:solidFill>
                  <a:srgbClr val="FFFFFF"/>
                </a:solidFill>
                <a:latin typeface="Cambria"/>
              </a:rPr>
              <a:t>9 of them reach the lawyer.</a:t>
            </a:r>
          </a:p>
          <a:p>
            <a:pPr algn="l">
              <a:lnSpc>
                <a:spcPct val="98000"/>
              </a:lnSpc>
            </a:pPr>
            <a:r>
              <a:rPr sz="3800" b="1" i="0">
                <a:solidFill>
                  <a:srgbClr val="C8A265"/>
                </a:solidFill>
                <a:latin typeface="Cambria"/>
              </a:rPr>
              <a:t>We will build a road for the remaining 91.</a:t>
            </a:r>
          </a:p>
        </p:txBody>
      </p:sp>
      <p:sp>
        <p:nvSpPr>
          <p:cNvPr id="4" name="Rounded Rectangle 3"/>
          <p:cNvSpPr/>
          <p:nvPr/>
        </p:nvSpPr>
        <p:spPr>
          <a:xfrm>
            <a:off x="566928" y="4224528"/>
            <a:ext cx="2898648" cy="214884"/>
          </a:xfrm>
          <a:prstGeom prst="roundRect">
            <a:avLst>
              <a:gd name="adj" fmla="val 50000"/>
            </a:avLst>
          </a:prstGeom>
          <a:no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30936" y="4219956"/>
            <a:ext cx="2770632" cy="224028"/>
          </a:xfrm>
          <a:prstGeom prst="rect">
            <a:avLst/>
          </a:prstGeom>
          <a:noFill/>
        </p:spPr>
        <p:txBody>
          <a:bodyPr wrap="square" lIns="0" tIns="0" rIns="0" bIns="0" anchor="ctr">
            <a:spAutoFit/>
          </a:bodyPr>
          <a:lstStyle/>
          <a:p>
            <a:pPr algn="ctr"/>
            <a:r>
              <a:rPr sz="800" b="1" i="0" spc="70">
                <a:solidFill>
                  <a:srgbClr val="1F6FEB"/>
                </a:solidFill>
                <a:latin typeface="Calibri"/>
              </a:rPr>
              <a:t>FACT UNDP 2025 — 8.6% ≈ 9/100</a:t>
            </a:r>
          </a:p>
        </p:txBody>
      </p:sp>
      <p:sp>
        <p:nvSpPr>
          <p:cNvPr id="6" name="Isosceles Triangle 5"/>
          <p:cNvSpPr/>
          <p:nvPr/>
        </p:nvSpPr>
        <p:spPr>
          <a:xfrm rot="5400000">
            <a:off x="585216" y="4864608"/>
            <a:ext cx="109728" cy="126187"/>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59536" y="4736592"/>
            <a:ext cx="6583680" cy="822960"/>
          </a:xfrm>
          <a:prstGeom prst="rect">
            <a:avLst/>
          </a:prstGeom>
          <a:noFill/>
        </p:spPr>
        <p:txBody>
          <a:bodyPr wrap="square" lIns="0" tIns="0" rIns="0" bIns="0" anchor="t">
            <a:spAutoFit/>
          </a:bodyPr>
          <a:lstStyle/>
          <a:p>
            <a:pPr algn="l">
              <a:lnSpc>
                <a:spcPct val="130000"/>
              </a:lnSpc>
            </a:pPr>
            <a:r>
              <a:rPr sz="1500" b="0" i="0">
                <a:solidFill>
                  <a:srgbClr val="D8E1F2"/>
                </a:solidFill>
                <a:latin typeface="Calibri"/>
              </a:rPr>
              <a:t>LexHub is not just another legal chatbot. It is a trusted interface layer between the citizen and the legal system.</a:t>
            </a:r>
          </a:p>
        </p:txBody>
      </p:sp>
      <p:sp>
        <p:nvSpPr>
          <p:cNvPr id="8" name="Rounded Rectangle 7"/>
          <p:cNvSpPr/>
          <p:nvPr/>
        </p:nvSpPr>
        <p:spPr>
          <a:xfrm>
            <a:off x="7772400" y="1325880"/>
            <a:ext cx="3858768" cy="4526280"/>
          </a:xfrm>
          <a:prstGeom prst="roundRect">
            <a:avLst>
              <a:gd name="adj" fmla="val 5000"/>
            </a:avLst>
          </a:prstGeom>
          <a:solidFill>
            <a:srgbClr val="132447"/>
          </a:solidFill>
          <a:ln>
            <a:noFill/>
          </a:ln>
          <a:effectLst>
            <a:outerShdw blurRad="177800" dist="63500" dir="5400000" rotWithShape="0">
              <a:srgbClr val="0A1733">
                <a:alpha val="1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65008" y="1591056"/>
            <a:ext cx="3291840" cy="274320"/>
          </a:xfrm>
          <a:prstGeom prst="rect">
            <a:avLst/>
          </a:prstGeom>
          <a:noFill/>
        </p:spPr>
        <p:txBody>
          <a:bodyPr wrap="square" lIns="0" tIns="0" rIns="0" bIns="0" anchor="t">
            <a:spAutoFit/>
          </a:bodyPr>
          <a:lstStyle/>
          <a:p>
            <a:pPr algn="l"/>
            <a:r>
              <a:rPr sz="950" b="1" i="0" spc="150">
                <a:solidFill>
                  <a:srgbClr val="C8A265"/>
                </a:solidFill>
                <a:latin typeface="Calibri"/>
              </a:rPr>
              <a:t>OUR REQUEST</a:t>
            </a:r>
          </a:p>
        </p:txBody>
      </p:sp>
      <p:sp>
        <p:nvSpPr>
          <p:cNvPr id="10" name="Isosceles Triangle 9"/>
          <p:cNvSpPr/>
          <p:nvPr/>
        </p:nvSpPr>
        <p:spPr>
          <a:xfrm rot="5400000">
            <a:off x="8065008" y="2112264"/>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284464" y="2020824"/>
            <a:ext cx="3108960" cy="292608"/>
          </a:xfrm>
          <a:prstGeom prst="rect">
            <a:avLst/>
          </a:prstGeom>
          <a:noFill/>
        </p:spPr>
        <p:txBody>
          <a:bodyPr wrap="square" lIns="0" tIns="0" rIns="0" bIns="0" anchor="t">
            <a:spAutoFit/>
          </a:bodyPr>
          <a:lstStyle/>
          <a:p>
            <a:pPr algn="l">
              <a:lnSpc>
                <a:spcPct val="112000"/>
              </a:lnSpc>
            </a:pPr>
            <a:r>
              <a:rPr sz="1350" b="1" i="0">
                <a:solidFill>
                  <a:srgbClr val="FFFFFF"/>
                </a:solidFill>
                <a:latin typeface="Cambria"/>
              </a:rPr>
              <a:t>Pitch Day winner</a:t>
            </a:r>
          </a:p>
        </p:txBody>
      </p:sp>
      <p:sp>
        <p:nvSpPr>
          <p:cNvPr id="12" name="TextBox 11"/>
          <p:cNvSpPr txBox="1"/>
          <p:nvPr/>
        </p:nvSpPr>
        <p:spPr>
          <a:xfrm>
            <a:off x="8284464" y="2505456"/>
            <a:ext cx="3072384" cy="548640"/>
          </a:xfrm>
          <a:prstGeom prst="rect">
            <a:avLst/>
          </a:prstGeom>
          <a:noFill/>
        </p:spPr>
        <p:txBody>
          <a:bodyPr wrap="square" lIns="0" tIns="0" rIns="0" bIns="0" anchor="t">
            <a:spAutoFit/>
          </a:bodyPr>
          <a:lstStyle/>
          <a:p>
            <a:pPr algn="l">
              <a:lnSpc>
                <a:spcPct val="122000"/>
              </a:lnSpc>
            </a:pPr>
            <a:r>
              <a:rPr sz="1100" b="0" i="0" dirty="0" err="1">
                <a:solidFill>
                  <a:srgbClr val="AFBDD6"/>
                </a:solidFill>
                <a:latin typeface="Calibri"/>
              </a:rPr>
              <a:t>and </a:t>
            </a:r>
            <a:r>
              <a:rPr sz="1100" b="0" i="0" dirty="0">
                <a:solidFill>
                  <a:srgbClr val="AFBDD6"/>
                </a:solidFill>
                <a:latin typeface="Calibri"/>
              </a:rPr>
              <a:t>LegalTech </a:t>
            </a:r>
            <a:r>
              <a:rPr sz="1100" b="0" i="0" dirty="0" err="1">
                <a:solidFill>
                  <a:srgbClr val="AFBDD6"/>
                </a:solidFill>
                <a:latin typeface="Calibri"/>
              </a:rPr>
              <a:t>in compliance</a:t>
            </a:r>
            <a:r>
              <a:rPr sz="1100" b="0" i="0" dirty="0">
                <a:solidFill>
                  <a:srgbClr val="AFBDD6"/>
                </a:solidFill>
                <a:latin typeface="Calibri"/>
              </a:rPr>
              <a:t> </a:t>
            </a:r>
            <a:r>
              <a:rPr sz="1100" b="0" i="0" dirty="0" err="1">
                <a:solidFill>
                  <a:srgbClr val="AFBDD6"/>
                </a:solidFill>
                <a:latin typeface="Calibri"/>
              </a:rPr>
              <a:t>mentorship</a:t>
            </a:r>
            <a:endParaRPr sz="1100" b="0" i="0" dirty="0">
              <a:solidFill>
                <a:srgbClr val="AFBDD6"/>
              </a:solidFill>
              <a:latin typeface="Calibri"/>
            </a:endParaRPr>
          </a:p>
        </p:txBody>
      </p:sp>
      <p:sp>
        <p:nvSpPr>
          <p:cNvPr id="13" name="Isosceles Triangle 12"/>
          <p:cNvSpPr/>
          <p:nvPr/>
        </p:nvSpPr>
        <p:spPr>
          <a:xfrm rot="5400000">
            <a:off x="8065008" y="3246120"/>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284464" y="3154680"/>
            <a:ext cx="3108960" cy="292608"/>
          </a:xfrm>
          <a:prstGeom prst="rect">
            <a:avLst/>
          </a:prstGeom>
          <a:noFill/>
        </p:spPr>
        <p:txBody>
          <a:bodyPr wrap="square" lIns="0" tIns="0" rIns="0" bIns="0" anchor="t">
            <a:spAutoFit/>
          </a:bodyPr>
          <a:lstStyle/>
          <a:p>
            <a:pPr algn="l">
              <a:lnSpc>
                <a:spcPct val="112000"/>
              </a:lnSpc>
            </a:pPr>
            <a:r>
              <a:rPr sz="1350" b="1" i="0">
                <a:solidFill>
                  <a:srgbClr val="FFFFFF"/>
                </a:solidFill>
                <a:latin typeface="Cambria"/>
              </a:rPr>
              <a:t>2–3 verified lawyers</a:t>
            </a:r>
          </a:p>
        </p:txBody>
      </p:sp>
      <p:sp>
        <p:nvSpPr>
          <p:cNvPr id="15" name="TextBox 14"/>
          <p:cNvSpPr txBox="1"/>
          <p:nvPr/>
        </p:nvSpPr>
        <p:spPr>
          <a:xfrm>
            <a:off x="8284464" y="3639312"/>
            <a:ext cx="3072384" cy="548640"/>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for a pilot — introduction to the legal profession</a:t>
            </a:r>
          </a:p>
        </p:txBody>
      </p:sp>
      <p:sp>
        <p:nvSpPr>
          <p:cNvPr id="16" name="Isosceles Triangle 15"/>
          <p:cNvSpPr/>
          <p:nvPr/>
        </p:nvSpPr>
        <p:spPr>
          <a:xfrm rot="5400000">
            <a:off x="8065008" y="4379976"/>
            <a:ext cx="91440" cy="105155"/>
          </a:xfrm>
          <a:prstGeom prst="triangle">
            <a:avLst/>
          </a:prstGeom>
          <a:solidFill>
            <a:srgbClr val="C8A26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284464" y="4288536"/>
            <a:ext cx="3108960" cy="292608"/>
          </a:xfrm>
          <a:prstGeom prst="rect">
            <a:avLst/>
          </a:prstGeom>
          <a:noFill/>
        </p:spPr>
        <p:txBody>
          <a:bodyPr wrap="square" lIns="0" tIns="0" rIns="0" bIns="0" anchor="t">
            <a:spAutoFit/>
          </a:bodyPr>
          <a:lstStyle/>
          <a:p>
            <a:pPr algn="l">
              <a:lnSpc>
                <a:spcPct val="112000"/>
              </a:lnSpc>
            </a:pPr>
            <a:r>
              <a:rPr sz="1350" b="1" i="0">
                <a:solidFill>
                  <a:srgbClr val="FFFFFF"/>
                </a:solidFill>
                <a:latin typeface="Cambria"/>
              </a:rPr>
              <a:t>Payme or Click test-merchant</a:t>
            </a:r>
          </a:p>
        </p:txBody>
      </p:sp>
      <p:sp>
        <p:nvSpPr>
          <p:cNvPr id="18" name="TextBox 17"/>
          <p:cNvSpPr txBox="1"/>
          <p:nvPr/>
        </p:nvSpPr>
        <p:spPr>
          <a:xfrm>
            <a:off x="8284464" y="4773168"/>
            <a:ext cx="3072384" cy="548640"/>
          </a:xfrm>
          <a:prstGeom prst="rect">
            <a:avLst/>
          </a:prstGeom>
          <a:noFill/>
        </p:spPr>
        <p:txBody>
          <a:bodyPr wrap="square" lIns="0" tIns="0" rIns="0" bIns="0" anchor="t">
            <a:spAutoFit/>
          </a:bodyPr>
          <a:lstStyle/>
          <a:p>
            <a:pPr algn="l">
              <a:lnSpc>
                <a:spcPct val="122000"/>
              </a:lnSpc>
            </a:pPr>
            <a:r>
              <a:rPr sz="1100" b="0" i="0">
                <a:solidFill>
                  <a:srgbClr val="AFBDD6"/>
                </a:solidFill>
                <a:latin typeface="Calibri"/>
              </a:rPr>
              <a:t>login to close payment rails</a:t>
            </a:r>
          </a:p>
        </p:txBody>
      </p:sp>
      <p:sp>
        <p:nvSpPr>
          <p:cNvPr id="19" name="Rectangle 18"/>
          <p:cNvSpPr/>
          <p:nvPr/>
        </p:nvSpPr>
        <p:spPr>
          <a:xfrm>
            <a:off x="8065008" y="5212080"/>
            <a:ext cx="3291840" cy="7315"/>
          </a:xfrm>
          <a:prstGeom prst="rect">
            <a:avLst/>
          </a:prstGeom>
          <a:solidFill>
            <a:srgbClr val="1B3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065008" y="5358384"/>
            <a:ext cx="3291840" cy="402336"/>
          </a:xfrm>
          <a:prstGeom prst="rect">
            <a:avLst/>
          </a:prstGeom>
          <a:noFill/>
        </p:spPr>
        <p:txBody>
          <a:bodyPr wrap="square" lIns="0" tIns="0" rIns="0" bIns="0" anchor="t">
            <a:spAutoFit/>
          </a:bodyPr>
          <a:lstStyle/>
          <a:p>
            <a:pPr algn="l">
              <a:lnSpc>
                <a:spcPct val="120000"/>
              </a:lnSpc>
            </a:pPr>
            <a:r>
              <a:rPr sz="1100" b="0" i="1">
                <a:solidFill>
                  <a:srgbClr val="9FB0CE"/>
                </a:solidFill>
                <a:latin typeface="Calibri"/>
              </a:rPr>
              <a:t>We are not asking for money - we just need access and approval.</a:t>
            </a:r>
          </a:p>
        </p:txBody>
      </p:sp>
      <p:sp>
        <p:nvSpPr>
          <p:cNvPr id="21" name="TextBox 20"/>
          <p:cNvSpPr txBox="1"/>
          <p:nvPr/>
        </p:nvSpPr>
        <p:spPr>
          <a:xfrm>
            <a:off x="566928" y="6016752"/>
            <a:ext cx="6949440" cy="365760"/>
          </a:xfrm>
          <a:prstGeom prst="rect">
            <a:avLst/>
          </a:prstGeom>
          <a:noFill/>
        </p:spPr>
        <p:txBody>
          <a:bodyPr wrap="square" lIns="0" tIns="0" rIns="0" bIns="0" anchor="t">
            <a:spAutoFit/>
          </a:bodyPr>
          <a:lstStyle/>
          <a:p>
            <a:pPr algn="l"/>
            <a:r>
              <a:rPr sz="1200" b="1" i="0" spc="80">
                <a:solidFill>
                  <a:srgbClr val="FFFFFF"/>
                </a:solidFill>
                <a:latin typeface="Calibri"/>
              </a:rPr>
              <a:t>LexHub · AXION Team · Pitch Day 2026</a:t>
            </a:r>
          </a:p>
        </p:txBody>
      </p:sp>
      <p:sp>
        <p:nvSpPr>
          <p:cNvPr id="22" name="TextBox 21"/>
          <p:cNvSpPr txBox="1"/>
          <p:nvPr/>
        </p:nvSpPr>
        <p:spPr>
          <a:xfrm>
            <a:off x="566928" y="6382512"/>
            <a:ext cx="11064240" cy="274320"/>
          </a:xfrm>
          <a:prstGeom prst="rect">
            <a:avLst/>
          </a:prstGeom>
          <a:noFill/>
        </p:spPr>
        <p:txBody>
          <a:bodyPr wrap="square" lIns="0" tIns="0" rIns="0" bIns="0" anchor="t">
            <a:spAutoFit/>
          </a:bodyPr>
          <a:lstStyle/>
          <a:p>
            <a:pPr algn="l">
              <a:lnSpc>
                <a:spcPct val="105000"/>
              </a:lnSpc>
            </a:pPr>
            <a:r>
              <a:rPr sz="950" b="0" i="0">
                <a:solidFill>
                  <a:srgbClr val="9FB0CE"/>
                </a:solidFill>
                <a:latin typeface="Calibri"/>
              </a:rPr>
              <a:t>Next 3 months: payment is connected, legal corpus is uploaded, pilot begins.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2374</Words>
  <Application>Microsoft Office PowerPoint</Application>
  <PresentationFormat>Широкоэкранный</PresentationFormat>
  <Paragraphs>221</Paragraphs>
  <Slides>10</Slides>
  <Notes>10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10</vt:i4>
      </vt:variant>
    </vt:vector>
  </HeadingPairs>
  <TitlesOfParts>
    <vt:vector size="14" baseType="lpstr">
      <vt:lpstr>Arial</vt:lpstr>
      <vt:lpstr>Calibri</vt:lpstr>
      <vt:lpstr>Cambria</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O'ktam Pirimov</cp:lastModifiedBy>
  <cp:revision>5</cp:revision>
  <dcterms:created xsi:type="dcterms:W3CDTF">2013-01-27T09:14:16Z</dcterms:created>
  <dcterms:modified xsi:type="dcterms:W3CDTF">2026-08-22T15:44:42Z</dcterms:modified>
  <cp:category/>
</cp:coreProperties>
</file>